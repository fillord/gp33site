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1.xml" ContentType="application/vnd.openxmlformats-officedocument.drawingml.chartshapes+xml"/>
  <Override PartName="/ppt/charts/chart6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9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rts/chart12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13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notesSlides/notesSlide4.xml" ContentType="application/vnd.openxmlformats-officedocument.presentationml.notesSlide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18.xml" ContentType="application/vnd.openxmlformats-officedocument.drawingml.chart+xml"/>
  <Override PartName="/ppt/drawings/drawing2.xml" ContentType="application/vnd.openxmlformats-officedocument.drawingml.chartshapes+xml"/>
  <Override PartName="/ppt/charts/chart19.xml" ContentType="application/vnd.openxmlformats-officedocument.drawingml.chart+xml"/>
  <Override PartName="/ppt/drawings/drawing3.xml" ContentType="application/vnd.openxmlformats-officedocument.drawingml.chartshapes+xml"/>
  <Override PartName="/ppt/charts/chart20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21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22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23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26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95" r:id="rId2"/>
    <p:sldId id="258" r:id="rId3"/>
    <p:sldId id="259" r:id="rId4"/>
    <p:sldId id="260" r:id="rId5"/>
    <p:sldId id="297" r:id="rId6"/>
    <p:sldId id="298" r:id="rId7"/>
    <p:sldId id="299" r:id="rId8"/>
    <p:sldId id="300" r:id="rId9"/>
    <p:sldId id="296" r:id="rId10"/>
    <p:sldId id="262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3" r:id="rId39"/>
    <p:sldId id="294" r:id="rId40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2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06799F8-075E-4A3A-A7F6-7FBC6576F1A4}" styleName="Стиль из темы 2 - акцент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Стиль из темы 2 - акцент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Стиль из темы 2 - акцент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5758FB7-9AC5-4552-8A53-C91805E547FA}" styleName="Стиль из темы 1 - акцент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98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1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&#1050;&#1085;&#1080;&#1075;&#1072;1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18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2.xml"/><Relationship Id="rId1" Type="http://schemas.openxmlformats.org/officeDocument/2006/relationships/package" Target="../embeddings/Microsoft_Excel_Worksheet16.xlsx"/></Relationships>
</file>

<file path=ppt/charts/_rels/chart19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3.xml"/><Relationship Id="rId1" Type="http://schemas.openxmlformats.org/officeDocument/2006/relationships/package" Target="../embeddings/Microsoft_Excel_Worksheet17.xlsx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3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4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2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2436898055484"/>
          <c:y val="0.108947652376786"/>
          <c:w val="0.87129130461628401"/>
          <c:h val="0.6323451729424259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2024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-5.3120667737668603E-3"/>
                  <c:y val="-1.1111111111111099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212 631,5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6C9B-4CC9-9424-92EF9E75C0FF}"/>
                </c:ext>
              </c:extLst>
            </c:dLbl>
            <c:dLbl>
              <c:idx val="1"/>
              <c:layout>
                <c:manualLayout>
                  <c:x val="-1.16865469022871E-2"/>
                  <c:y val="-9.2592592592593004E-3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188.6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6C9B-4CC9-9424-92EF9E75C0F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ru-RU" sz="14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Лист1!$A$2:$A$3</c:f>
              <c:strCache>
                <c:ptCount val="2"/>
                <c:pt idx="0">
                  <c:v>Жергілікті бюджет</c:v>
                </c:pt>
                <c:pt idx="1">
                  <c:v>Ақылы қызметтер</c:v>
                </c:pt>
              </c:strCache>
            </c:strRef>
          </c:cat>
          <c:val>
            <c:numRef>
              <c:f>Лист1!$B$2:$B$3</c:f>
              <c:numCache>
                <c:formatCode>General</c:formatCode>
                <c:ptCount val="2"/>
                <c:pt idx="0">
                  <c:v>5592.36</c:v>
                </c:pt>
                <c:pt idx="1">
                  <c:v>51283.15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C9B-4CC9-9424-92EF9E75C0FF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2025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9.5617201927803396E-3"/>
                  <c:y val="-4.07407407407408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148 989,4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6C9B-4CC9-9424-92EF9E75C0FF}"/>
                </c:ext>
              </c:extLst>
            </c:dLbl>
            <c:dLbl>
              <c:idx val="1"/>
              <c:layout>
                <c:manualLayout>
                  <c:x val="2.0185853740314098E-2"/>
                  <c:y val="-4.4444444444444502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1 870.0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6C9B-4CC9-9424-92EF9E75C0F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ru-RU" sz="14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Лист1!$A$2:$A$3</c:f>
              <c:strCache>
                <c:ptCount val="2"/>
                <c:pt idx="0">
                  <c:v>Жергілікті бюджет</c:v>
                </c:pt>
                <c:pt idx="1">
                  <c:v>Ақылы қызметтер</c:v>
                </c:pt>
              </c:strCache>
            </c:strRef>
          </c:cat>
          <c:val>
            <c:numRef>
              <c:f>Лист1!$C$2:$C$3</c:f>
              <c:numCache>
                <c:formatCode>General</c:formatCode>
                <c:ptCount val="2"/>
                <c:pt idx="0">
                  <c:v>8575.2000000000007</c:v>
                </c:pt>
                <c:pt idx="1">
                  <c:v>50086.9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C9B-4CC9-9424-92EF9E75C0F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79478528"/>
        <c:axId val="179480064"/>
      </c:barChart>
      <c:catAx>
        <c:axId val="1794785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ru-RU" sz="14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179480064"/>
        <c:crosses val="autoZero"/>
        <c:auto val="1"/>
        <c:lblAlgn val="ctr"/>
        <c:lblOffset val="100"/>
        <c:noMultiLvlLbl val="0"/>
      </c:catAx>
      <c:valAx>
        <c:axId val="17948006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ru-RU" sz="14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1794785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31497822342519699"/>
          <c:y val="0.84128901074747797"/>
          <c:w val="0.32564677657480501"/>
          <c:h val="0.15648424234225899"/>
        </c:manualLayout>
      </c:layout>
      <c:overlay val="0"/>
      <c:txPr>
        <a:bodyPr rot="0" spcFirstLastPara="0" vertOverflow="ellipsis" vert="horz" wrap="square" anchor="ctr" anchorCtr="1"/>
        <a:lstStyle/>
        <a:p>
          <a:pPr>
            <a:defRPr lang="ru-RU" sz="1400" b="1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caef1a04-6b45-485e-ad99-daf5ba9481a5}"/>
      </c:ext>
    </c:extLst>
  </c:chart>
  <c:txPr>
    <a:bodyPr/>
    <a:lstStyle/>
    <a:p>
      <a:pPr>
        <a:defRPr lang="ru-RU" sz="1400" b="1">
          <a:latin typeface="Times New Roman" panose="02020603050405020304" pitchFamily="18" charset="0"/>
          <a:cs typeface="Times New Roman" panose="02020603050405020304" pitchFamily="18" charset="0"/>
        </a:defRPr>
      </a:pPr>
      <a:endParaRPr lang="ru-KZ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2024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5.7870370370370402E-3"/>
                  <c:y val="0.143107665705619"/>
                </c:manualLayout>
              </c:layout>
              <c:tx>
                <c:rich>
                  <a:bodyPr/>
                  <a:lstStyle/>
                  <a:p>
                    <a:r>
                      <a:rPr lang="en-US" altLang="en-US"/>
                      <a:t>3</a:t>
                    </a:r>
                    <a:r>
                      <a:rPr lang="en-US"/>
                      <a:t>39 958,0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3646-4120-BCE0-FAC00145150B}"/>
                </c:ext>
              </c:extLst>
            </c:dLbl>
            <c:dLbl>
              <c:idx val="1"/>
              <c:layout>
                <c:manualLayout>
                  <c:x val="-1.85185185185185E-2"/>
                  <c:y val="0.16555592699277499"/>
                </c:manualLayout>
              </c:layout>
              <c:tx>
                <c:rich>
                  <a:bodyPr/>
                  <a:lstStyle/>
                  <a:p>
                    <a:r>
                      <a:rPr lang="en-US" altLang="en-US"/>
                      <a:t>3</a:t>
                    </a:r>
                    <a:r>
                      <a:rPr lang="en-US"/>
                      <a:t>2</a:t>
                    </a:r>
                    <a:r>
                      <a:rPr lang="en-US" altLang="en-US"/>
                      <a:t>0</a:t>
                    </a:r>
                    <a:r>
                      <a:rPr lang="en-US"/>
                      <a:t> 127,0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3646-4120-BCE0-FAC00145150B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1</a:t>
                    </a:r>
                    <a:r>
                      <a:rPr lang="en-US" altLang="en-US"/>
                      <a:t>97</a:t>
                    </a:r>
                    <a:r>
                      <a:rPr lang="en-US"/>
                      <a:t> </a:t>
                    </a:r>
                    <a:r>
                      <a:rPr lang="en-US" altLang="en-US"/>
                      <a:t>830</a:t>
                    </a:r>
                    <a:r>
                      <a:rPr lang="en-US"/>
                      <a:t>.0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3646-4120-BCE0-FAC00145150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ru-RU" sz="10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Лист1!$A$2:$A$4</c:f>
              <c:strCache>
                <c:ptCount val="3"/>
                <c:pt idx="0">
                  <c:v>Дәрігер</c:v>
                </c:pt>
                <c:pt idx="1">
                  <c:v>Мейірбике қызметкерлері</c:v>
                </c:pt>
                <c:pt idx="2">
                  <c:v>Кіші медициналық қызметкерлер</c:v>
                </c:pt>
              </c:strCache>
            </c:str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212674.71</c:v>
                </c:pt>
                <c:pt idx="1">
                  <c:v>107797.79</c:v>
                </c:pt>
                <c:pt idx="2">
                  <c:v>40063.839999999997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646-4120-BCE0-FAC00145150B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2025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3.0092592592592601E-2"/>
                  <c:y val="0.12627146974025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354 119.0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3646-4120-BCE0-FAC00145150B}"/>
                </c:ext>
              </c:extLst>
            </c:dLbl>
            <c:dLbl>
              <c:idx val="1"/>
              <c:layout>
                <c:manualLayout>
                  <c:x val="1.7361111111111101E-2"/>
                  <c:y val="8.6987012487729096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325 850.0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3646-4120-BCE0-FAC00145150B}"/>
                </c:ext>
              </c:extLst>
            </c:dLbl>
            <c:dLbl>
              <c:idx val="2"/>
              <c:layout>
                <c:manualLayout>
                  <c:x val="1.27314814814815E-2"/>
                  <c:y val="-1.8239212295814199E-3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197 830.0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3646-4120-BCE0-FAC00145150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ru-RU" sz="10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Лист1!$A$2:$A$4</c:f>
              <c:strCache>
                <c:ptCount val="3"/>
                <c:pt idx="0">
                  <c:v>Дәрігер</c:v>
                </c:pt>
                <c:pt idx="1">
                  <c:v>Мейірбике қызметкерлері</c:v>
                </c:pt>
                <c:pt idx="2">
                  <c:v>Кіші медициналық қызметкерлер</c:v>
                </c:pt>
              </c:strCache>
            </c:strRef>
          </c:cat>
          <c:val>
            <c:numRef>
              <c:f>Лист1!$C$2:$C$4</c:f>
              <c:numCache>
                <c:formatCode>General</c:formatCode>
                <c:ptCount val="3"/>
                <c:pt idx="0">
                  <c:v>235256.07</c:v>
                </c:pt>
                <c:pt idx="1">
                  <c:v>132237.66</c:v>
                </c:pt>
                <c:pt idx="2">
                  <c:v>73758.710000000006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3646-4120-BCE0-FAC00145150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52120320"/>
        <c:axId val="152126208"/>
      </c:barChart>
      <c:catAx>
        <c:axId val="15212032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ru-RU" sz="10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ru-KZ"/>
          </a:p>
        </c:txPr>
        <c:crossAx val="152126208"/>
        <c:crosses val="autoZero"/>
        <c:auto val="1"/>
        <c:lblAlgn val="ctr"/>
        <c:lblOffset val="100"/>
        <c:noMultiLvlLbl val="0"/>
      </c:catAx>
      <c:valAx>
        <c:axId val="15212620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ru-RU" sz="10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ru-KZ"/>
          </a:p>
        </c:txPr>
        <c:crossAx val="1521203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4876655504268905"/>
          <c:y val="0.42217291657046202"/>
          <c:w val="0.115353727335807"/>
          <c:h val="0.14442981526804399"/>
        </c:manualLayout>
      </c:layout>
      <c:overlay val="0"/>
      <c:txPr>
        <a:bodyPr rot="0" spcFirstLastPara="0" vertOverflow="ellipsis" vert="horz" wrap="square" anchor="ctr" anchorCtr="1"/>
        <a:lstStyle/>
        <a:p>
          <a:pPr>
            <a:defRPr lang="ru-RU" sz="1000" b="1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+mn-cs"/>
            </a:defRPr>
          </a:pPr>
          <a:endParaRPr lang="ru-KZ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8bebf1ce-b4b3-45da-8b29-59e5c15642bc}"/>
      </c:ext>
    </c:extLst>
  </c:chart>
  <c:txPr>
    <a:bodyPr/>
    <a:lstStyle/>
    <a:p>
      <a:pPr>
        <a:defRPr lang="ru-RU" sz="1000" b="1" i="0" baseline="0">
          <a:latin typeface="Times New Roman" panose="02020603050405020304" pitchFamily="18" charset="0"/>
        </a:defRPr>
      </a:pPr>
      <a:endParaRPr lang="ru-KZ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Лист1!$A$2:$A$13</c:f>
              <c:strCache>
                <c:ptCount val="12"/>
                <c:pt idx="0">
                  <c:v>Қосымша ақы</c:v>
                </c:pt>
                <c:pt idx="1">
                  <c:v>Бақылау кеңесінің жалақысы (НС)</c:v>
                </c:pt>
                <c:pt idx="2">
                  <c:v>Салық көзінен салық салынатын басқа табыстар</c:v>
                </c:pt>
                <c:pt idx="3">
                  <c:v>Жұмыстан босатылған кезде өтемақы</c:v>
                </c:pt>
                <c:pt idx="4">
                  <c:v>Күндік жалақы 1,0</c:v>
                </c:pt>
                <c:pt idx="5">
                  <c:v>Уақытша еңбекке жарамсыздық парағын төлеу</c:v>
                </c:pt>
                <c:pt idx="6">
                  <c:v>Еңбек демалысы төлемі</c:v>
                </c:pt>
                <c:pt idx="7">
                  <c:v>Денсаулықты жақсарту үшін пайда</c:v>
                </c:pt>
                <c:pt idx="8">
                  <c:v>Мерекелік төлем</c:v>
                </c:pt>
                <c:pt idx="9">
                  <c:v>Үстем ақы</c:v>
                </c:pt>
                <c:pt idx="10">
                  <c:v>Ынталандырушы компонент қаражаты</c:v>
                </c:pt>
                <c:pt idx="11">
                  <c:v>Барлығы</c:v>
                </c:pt>
              </c:strCache>
            </c:strRef>
          </c:cat>
          <c:val>
            <c:numRef>
              <c:f>Лист1!$B$2:$B$13</c:f>
              <c:numCache>
                <c:formatCode>General</c:formatCode>
                <c:ptCount val="12"/>
                <c:pt idx="0">
                  <c:v>19400</c:v>
                </c:pt>
                <c:pt idx="1">
                  <c:v>0</c:v>
                </c:pt>
                <c:pt idx="2">
                  <c:v>0</c:v>
                </c:pt>
                <c:pt idx="3" formatCode="#,##0.00">
                  <c:v>260718</c:v>
                </c:pt>
                <c:pt idx="4" formatCode="#,##0.00">
                  <c:v>61846513.030000001</c:v>
                </c:pt>
                <c:pt idx="5" formatCode="#,##0.00">
                  <c:v>406057.55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 formatCode="#,##0.00">
                  <c:v>1166762</c:v>
                </c:pt>
                <c:pt idx="11" formatCode="#,##0.00">
                  <c:v>63699468.579999998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B0-4846-9DDF-411EF47B0072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Лист1!$A$2:$A$13</c:f>
              <c:strCache>
                <c:ptCount val="12"/>
                <c:pt idx="0">
                  <c:v>Қосымша ақы</c:v>
                </c:pt>
                <c:pt idx="1">
                  <c:v>Бақылау кеңесінің жалақысы (НС)</c:v>
                </c:pt>
                <c:pt idx="2">
                  <c:v>Салық көзінен салық салынатын басқа табыстар</c:v>
                </c:pt>
                <c:pt idx="3">
                  <c:v>Жұмыстан босатылған кезде өтемақы</c:v>
                </c:pt>
                <c:pt idx="4">
                  <c:v>Күндік жалақы 1,0</c:v>
                </c:pt>
                <c:pt idx="5">
                  <c:v>Уақытша еңбекке жарамсыздық парағын төлеу</c:v>
                </c:pt>
                <c:pt idx="6">
                  <c:v>Еңбек демалысы төлемі</c:v>
                </c:pt>
                <c:pt idx="7">
                  <c:v>Денсаулықты жақсарту үшін пайда</c:v>
                </c:pt>
                <c:pt idx="8">
                  <c:v>Мерекелік төлем</c:v>
                </c:pt>
                <c:pt idx="9">
                  <c:v>Үстем ақы</c:v>
                </c:pt>
                <c:pt idx="10">
                  <c:v>Ынталандырушы компонент қаражаты</c:v>
                </c:pt>
                <c:pt idx="11">
                  <c:v>Барлығы</c:v>
                </c:pt>
              </c:strCache>
            </c:strRef>
          </c:cat>
          <c:val>
            <c:numRef>
              <c:f>Лист1!$C$2:$C$13</c:f>
              <c:numCache>
                <c:formatCode>#,##0.00</c:formatCode>
                <c:ptCount val="12"/>
                <c:pt idx="0">
                  <c:v>1503315</c:v>
                </c:pt>
                <c:pt idx="1">
                  <c:v>900000</c:v>
                </c:pt>
                <c:pt idx="2">
                  <c:v>3037513</c:v>
                </c:pt>
                <c:pt idx="3">
                  <c:v>8878426.6899999995</c:v>
                </c:pt>
                <c:pt idx="4">
                  <c:v>330625929</c:v>
                </c:pt>
                <c:pt idx="5">
                  <c:v>4956062.29</c:v>
                </c:pt>
                <c:pt idx="6">
                  <c:v>21014395</c:v>
                </c:pt>
                <c:pt idx="7">
                  <c:v>12351956</c:v>
                </c:pt>
                <c:pt idx="8">
                  <c:v>292135</c:v>
                </c:pt>
                <c:pt idx="9" formatCode="General">
                  <c:v>0</c:v>
                </c:pt>
                <c:pt idx="10">
                  <c:v>10942306.039999999</c:v>
                </c:pt>
                <c:pt idx="11">
                  <c:v>394502038.01999998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6B0-4846-9DDF-411EF47B00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51253472"/>
        <c:axId val="948375792"/>
      </c:barChart>
      <c:catAx>
        <c:axId val="9512534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KZ"/>
          </a:p>
        </c:txPr>
        <c:crossAx val="948375792"/>
        <c:crosses val="autoZero"/>
        <c:auto val="1"/>
        <c:lblAlgn val="ctr"/>
        <c:lblOffset val="100"/>
        <c:noMultiLvlLbl val="0"/>
      </c:catAx>
      <c:valAx>
        <c:axId val="9483757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KZ"/>
          </a:p>
        </c:txPr>
        <c:crossAx val="9512534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1195" b="1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2c0f9df5-a5ab-4b10-b4f4-9a70c34d425c}"/>
      </c:ext>
    </c:extLst>
  </c:chart>
  <c:spPr>
    <a:noFill/>
    <a:ln>
      <a:noFill/>
    </a:ln>
    <a:effectLst/>
  </c:spPr>
  <c:txPr>
    <a:bodyPr/>
    <a:lstStyle/>
    <a:p>
      <a:pPr>
        <a:defRPr lang="ru-RU"/>
      </a:pPr>
      <a:endParaRPr lang="ru-KZ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 w="25351">
          <a:noFill/>
        </a:ln>
      </c:spPr>
      <c:txPr>
        <a:bodyPr rot="0" spcFirstLastPara="1" vertOverflow="ellipsis" vert="horz" wrap="square" anchor="ctr" anchorCtr="1"/>
        <a:lstStyle/>
        <a:p>
          <a:pPr>
            <a:defRPr sz="2124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KZ"/>
        </a:p>
      </c:txPr>
    </c:title>
    <c:autoTitleDeleted val="0"/>
    <c:view3D>
      <c:rotX val="30"/>
      <c:rotY val="0"/>
      <c:rAngAx val="0"/>
      <c:perspective val="0"/>
    </c:view3D>
    <c:floor>
      <c:thickness val="0"/>
    </c:floor>
    <c:sideWall>
      <c:thickness val="0"/>
    </c:sideWall>
    <c:backWall>
      <c:thickness val="0"/>
    </c:backWall>
    <c:plotArea>
      <c:layout/>
      <c:pie3DChart>
        <c:varyColors val="1"/>
        <c:ser>
          <c:idx val="0"/>
          <c:order val="0"/>
          <c:tx>
            <c:strRef>
              <c:f>Лист1!$B$1</c:f>
              <c:strCache>
                <c:ptCount val="1"/>
              </c:strCache>
            </c:strRef>
          </c:tx>
          <c:explosion val="25"/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0-4D88-44C2-9CDD-7B6B32BB1A42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1-4D88-44C2-9CDD-7B6B32BB1A42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2-4D88-44C2-9CDD-7B6B32BB1A42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3-4D88-44C2-9CDD-7B6B32BB1A42}"/>
              </c:ext>
            </c:extLst>
          </c:dPt>
          <c:dPt>
            <c:idx val="4"/>
            <c:bubble3D val="0"/>
            <c:spPr>
              <a:gradFill rotWithShape="1">
                <a:gsLst>
                  <a:gs pos="0">
                    <a:schemeClr val="accent5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4-4D88-44C2-9CDD-7B6B32BB1A42}"/>
              </c:ext>
            </c:extLst>
          </c:dPt>
          <c:dPt>
            <c:idx val="5"/>
            <c:bubble3D val="0"/>
            <c:spPr>
              <a:gradFill rotWithShape="1">
                <a:gsLst>
                  <a:gs pos="0">
                    <a:schemeClr val="accent6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5-4D88-44C2-9CDD-7B6B32BB1A42}"/>
              </c:ext>
            </c:extLst>
          </c:dPt>
          <c:dPt>
            <c:idx val="6"/>
            <c:bubble3D val="0"/>
            <c:spPr>
              <a:gradFill rotWithShape="1">
                <a:gsLst>
                  <a:gs pos="0">
                    <a:schemeClr val="accent1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6-4D88-44C2-9CDD-7B6B32BB1A42}"/>
              </c:ext>
            </c:extLst>
          </c:dPt>
          <c:dPt>
            <c:idx val="7"/>
            <c:bubble3D val="0"/>
            <c:spPr>
              <a:gradFill rotWithShape="1">
                <a:gsLst>
                  <a:gs pos="0">
                    <a:schemeClr val="accent2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7-4D88-44C2-9CDD-7B6B32BB1A42}"/>
              </c:ext>
            </c:extLst>
          </c:dPt>
          <c:dPt>
            <c:idx val="8"/>
            <c:bubble3D val="0"/>
            <c:spPr>
              <a:gradFill rotWithShape="1">
                <a:gsLst>
                  <a:gs pos="0">
                    <a:schemeClr val="accent3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8-4D88-44C2-9CDD-7B6B32BB1A42}"/>
              </c:ext>
            </c:extLst>
          </c:dPt>
          <c:dPt>
            <c:idx val="9"/>
            <c:bubble3D val="0"/>
            <c:spPr>
              <a:gradFill rotWithShape="1">
                <a:gsLst>
                  <a:gs pos="0">
                    <a:schemeClr val="accent4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9-4D88-44C2-9CDD-7B6B32BB1A42}"/>
              </c:ext>
            </c:extLst>
          </c:dPt>
          <c:dPt>
            <c:idx val="10"/>
            <c:bubble3D val="0"/>
            <c:spPr>
              <a:gradFill rotWithShape="1">
                <a:gsLst>
                  <a:gs pos="0">
                    <a:schemeClr val="accent5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A-4D88-44C2-9CDD-7B6B32BB1A42}"/>
              </c:ext>
            </c:extLst>
          </c:dPt>
          <c:dLbls>
            <c:dLbl>
              <c:idx val="0"/>
              <c:layout>
                <c:manualLayout>
                  <c:x val="4.6198244251933598E-2"/>
                  <c:y val="-0.1438827432037329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D88-44C2-9CDD-7B6B32BB1A42}"/>
                </c:ext>
              </c:extLst>
            </c:dLbl>
            <c:dLbl>
              <c:idx val="1"/>
              <c:layout>
                <c:manualLayout>
                  <c:x val="0.14172411767807744"/>
                  <c:y val="0.314292553333566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D88-44C2-9CDD-7B6B32BB1A42}"/>
                </c:ext>
              </c:extLst>
            </c:dLbl>
            <c:dLbl>
              <c:idx val="10"/>
              <c:layout>
                <c:manualLayout>
                  <c:x val="0.12786406564098696"/>
                  <c:y val="-3.4452620808258047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4D88-44C2-9CDD-7B6B32BB1A42}"/>
                </c:ext>
              </c:extLst>
            </c:dLbl>
            <c:spPr>
              <a:noFill/>
              <a:ln w="25351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5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KZ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06" cap="flat" cmpd="sng" algn="ctr">
                  <a:solidFill>
                    <a:schemeClr val="tx1"/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Лист1!$A$2:$A$12</c:f>
              <c:strCache>
                <c:ptCount val="11"/>
                <c:pt idx="0">
                  <c:v>Жалақы бойынша шығындар</c:v>
                </c:pt>
                <c:pt idx="1">
                  <c:v>Әлеуметтік салық және әлеуметтік аударымдар, ОППВ</c:v>
                </c:pt>
                <c:pt idx="2">
                  <c:v>Әлеуметтік медициналық сақтандыру жарналары бойынша міндеттемелер</c:v>
                </c:pt>
                <c:pt idx="3">
                  <c:v>Жер салығы, мүлік салығы</c:v>
                </c:pt>
                <c:pt idx="4">
                  <c:v>Қызметкерлерді міндетті сақтандыру жарналары</c:v>
                </c:pt>
                <c:pt idx="5">
                  <c:v>Лицензиялық алым, мемлекеттік баж</c:v>
                </c:pt>
                <c:pt idx="6">
                  <c:v>Дивидендтерді төлеу және таза табыстың 5% үлесі</c:v>
                </c:pt>
                <c:pt idx="7">
                  <c:v>Коммуналдық шығындар</c:v>
                </c:pt>
                <c:pt idx="8">
                  <c:v>Байланыс қызметтері</c:v>
                </c:pt>
                <c:pt idx="9">
                  <c:v>Дәрілік заттарды сатып алу</c:v>
                </c:pt>
                <c:pt idx="10">
                  <c:v>Негізгі құралдарды сатып алу</c:v>
                </c:pt>
              </c:strCache>
            </c:strRef>
          </c:cat>
          <c:val>
            <c:numRef>
              <c:f>Лист1!$B$2:$B$12</c:f>
              <c:numCache>
                <c:formatCode>#\ ##,000</c:formatCode>
                <c:ptCount val="11"/>
                <c:pt idx="0">
                  <c:v>727228</c:v>
                </c:pt>
                <c:pt idx="1">
                  <c:v>62983.8</c:v>
                </c:pt>
                <c:pt idx="2">
                  <c:v>11528.5</c:v>
                </c:pt>
                <c:pt idx="3" formatCode="\О\с\н\о\в\н\о\й">
                  <c:v>460.4</c:v>
                </c:pt>
                <c:pt idx="4">
                  <c:v>2700.9</c:v>
                </c:pt>
                <c:pt idx="5" formatCode="\О\с\н\о\в\н\о\й">
                  <c:v>56.8</c:v>
                </c:pt>
                <c:pt idx="6" formatCode="\О\с\н\о\в\н\о\й">
                  <c:v>413.3</c:v>
                </c:pt>
                <c:pt idx="7">
                  <c:v>11905.6</c:v>
                </c:pt>
                <c:pt idx="8">
                  <c:v>2453.9</c:v>
                </c:pt>
                <c:pt idx="9">
                  <c:v>160613.63</c:v>
                </c:pt>
                <c:pt idx="10">
                  <c:v>55068.26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4D88-44C2-9CDD-7B6B32BB1A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 w="25351"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>
          <a:solidFill>
            <a:schemeClr val="tx1"/>
          </a:solidFill>
        </a:defRPr>
      </a:pPr>
      <a:endParaRPr lang="ru-KZ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Жалпы халық саны 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ru-RU" sz="1195" b="1" i="0" u="none" strike="noStrike" kern="1200" baseline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Лист1!$A$2:$A$3</c:f>
              <c:numCache>
                <c:formatCode>General</c:formatCode>
                <c:ptCount val="2"/>
                <c:pt idx="0">
                  <c:v>2025</c:v>
                </c:pt>
                <c:pt idx="1">
                  <c:v>2024</c:v>
                </c:pt>
              </c:numCache>
            </c:numRef>
          </c:cat>
          <c:val>
            <c:numRef>
              <c:f>Лист1!$B$2:$B$3</c:f>
              <c:numCache>
                <c:formatCode>#,##0</c:formatCode>
                <c:ptCount val="2"/>
                <c:pt idx="0">
                  <c:v>15814</c:v>
                </c:pt>
                <c:pt idx="1">
                  <c:v>13832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30-421B-85F4-36BD2592C7CD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Жалдамалы пәтер тұрғындары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ru-RU" sz="1195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Лист1!$A$2:$A$3</c:f>
              <c:numCache>
                <c:formatCode>General</c:formatCode>
                <c:ptCount val="2"/>
                <c:pt idx="0">
                  <c:v>2025</c:v>
                </c:pt>
                <c:pt idx="1">
                  <c:v>2024</c:v>
                </c:pt>
              </c:numCache>
            </c:numRef>
          </c:cat>
          <c:val>
            <c:numRef>
              <c:f>Лист1!$C$2:$C$3</c:f>
              <c:numCache>
                <c:formatCode>#,##0</c:formatCode>
                <c:ptCount val="2"/>
                <c:pt idx="0">
                  <c:v>4527</c:v>
                </c:pt>
                <c:pt idx="1">
                  <c:v>3221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30-421B-85F4-36BD2592C7CD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МӘМС жүйесінде сақтандырылмаған тұрғындар 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ru-RU" sz="1195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Лист1!$A$2:$A$3</c:f>
              <c:numCache>
                <c:formatCode>General</c:formatCode>
                <c:ptCount val="2"/>
                <c:pt idx="0">
                  <c:v>2025</c:v>
                </c:pt>
                <c:pt idx="1">
                  <c:v>2024</c:v>
                </c:pt>
              </c:numCache>
            </c:numRef>
          </c:cat>
          <c:val>
            <c:numRef>
              <c:f>Лист1!$D$2:$D$3</c:f>
              <c:numCache>
                <c:formatCode>#,##0</c:formatCode>
                <c:ptCount val="2"/>
                <c:pt idx="0">
                  <c:v>2622</c:v>
                </c:pt>
                <c:pt idx="1">
                  <c:v>4093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30-421B-85F4-36BD2592C7CD}"/>
            </c:ext>
          </c:extLst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Ересектер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ru-RU" sz="1195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Лист1!$A$2:$A$3</c:f>
              <c:numCache>
                <c:formatCode>General</c:formatCode>
                <c:ptCount val="2"/>
                <c:pt idx="0">
                  <c:v>2025</c:v>
                </c:pt>
                <c:pt idx="1">
                  <c:v>2024</c:v>
                </c:pt>
              </c:numCache>
            </c:numRef>
          </c:cat>
          <c:val>
            <c:numRef>
              <c:f>Лист1!$E$2:$E$3</c:f>
              <c:numCache>
                <c:formatCode>#,##0</c:formatCode>
                <c:ptCount val="2"/>
                <c:pt idx="0">
                  <c:v>11067</c:v>
                </c:pt>
                <c:pt idx="1">
                  <c:v>10106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130-421B-85F4-36BD2592C7CD}"/>
            </c:ext>
          </c:extLst>
        </c:ser>
        <c:ser>
          <c:idx val="4"/>
          <c:order val="4"/>
          <c:tx>
            <c:strRef>
              <c:f>Лист1!$F$1</c:f>
              <c:strCache>
                <c:ptCount val="1"/>
                <c:pt idx="0">
                  <c:v>Балалар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130-421B-85F4-36BD2592C7C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ru-RU" sz="1195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Лист1!$A$2:$A$3</c:f>
              <c:numCache>
                <c:formatCode>General</c:formatCode>
                <c:ptCount val="2"/>
                <c:pt idx="0">
                  <c:v>2025</c:v>
                </c:pt>
                <c:pt idx="1">
                  <c:v>2024</c:v>
                </c:pt>
              </c:numCache>
            </c:numRef>
          </c:cat>
          <c:val>
            <c:numRef>
              <c:f>Лист1!$F$2:$F$3</c:f>
              <c:numCache>
                <c:formatCode>#,##0</c:formatCode>
                <c:ptCount val="2"/>
                <c:pt idx="0">
                  <c:v>4020</c:v>
                </c:pt>
                <c:pt idx="1">
                  <c:v>3726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130-421B-85F4-36BD2592C7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63565568"/>
        <c:axId val="165379072"/>
      </c:barChart>
      <c:catAx>
        <c:axId val="1635655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1195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165379072"/>
        <c:crosses val="autoZero"/>
        <c:auto val="1"/>
        <c:lblAlgn val="ctr"/>
        <c:lblOffset val="100"/>
        <c:noMultiLvlLbl val="0"/>
      </c:catAx>
      <c:valAx>
        <c:axId val="1653790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1195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1635655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8392207556062301E-2"/>
          <c:y val="0.71908188378915205"/>
          <c:w val="0.67064681978568796"/>
          <c:h val="0.25996958819651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1195" b="1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859d9683-8abd-4074-b108-02de27d30066}"/>
      </c:ext>
    </c:extLst>
  </c:chart>
  <c:spPr>
    <a:noFill/>
    <a:ln>
      <a:noFill/>
    </a:ln>
    <a:effectLst/>
  </c:spPr>
  <c:txPr>
    <a:bodyPr/>
    <a:lstStyle/>
    <a:p>
      <a:pPr>
        <a:defRPr lang="ru-RU"/>
      </a:pPr>
      <a:endParaRPr lang="ru-KZ"/>
    </a:p>
  </c:txPr>
  <c:externalData r:id="rId3">
    <c:autoUpdate val="0"/>
  </c:externalData>
  <c:userShapes r:id="rId4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Ерлер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chemeClr val="lt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ru-RU" sz="1195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Лист1!$A$2:$A$3</c:f>
              <c:numCache>
                <c:formatCode>General</c:formatCode>
                <c:ptCount val="2"/>
                <c:pt idx="0">
                  <c:v>2025</c:v>
                </c:pt>
                <c:pt idx="1">
                  <c:v>2024</c:v>
                </c:pt>
              </c:numCache>
            </c:numRef>
          </c:cat>
          <c:val>
            <c:numRef>
              <c:f>Лист1!$B$2:$B$3</c:f>
              <c:numCache>
                <c:formatCode>#,##0</c:formatCode>
                <c:ptCount val="2"/>
                <c:pt idx="0">
                  <c:v>6723</c:v>
                </c:pt>
                <c:pt idx="1">
                  <c:v>5890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A0-4AF0-A748-CB7A68E08FB9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Әйелдер</c:v>
                </c:pt>
              </c:strCache>
            </c:strRef>
          </c:tx>
          <c:spPr>
            <a:solidFill>
              <a:schemeClr val="accent2"/>
            </a:solidFill>
            <a:ln w="19050">
              <a:solidFill>
                <a:schemeClr val="lt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ru-RU" sz="1195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Лист1!$A$2:$A$3</c:f>
              <c:numCache>
                <c:formatCode>General</c:formatCode>
                <c:ptCount val="2"/>
                <c:pt idx="0">
                  <c:v>2025</c:v>
                </c:pt>
                <c:pt idx="1">
                  <c:v>2024</c:v>
                </c:pt>
              </c:numCache>
            </c:numRef>
          </c:cat>
          <c:val>
            <c:numRef>
              <c:f>Лист1!$C$2:$C$3</c:f>
              <c:numCache>
                <c:formatCode>#,##0</c:formatCode>
                <c:ptCount val="2"/>
                <c:pt idx="0">
                  <c:v>8699</c:v>
                </c:pt>
                <c:pt idx="1">
                  <c:v>7942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9A0-4AF0-A748-CB7A68E08F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66927744"/>
        <c:axId val="166945920"/>
      </c:barChart>
      <c:catAx>
        <c:axId val="16692774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1195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166945920"/>
        <c:crosses val="autoZero"/>
        <c:auto val="1"/>
        <c:lblAlgn val="ctr"/>
        <c:lblOffset val="100"/>
        <c:noMultiLvlLbl val="0"/>
      </c:catAx>
      <c:valAx>
        <c:axId val="1669459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1195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1669277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1195" b="1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72d851ff-e092-4efa-aa50-91356db3428c}"/>
      </c:ext>
    </c:extLst>
  </c:chart>
  <c:spPr>
    <a:noFill/>
    <a:ln>
      <a:noFill/>
    </a:ln>
    <a:effectLst/>
  </c:spPr>
  <c:txPr>
    <a:bodyPr/>
    <a:lstStyle/>
    <a:p>
      <a:pPr>
        <a:defRPr lang="ru-RU"/>
      </a:pPr>
      <a:endParaRPr lang="ru-KZ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59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Жас</a:t>
            </a:r>
            <a:r>
              <a:rPr lang="ru-RU" b="1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санаты</a:t>
            </a:r>
            <a:endParaRPr lang="ru-RU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0-1 жас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5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Лист1!$A$2:$A$3</c:f>
              <c:numCache>
                <c:formatCode>General</c:formatCode>
                <c:ptCount val="2"/>
                <c:pt idx="0">
                  <c:v>2025</c:v>
                </c:pt>
                <c:pt idx="1">
                  <c:v>2024</c:v>
                </c:pt>
              </c:numCache>
            </c:numRef>
          </c:cat>
          <c:val>
            <c:numRef>
              <c:f>Лист1!$B$2:$B$3</c:f>
              <c:numCache>
                <c:formatCode>#,##0</c:formatCode>
                <c:ptCount val="2"/>
                <c:pt idx="0">
                  <c:v>535</c:v>
                </c:pt>
                <c:pt idx="1">
                  <c:v>450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4E-45F5-ABAA-FDCACE037EB4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0-5 жас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5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Лист1!$A$2:$A$3</c:f>
              <c:numCache>
                <c:formatCode>General</c:formatCode>
                <c:ptCount val="2"/>
                <c:pt idx="0">
                  <c:v>2025</c:v>
                </c:pt>
                <c:pt idx="1">
                  <c:v>2024</c:v>
                </c:pt>
              </c:numCache>
            </c:numRef>
          </c:cat>
          <c:val>
            <c:numRef>
              <c:f>Лист1!$C$2:$C$3</c:f>
              <c:numCache>
                <c:formatCode>#,##0</c:formatCode>
                <c:ptCount val="2"/>
                <c:pt idx="0">
                  <c:v>1672</c:v>
                </c:pt>
                <c:pt idx="1">
                  <c:v>1449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A4E-45F5-ABAA-FDCACE037EB4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0-6 жас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5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Лист1!$A$2:$A$3</c:f>
              <c:numCache>
                <c:formatCode>General</c:formatCode>
                <c:ptCount val="2"/>
                <c:pt idx="0">
                  <c:v>2025</c:v>
                </c:pt>
                <c:pt idx="1">
                  <c:v>2024</c:v>
                </c:pt>
              </c:numCache>
            </c:numRef>
          </c:cat>
          <c:val>
            <c:numRef>
              <c:f>Лист1!$D$2:$D$3</c:f>
              <c:numCache>
                <c:formatCode>#,##0</c:formatCode>
                <c:ptCount val="2"/>
                <c:pt idx="0">
                  <c:v>1943</c:v>
                </c:pt>
                <c:pt idx="1">
                  <c:v>1732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A4E-45F5-ABAA-FDCACE037EB4}"/>
            </c:ext>
          </c:extLst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0-14 жас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5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Лист1!$A$2:$A$3</c:f>
              <c:numCache>
                <c:formatCode>General</c:formatCode>
                <c:ptCount val="2"/>
                <c:pt idx="0">
                  <c:v>2025</c:v>
                </c:pt>
                <c:pt idx="1">
                  <c:v>2024</c:v>
                </c:pt>
              </c:numCache>
            </c:numRef>
          </c:cat>
          <c:val>
            <c:numRef>
              <c:f>Лист1!$E$2:$E$3</c:f>
              <c:numCache>
                <c:formatCode>#,##0</c:formatCode>
                <c:ptCount val="2"/>
                <c:pt idx="0">
                  <c:v>4020</c:v>
                </c:pt>
                <c:pt idx="1">
                  <c:v>3301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A4E-45F5-ABAA-FDCACE037EB4}"/>
            </c:ext>
          </c:extLst>
        </c:ser>
        <c:ser>
          <c:idx val="4"/>
          <c:order val="4"/>
          <c:tx>
            <c:strRef>
              <c:f>Лист1!$F$1</c:f>
              <c:strCache>
                <c:ptCount val="1"/>
                <c:pt idx="0">
                  <c:v>15-17 жас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5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Лист1!$A$2:$A$3</c:f>
              <c:numCache>
                <c:formatCode>General</c:formatCode>
                <c:ptCount val="2"/>
                <c:pt idx="0">
                  <c:v>2025</c:v>
                </c:pt>
                <c:pt idx="1">
                  <c:v>2024</c:v>
                </c:pt>
              </c:numCache>
            </c:numRef>
          </c:cat>
          <c:val>
            <c:numRef>
              <c:f>Лист1!$F$2:$F$3</c:f>
              <c:numCache>
                <c:formatCode>#,##0</c:formatCode>
                <c:ptCount val="2"/>
                <c:pt idx="0">
                  <c:v>727</c:v>
                </c:pt>
                <c:pt idx="1">
                  <c:v>425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A4E-45F5-ABAA-FDCACE037EB4}"/>
            </c:ext>
          </c:extLst>
        </c:ser>
        <c:ser>
          <c:idx val="5"/>
          <c:order val="5"/>
          <c:tx>
            <c:strRef>
              <c:f>Лист1!$G$1</c:f>
              <c:strCache>
                <c:ptCount val="1"/>
                <c:pt idx="0">
                  <c:v>60 жастан жоғары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5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Лист1!$A$2:$A$3</c:f>
              <c:numCache>
                <c:formatCode>General</c:formatCode>
                <c:ptCount val="2"/>
                <c:pt idx="0">
                  <c:v>2025</c:v>
                </c:pt>
                <c:pt idx="1">
                  <c:v>2024</c:v>
                </c:pt>
              </c:numCache>
            </c:numRef>
          </c:cat>
          <c:val>
            <c:numRef>
              <c:f>Лист1!$G$2:$G$3</c:f>
              <c:numCache>
                <c:formatCode>#,##0</c:formatCode>
                <c:ptCount val="2"/>
                <c:pt idx="0">
                  <c:v>2403</c:v>
                </c:pt>
                <c:pt idx="1">
                  <c:v>2338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A4E-45F5-ABAA-FDCACE037E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74444255"/>
        <c:axId val="1"/>
      </c:barChart>
      <c:catAx>
        <c:axId val="1074444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12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5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majorGridlines>
          <c:spPr>
            <a:ln w="9512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5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1074444255"/>
        <c:crosses val="autoZero"/>
        <c:crossBetween val="between"/>
      </c:valAx>
      <c:spPr>
        <a:noFill/>
        <a:ln w="25366">
          <a:noFill/>
        </a:ln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5" b="1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KZ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ru-RU" sz="18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Инвалидтер</a:t>
            </a:r>
            <a:r>
              <a:rPr lang="ru-RU" b="1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(мүгедектер)</a:t>
            </a:r>
            <a:endParaRPr lang="ru-RU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18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KZ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Ересектер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ru-RU" sz="1195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Лист1!$A$2:$A$3</c:f>
              <c:numCache>
                <c:formatCode>General</c:formatCode>
                <c:ptCount val="2"/>
                <c:pt idx="0">
                  <c:v>2025</c:v>
                </c:pt>
                <c:pt idx="1">
                  <c:v>2024</c:v>
                </c:pt>
              </c:numCache>
            </c:numRef>
          </c:cat>
          <c:val>
            <c:numRef>
              <c:f>Лист1!$B$2:$B$3</c:f>
              <c:numCache>
                <c:formatCode>General</c:formatCode>
                <c:ptCount val="2"/>
                <c:pt idx="0">
                  <c:v>298</c:v>
                </c:pt>
                <c:pt idx="1">
                  <c:v>297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71-45C6-B443-1BA9A102FF58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Балалар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ru-RU" sz="1195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Лист1!$A$2:$A$3</c:f>
              <c:numCache>
                <c:formatCode>General</c:formatCode>
                <c:ptCount val="2"/>
                <c:pt idx="0">
                  <c:v>2025</c:v>
                </c:pt>
                <c:pt idx="1">
                  <c:v>2024</c:v>
                </c:pt>
              </c:numCache>
            </c:numRef>
          </c:cat>
          <c:val>
            <c:numRef>
              <c:f>Лист1!$C$2:$C$3</c:f>
              <c:numCache>
                <c:formatCode>General</c:formatCode>
                <c:ptCount val="2"/>
                <c:pt idx="0">
                  <c:v>36</c:v>
                </c:pt>
                <c:pt idx="1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371-45C6-B443-1BA9A102FF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8249216"/>
        <c:axId val="168250752"/>
      </c:barChart>
      <c:catAx>
        <c:axId val="1682492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1195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168250752"/>
        <c:crosses val="autoZero"/>
        <c:auto val="1"/>
        <c:lblAlgn val="ctr"/>
        <c:lblOffset val="100"/>
        <c:noMultiLvlLbl val="0"/>
      </c:catAx>
      <c:valAx>
        <c:axId val="1682507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1195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1682492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1195" b="1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5cfacafe-20dc-4049-8309-ab68bab4c075}"/>
      </c:ext>
    </c:extLst>
  </c:chart>
  <c:spPr>
    <a:noFill/>
    <a:ln>
      <a:noFill/>
    </a:ln>
    <a:effectLst/>
  </c:spPr>
  <c:txPr>
    <a:bodyPr/>
    <a:lstStyle/>
    <a:p>
      <a:pPr>
        <a:defRPr lang="ru-RU"/>
      </a:pPr>
      <a:endParaRPr lang="ru-KZ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Лист1!$A$2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Лист1!$B$1:$G$1</c:f>
              <c:strCache>
                <c:ptCount val="6"/>
                <c:pt idx="0">
                  <c:v>Барлығы</c:v>
                </c:pt>
                <c:pt idx="1">
                  <c:v>Қабылдау кезінде</c:v>
                </c:pt>
                <c:pt idx="2">
                  <c:v>Үйде қабылдау</c:v>
                </c:pt>
                <c:pt idx="3">
                  <c:v>Проф балалар</c:v>
                </c:pt>
                <c:pt idx="4">
                  <c:v>Проф жасөспірімдер</c:v>
                </c:pt>
                <c:pt idx="5">
                  <c:v>Проф ересектер</c:v>
                </c:pt>
              </c:strCache>
            </c:strRef>
          </c:cat>
          <c:val>
            <c:numRef>
              <c:f>Лист1!$B$2:$G$2</c:f>
              <c:numCache>
                <c:formatCode>General</c:formatCode>
                <c:ptCount val="6"/>
                <c:pt idx="0">
                  <c:v>11510</c:v>
                </c:pt>
                <c:pt idx="1">
                  <c:v>8403</c:v>
                </c:pt>
                <c:pt idx="2">
                  <c:v>1217</c:v>
                </c:pt>
                <c:pt idx="3">
                  <c:v>2706</c:v>
                </c:pt>
                <c:pt idx="4">
                  <c:v>386</c:v>
                </c:pt>
                <c:pt idx="5">
                  <c:v>7715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4F-4034-A563-C33AFD707C8A}"/>
            </c:ext>
          </c:extLst>
        </c:ser>
        <c:ser>
          <c:idx val="1"/>
          <c:order val="1"/>
          <c:tx>
            <c:strRef>
              <c:f>Лист1!$A$3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Лист1!$B$1:$G$1</c:f>
              <c:strCache>
                <c:ptCount val="6"/>
                <c:pt idx="0">
                  <c:v>Барлығы</c:v>
                </c:pt>
                <c:pt idx="1">
                  <c:v>Қабылдау кезінде</c:v>
                </c:pt>
                <c:pt idx="2">
                  <c:v>Үйде қабылдау</c:v>
                </c:pt>
                <c:pt idx="3">
                  <c:v>Проф балалар</c:v>
                </c:pt>
                <c:pt idx="4">
                  <c:v>Проф жасөспірімдер</c:v>
                </c:pt>
                <c:pt idx="5">
                  <c:v>Проф ересектер</c:v>
                </c:pt>
              </c:strCache>
            </c:strRef>
          </c:cat>
          <c:val>
            <c:numRef>
              <c:f>Лист1!$B$3:$G$3</c:f>
              <c:numCache>
                <c:formatCode>General</c:formatCode>
                <c:ptCount val="6"/>
                <c:pt idx="0">
                  <c:v>79342</c:v>
                </c:pt>
                <c:pt idx="1">
                  <c:v>45646</c:v>
                </c:pt>
                <c:pt idx="2">
                  <c:v>6640</c:v>
                </c:pt>
                <c:pt idx="3">
                  <c:v>25124</c:v>
                </c:pt>
                <c:pt idx="4">
                  <c:v>3961</c:v>
                </c:pt>
                <c:pt idx="5">
                  <c:v>50257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84F-4034-A563-C33AFD707C8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57026607"/>
        <c:axId val="457021199"/>
      </c:barChart>
      <c:catAx>
        <c:axId val="4570266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57021199"/>
        <c:crosses val="autoZero"/>
        <c:auto val="1"/>
        <c:lblAlgn val="ctr"/>
        <c:lblOffset val="100"/>
        <c:noMultiLvlLbl val="0"/>
      </c:catAx>
      <c:valAx>
        <c:axId val="4570211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570266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 b="1">
          <a:latin typeface="Times New Roman" panose="02020603050405020304" pitchFamily="18" charset="0"/>
          <a:cs typeface="Times New Roman" panose="02020603050405020304" pitchFamily="18" charset="0"/>
        </a:defRPr>
      </a:pPr>
      <a:endParaRPr lang="ru-KZ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ru-RU"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2024 ж </a:t>
            </a:r>
            <a:r>
              <a:rPr lang="ru-RU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бойынша</a:t>
            </a: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жалпы</a:t>
            </a: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сырқаттанушылықтың</a:t>
            </a: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құрылымы</a:t>
            </a:r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</c:spPr>
    </c:floor>
    <c:sideWall>
      <c:thickness val="0"/>
      <c:spPr>
        <a:noFill/>
        <a:ln>
          <a:noFill/>
        </a:ln>
        <a:effectLst/>
      </c:spPr>
    </c:sideWall>
    <c:backWall>
      <c:thickness val="0"/>
      <c:spPr>
        <a:noFill/>
        <a:ln>
          <a:noFill/>
        </a:ln>
        <a:effectLst/>
      </c:spPr>
    </c:backWall>
    <c:plotArea>
      <c:layout>
        <c:manualLayout>
          <c:layoutTarget val="inner"/>
          <c:xMode val="edge"/>
          <c:yMode val="edge"/>
          <c:x val="0.12552942355902991"/>
          <c:y val="0.30801139618490442"/>
          <c:w val="0.7825569226483271"/>
          <c:h val="0.32117067823286816"/>
        </c:manualLayout>
      </c:layout>
      <c:pie3D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2024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6D14-4D6C-BBA3-5BD41C265B6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6D14-4D6C-BBA3-5BD41C265B6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6D14-4D6C-BBA3-5BD41C265B69}"/>
              </c:ext>
            </c:extLst>
          </c:dPt>
          <c:dLbls>
            <c:dLbl>
              <c:idx val="0"/>
              <c:layout>
                <c:manualLayout>
                  <c:x val="0.12901646975632"/>
                  <c:y val="-0.29355120602034501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D14-4D6C-BBA3-5BD41C265B69}"/>
                </c:ext>
              </c:extLst>
            </c:dLbl>
            <c:dLbl>
              <c:idx val="1"/>
              <c:layout>
                <c:manualLayout>
                  <c:x val="-6.9853057331948104E-2"/>
                  <c:y val="-1.3701884327250199E-3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D14-4D6C-BBA3-5BD41C265B69}"/>
                </c:ext>
              </c:extLst>
            </c:dLbl>
            <c:dLbl>
              <c:idx val="2"/>
              <c:layout>
                <c:manualLayout>
                  <c:x val="-0.122336195021142"/>
                  <c:y val="-1.34770546463387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D14-4D6C-BBA3-5BD41C265B6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ru-RU" sz="12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25400" cap="flat" cmpd="sng" algn="ctr">
                  <a:solidFill>
                    <a:schemeClr val="dk1"/>
                  </a:solidFill>
                  <a:prstDash val="solid"/>
                  <a:round/>
                </a:ln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Лист1!$A$2:$A$4</c:f>
              <c:strCache>
                <c:ptCount val="3"/>
                <c:pt idx="0">
                  <c:v>Тыныс алу орг. ауруы</c:v>
                </c:pt>
                <c:pt idx="1">
                  <c:v>Жүрек қан тамыр аурулары</c:v>
                </c:pt>
                <c:pt idx="2">
                  <c:v>Жүйке жүйесінің аурулары </c:v>
                </c:pt>
              </c:strCache>
            </c:strRef>
          </c:cat>
          <c:val>
            <c:numRef>
              <c:f>Лист1!$B$2:$B$4</c:f>
              <c:numCache>
                <c:formatCode>0.00%</c:formatCode>
                <c:ptCount val="3"/>
                <c:pt idx="0" formatCode="0.0%">
                  <c:v>0.182</c:v>
                </c:pt>
                <c:pt idx="1">
                  <c:v>0.31</c:v>
                </c:pt>
                <c:pt idx="2">
                  <c:v>3.9E-2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D14-4D6C-BBA3-5BD41C265B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1000" b="1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zero"/>
    <c:showDLblsOverMax val="0"/>
    <c:extLst>
      <c:ext uri="{0b15fc19-7d7d-44ad-8c2d-2c3a37ce22c3}">
        <chartProps xmlns="https://web.wps.cn/et/2018/main" chartId="{1217755c-3ea2-44bc-8d8d-0067c241ab4e}"/>
      </c:ext>
    </c:extLst>
  </c:chart>
  <c:spPr>
    <a:noFill/>
    <a:ln>
      <a:noFill/>
    </a:ln>
    <a:effectLst/>
  </c:spPr>
  <c:txPr>
    <a:bodyPr/>
    <a:lstStyle/>
    <a:p>
      <a:pPr>
        <a:defRPr lang="ru-RU"/>
      </a:pPr>
      <a:endParaRPr lang="ru-KZ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ru-RU" sz="10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200" b="1" i="0" baseline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2025 ж </a:t>
            </a:r>
            <a:r>
              <a:rPr lang="ru-RU" sz="1200" b="1" i="0" baseline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бойынша</a:t>
            </a:r>
            <a:r>
              <a:rPr lang="ru-RU" sz="1200" b="1" i="0" baseline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b="1" i="0" baseline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жалпы</a:t>
            </a:r>
            <a:r>
              <a:rPr lang="ru-RU" sz="1200" b="1" i="0" baseline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b="1" i="0" baseline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сырқаттанушылықтың</a:t>
            </a:r>
            <a:r>
              <a:rPr lang="ru-RU" sz="1200" b="1" i="0" baseline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b="1" i="0" baseline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құрылымы</a:t>
            </a:r>
            <a:endParaRPr lang="ru-RU" sz="120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12450326530660299"/>
          <c:y val="4.3688056270216498E-3"/>
        </c:manualLayout>
      </c:layout>
      <c:overlay val="0"/>
      <c:spPr>
        <a:noFill/>
        <a:ln>
          <a:noFill/>
        </a:ln>
        <a:effectLst/>
      </c:sp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</c:spPr>
    </c:floor>
    <c:sideWall>
      <c:thickness val="0"/>
      <c:spPr>
        <a:noFill/>
        <a:ln>
          <a:noFill/>
        </a:ln>
        <a:effectLst/>
      </c:spPr>
    </c:sideWall>
    <c:backWall>
      <c:thickness val="0"/>
      <c:spPr>
        <a:noFill/>
        <a:ln>
          <a:noFill/>
        </a:ln>
        <a:effectLst/>
      </c:spPr>
    </c:backWall>
    <c:plotArea>
      <c:layout/>
      <c:pie3D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2025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292F-402A-95B4-3300C0D0FCA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292F-402A-95B4-3300C0D0FCA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292F-402A-95B4-3300C0D0FCA2}"/>
              </c:ext>
            </c:extLst>
          </c:dPt>
          <c:dLbls>
            <c:dLbl>
              <c:idx val="0"/>
              <c:layout>
                <c:manualLayout>
                  <c:x val="0.12901646975632"/>
                  <c:y val="-0.29355120602034501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92F-402A-95B4-3300C0D0FCA2}"/>
                </c:ext>
              </c:extLst>
            </c:dLbl>
            <c:dLbl>
              <c:idx val="1"/>
              <c:layout>
                <c:manualLayout>
                  <c:x val="-6.9853057331948104E-2"/>
                  <c:y val="-1.3701884327250199E-3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92F-402A-95B4-3300C0D0FCA2}"/>
                </c:ext>
              </c:extLst>
            </c:dLbl>
            <c:dLbl>
              <c:idx val="2"/>
              <c:layout>
                <c:manualLayout>
                  <c:x val="-0.122336195021142"/>
                  <c:y val="-1.34770546463387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92F-402A-95B4-3300C0D0FCA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ru-RU" sz="12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25400" cap="flat" cmpd="sng" algn="ctr">
                  <a:solidFill>
                    <a:schemeClr val="dk1"/>
                  </a:solidFill>
                  <a:prstDash val="solid"/>
                  <a:round/>
                </a:ln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Лист1!$A$2:$A$4</c:f>
              <c:strCache>
                <c:ptCount val="3"/>
                <c:pt idx="0">
                  <c:v>Тыныс алу орг. аурулары</c:v>
                </c:pt>
                <c:pt idx="1">
                  <c:v>Жүйке жүйесінің аурулары </c:v>
                </c:pt>
                <c:pt idx="2">
                  <c:v>Жүрек қан тамыр аурулары</c:v>
                </c:pt>
              </c:strCache>
            </c:strRef>
          </c:cat>
          <c:val>
            <c:numRef>
              <c:f>Лист1!$B$2:$B$4</c:f>
              <c:numCache>
                <c:formatCode>0.00%</c:formatCode>
                <c:ptCount val="3"/>
                <c:pt idx="0" formatCode="0%">
                  <c:v>0.17499999999999999</c:v>
                </c:pt>
                <c:pt idx="1">
                  <c:v>0.23</c:v>
                </c:pt>
                <c:pt idx="2">
                  <c:v>6.1199999999999997E-2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92F-402A-95B4-3300C0D0FC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1000" b="1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zero"/>
    <c:showDLblsOverMax val="0"/>
    <c:extLst>
      <c:ext uri="{0b15fc19-7d7d-44ad-8c2d-2c3a37ce22c3}">
        <chartProps xmlns="https://web.wps.cn/et/2018/main" chartId="{54b94762-1632-432b-8bc7-5b59780da590}"/>
      </c:ext>
    </c:extLst>
  </c:chart>
  <c:spPr>
    <a:noFill/>
    <a:ln>
      <a:noFill/>
    </a:ln>
    <a:effectLst/>
  </c:spPr>
  <c:txPr>
    <a:bodyPr/>
    <a:lstStyle/>
    <a:p>
      <a:pPr>
        <a:defRPr lang="ru-RU"/>
      </a:pPr>
      <a:endParaRPr lang="ru-KZ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ru-RU" sz="1860" b="0" i="0" u="none" strike="noStrike" kern="1200" cap="none" spc="20" baseline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/>
              <a:t>2025 жылға күндізгі стационарға жатқандар саны - 269</a:t>
            </a:r>
          </a:p>
        </c:rich>
      </c:tx>
      <c:overlay val="0"/>
      <c:spPr>
        <a:solidFill>
          <a:schemeClr val="bg1"/>
        </a:solidFill>
        <a:ln w="25400" cap="flat" cmpd="sng" algn="ctr">
          <a:solidFill>
            <a:schemeClr val="bg1"/>
          </a:solidFill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1860" b="0" i="0" u="none" strike="noStrike" kern="1200" cap="none" spc="2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Госпитализированные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tint val="50000"/>
                      <a:satMod val="300000"/>
                    </a:schemeClr>
                  </a:gs>
                  <a:gs pos="35000">
                    <a:schemeClr val="accent1">
                      <a:tint val="37000"/>
                      <a:satMod val="300000"/>
                    </a:schemeClr>
                  </a:gs>
                  <a:gs pos="100000">
                    <a:schemeClr val="accent1">
                      <a:tint val="15000"/>
                      <a:satMod val="350000"/>
                    </a:schemeClr>
                  </a:gs>
                </a:gsLst>
                <a:lin ang="16200000" scaled="1"/>
              </a:gra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32D1-460A-B98A-AB8689DAAD0F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tint val="50000"/>
                      <a:satMod val="300000"/>
                    </a:schemeClr>
                  </a:gs>
                  <a:gs pos="35000">
                    <a:schemeClr val="accent2">
                      <a:tint val="37000"/>
                      <a:satMod val="300000"/>
                    </a:schemeClr>
                  </a:gs>
                  <a:gs pos="100000">
                    <a:schemeClr val="accent2">
                      <a:tint val="15000"/>
                      <a:satMod val="350000"/>
                    </a:schemeClr>
                  </a:gs>
                </a:gsLst>
                <a:lin ang="16200000" scaled="1"/>
              </a:gradFill>
              <a:ln w="9525" cap="flat" cmpd="sng" algn="ctr">
                <a:solidFill>
                  <a:schemeClr val="accent2">
                    <a:shade val="95000"/>
                  </a:schemeClr>
                </a:solidFill>
                <a:round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32D1-460A-B98A-AB8689DAAD0F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tint val="50000"/>
                      <a:satMod val="300000"/>
                    </a:schemeClr>
                  </a:gs>
                  <a:gs pos="35000">
                    <a:schemeClr val="accent3">
                      <a:tint val="37000"/>
                      <a:satMod val="300000"/>
                    </a:schemeClr>
                  </a:gs>
                  <a:gs pos="100000">
                    <a:schemeClr val="accent3">
                      <a:tint val="15000"/>
                      <a:satMod val="350000"/>
                    </a:schemeClr>
                  </a:gs>
                </a:gsLst>
                <a:lin ang="16200000" scaled="1"/>
              </a:gradFill>
              <a:ln w="9525" cap="flat" cmpd="sng" algn="ctr">
                <a:solidFill>
                  <a:schemeClr val="accent3">
                    <a:shade val="95000"/>
                  </a:schemeClr>
                </a:solidFill>
                <a:round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32D1-460A-B98A-AB8689DAAD0F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tint val="50000"/>
                      <a:satMod val="300000"/>
                    </a:schemeClr>
                  </a:gs>
                  <a:gs pos="35000">
                    <a:schemeClr val="accent4">
                      <a:tint val="37000"/>
                      <a:satMod val="300000"/>
                    </a:schemeClr>
                  </a:gs>
                  <a:gs pos="100000">
                    <a:schemeClr val="accent4">
                      <a:tint val="15000"/>
                      <a:satMod val="350000"/>
                    </a:schemeClr>
                  </a:gs>
                </a:gsLst>
                <a:lin ang="16200000" scaled="1"/>
              </a:gradFill>
              <a:ln w="9525" cap="flat" cmpd="sng" algn="ctr">
                <a:solidFill>
                  <a:schemeClr val="accent4">
                    <a:shade val="95000"/>
                  </a:schemeClr>
                </a:solidFill>
                <a:round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32D1-460A-B98A-AB8689DAAD0F}"/>
              </c:ext>
            </c:extLst>
          </c:dPt>
          <c:dPt>
            <c:idx val="4"/>
            <c:bubble3D val="0"/>
            <c:spPr>
              <a:gradFill rotWithShape="1">
                <a:gsLst>
                  <a:gs pos="0">
                    <a:schemeClr val="accent5">
                      <a:tint val="50000"/>
                      <a:satMod val="300000"/>
                    </a:schemeClr>
                  </a:gs>
                  <a:gs pos="35000">
                    <a:schemeClr val="accent5">
                      <a:tint val="37000"/>
                      <a:satMod val="300000"/>
                    </a:schemeClr>
                  </a:gs>
                  <a:gs pos="100000">
                    <a:schemeClr val="accent5">
                      <a:tint val="15000"/>
                      <a:satMod val="350000"/>
                    </a:schemeClr>
                  </a:gs>
                </a:gsLst>
                <a:lin ang="16200000" scaled="1"/>
              </a:gradFill>
              <a:ln w="9525" cap="flat" cmpd="sng" algn="ctr">
                <a:solidFill>
                  <a:schemeClr val="accent5">
                    <a:shade val="95000"/>
                  </a:schemeClr>
                </a:solidFill>
                <a:round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32D1-460A-B98A-AB8689DAAD0F}"/>
              </c:ext>
            </c:extLst>
          </c:dPt>
          <c:dPt>
            <c:idx val="5"/>
            <c:bubble3D val="0"/>
            <c:spPr>
              <a:gradFill rotWithShape="1">
                <a:gsLst>
                  <a:gs pos="0">
                    <a:schemeClr val="accent6">
                      <a:tint val="50000"/>
                      <a:satMod val="300000"/>
                    </a:schemeClr>
                  </a:gs>
                  <a:gs pos="35000">
                    <a:schemeClr val="accent6">
                      <a:tint val="37000"/>
                      <a:satMod val="300000"/>
                    </a:schemeClr>
                  </a:gs>
                  <a:gs pos="100000">
                    <a:schemeClr val="accent6">
                      <a:tint val="15000"/>
                      <a:satMod val="350000"/>
                    </a:schemeClr>
                  </a:gs>
                </a:gsLst>
                <a:lin ang="16200000" scaled="1"/>
              </a:gradFill>
              <a:ln w="9525" cap="flat" cmpd="sng" algn="ctr">
                <a:solidFill>
                  <a:schemeClr val="accent6">
                    <a:shade val="95000"/>
                  </a:schemeClr>
                </a:solidFill>
                <a:round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32D1-460A-B98A-AB8689DAAD0F}"/>
              </c:ext>
            </c:extLst>
          </c:dPt>
          <c:dPt>
            <c:idx val="6"/>
            <c:bubble3D val="0"/>
            <c:spPr>
              <a:gradFill rotWithShape="1">
                <a:gsLst>
                  <a:gs pos="0">
                    <a:schemeClr val="accent1">
                      <a:lumMod val="60000"/>
                      <a:tint val="50000"/>
                      <a:satMod val="300000"/>
                    </a:schemeClr>
                  </a:gs>
                  <a:gs pos="35000">
                    <a:schemeClr val="accent1">
                      <a:lumMod val="60000"/>
                      <a:tint val="37000"/>
                      <a:satMod val="300000"/>
                    </a:schemeClr>
                  </a:gs>
                  <a:gs pos="100000">
                    <a:schemeClr val="accent1">
                      <a:lumMod val="60000"/>
                      <a:tint val="15000"/>
                      <a:satMod val="350000"/>
                    </a:schemeClr>
                  </a:gs>
                </a:gsLst>
                <a:lin ang="16200000" scaled="1"/>
              </a:gradFill>
              <a:ln w="9525" cap="flat" cmpd="sng" algn="ctr">
                <a:solidFill>
                  <a:schemeClr val="accent1">
                    <a:lumMod val="60000"/>
                    <a:shade val="95000"/>
                  </a:schemeClr>
                </a:solidFill>
                <a:round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D-32D1-460A-B98A-AB8689DAAD0F}"/>
              </c:ext>
            </c:extLst>
          </c:dPt>
          <c:dLbls>
            <c:dLbl>
              <c:idx val="0"/>
              <c:layout>
                <c:manualLayout>
                  <c:x val="5.7417439403267503E-2"/>
                  <c:y val="-4.1288236847919803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2D1-460A-B98A-AB8689DAAD0F}"/>
                </c:ext>
              </c:extLst>
            </c:dLbl>
            <c:dLbl>
              <c:idx val="1"/>
              <c:layout>
                <c:manualLayout>
                  <c:x val="7.19594080553817E-5"/>
                  <c:y val="5.0893052029645801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2D1-460A-B98A-AB8689DAAD0F}"/>
                </c:ext>
              </c:extLst>
            </c:dLbl>
            <c:dLbl>
              <c:idx val="2"/>
              <c:layout>
                <c:manualLayout>
                  <c:x val="-9.7008621164117695E-2"/>
                  <c:y val="-4.5602627508767502E-4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2D1-460A-B98A-AB8689DAAD0F}"/>
                </c:ext>
              </c:extLst>
            </c:dLbl>
            <c:dLbl>
              <c:idx val="3"/>
              <c:layout>
                <c:manualLayout>
                  <c:x val="-5.9124246683524097E-2"/>
                  <c:y val="-4.55714781730375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2D1-460A-B98A-AB8689DAAD0F}"/>
                </c:ext>
              </c:extLst>
            </c:dLbl>
            <c:dLbl>
              <c:idx val="4"/>
              <c:layout>
                <c:manualLayout>
                  <c:x val="-2.5586150369828201E-2"/>
                  <c:y val="-7.32060707530857E-3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2D1-460A-B98A-AB8689DAAD0F}"/>
                </c:ext>
              </c:extLst>
            </c:dLbl>
            <c:dLbl>
              <c:idx val="5"/>
              <c:layout>
                <c:manualLayout>
                  <c:x val="-5.3510862988603199E-2"/>
                  <c:y val="-4.0688923628473997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32D1-460A-B98A-AB8689DAAD0F}"/>
                </c:ext>
              </c:extLst>
            </c:dLbl>
            <c:dLbl>
              <c:idx val="6"/>
              <c:layout>
                <c:manualLayout>
                  <c:x val="2.3296594105399498E-2"/>
                  <c:y val="-2.19269909617851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32D1-460A-B98A-AB8689DAAD0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ru-RU" sz="1195" b="1" i="0" u="none" strike="noStrike" kern="1200" baseline="0">
                    <a:solidFill>
                      <a:schemeClr val="dk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tx1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Лист1!$A$2:$A$8</c:f>
              <c:strCache>
                <c:ptCount val="7"/>
                <c:pt idx="0">
                  <c:v>Қан айналу жүйесінің аурулары</c:v>
                </c:pt>
                <c:pt idx="1">
                  <c:v>Тыныс алу органдарының аурулары</c:v>
                </c:pt>
                <c:pt idx="2">
                  <c:v>Ас қорыту жүйесінің аурулары</c:v>
                </c:pt>
                <c:pt idx="3">
                  <c:v>Несеп-жыныс жүйесінің аурулары</c:v>
                </c:pt>
                <c:pt idx="4">
                  <c:v>қан және қан түзуші мүшелердің аурулары</c:v>
                </c:pt>
                <c:pt idx="5">
                  <c:v>Сүйек-бұлшықет жүйесі </c:v>
                </c:pt>
                <c:pt idx="6">
                  <c:v>Басқалары</c:v>
                </c:pt>
              </c:strCache>
            </c:strRef>
          </c:cat>
          <c:val>
            <c:numRef>
              <c:f>Лист1!$B$2:$B$8</c:f>
              <c:numCache>
                <c:formatCode>General</c:formatCode>
                <c:ptCount val="7"/>
                <c:pt idx="0">
                  <c:v>170</c:v>
                </c:pt>
                <c:pt idx="1">
                  <c:v>31</c:v>
                </c:pt>
                <c:pt idx="2">
                  <c:v>5</c:v>
                </c:pt>
                <c:pt idx="3">
                  <c:v>3</c:v>
                </c:pt>
                <c:pt idx="4">
                  <c:v>7</c:v>
                </c:pt>
                <c:pt idx="5">
                  <c:v>52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32D1-460A-B98A-AB8689DAAD0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1195" b="0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zero"/>
    <c:showDLblsOverMax val="0"/>
    <c:extLst>
      <c:ext uri="{0b15fc19-7d7d-44ad-8c2d-2c3a37ce22c3}">
        <chartProps xmlns="https://web.wps.cn/et/2018/main" chartId="{81ca590a-23f5-4eb0-a03f-02ad6037469f}"/>
      </c:ext>
    </c:extLst>
  </c:chart>
  <c:spPr>
    <a:solidFill>
      <a:schemeClr val="lt1"/>
    </a:solidFill>
    <a:ln w="25400" cap="flat" cmpd="sng" algn="ctr">
      <a:solidFill>
        <a:schemeClr val="dk1"/>
      </a:solidFill>
      <a:prstDash val="solid"/>
    </a:ln>
    <a:effectLst/>
  </c:spPr>
  <c:txPr>
    <a:bodyPr/>
    <a:lstStyle/>
    <a:p>
      <a:pPr>
        <a:defRPr lang="ru-RU">
          <a:solidFill>
            <a:schemeClr val="dk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pPr>
      <a:endParaRPr lang="ru-KZ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Күту парағынан алынғандар 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ru-RU" sz="11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Лист1!$B$2:$B$3</c:f>
              <c:numCache>
                <c:formatCode>General</c:formatCode>
                <c:ptCount val="2"/>
                <c:pt idx="0">
                  <c:v>15.2</c:v>
                </c:pt>
                <c:pt idx="1">
                  <c:v>12.9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35-474E-B0C3-00709F240D86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Шұғыл түрде ауруханаға жатқызылды
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ru-RU" sz="11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Лист1!$C$2:$C$3</c:f>
              <c:numCache>
                <c:formatCode>General</c:formatCode>
                <c:ptCount val="2"/>
                <c:pt idx="0">
                  <c:v>5.6</c:v>
                </c:pt>
                <c:pt idx="1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835-474E-B0C3-00709F240D86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Ауруханаға жатқызудан жазбаша түрде бас тарту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ru-RU" sz="11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Лист1!$D$2:$D$3</c:f>
              <c:numCache>
                <c:formatCode>General</c:formatCode>
                <c:ptCount val="2"/>
                <c:pt idx="0">
                  <c:v>2.4</c:v>
                </c:pt>
                <c:pt idx="1">
                  <c:v>2.7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835-474E-B0C3-00709F240D86}"/>
            </c:ext>
          </c:extLst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Зерттеудің ең аз көлемі жүргізілмеген
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ru-RU" sz="11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Лист1!$E$2:$E$3</c:f>
              <c:numCache>
                <c:formatCode>General</c:formatCode>
                <c:ptCount val="2"/>
                <c:pt idx="0">
                  <c:v>0</c:v>
                </c:pt>
                <c:pt idx="1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835-474E-B0C3-00709F240D86}"/>
            </c:ext>
          </c:extLst>
        </c:ser>
        <c:ser>
          <c:idx val="4"/>
          <c:order val="4"/>
          <c:tx>
            <c:strRef>
              <c:f>Лист1!$F$1</c:f>
              <c:strCache>
                <c:ptCount val="1"/>
                <c:pt idx="0">
                  <c:v>Пациенттің емдеуге жатқызу бюросына  жатуға келмеуі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ru-RU" sz="11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Лист1!$F$2:$F$3</c:f>
              <c:numCache>
                <c:formatCode>General</c:formatCode>
                <c:ptCount val="2"/>
                <c:pt idx="0">
                  <c:v>0</c:v>
                </c:pt>
                <c:pt idx="1">
                  <c:v>2.2999999999999998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835-474E-B0C3-00709F240D86}"/>
            </c:ext>
          </c:extLst>
        </c:ser>
        <c:ser>
          <c:idx val="5"/>
          <c:order val="5"/>
          <c:tx>
            <c:strRef>
              <c:f>Лист1!$G$1</c:f>
              <c:strCache>
                <c:ptCount val="1"/>
                <c:pt idx="0">
                  <c:v>Пациенттің ауруханағ дейінгі кезеңдегі өлімі
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ru-RU" sz="11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Лист1!$G$2:$G$3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835-474E-B0C3-00709F240D86}"/>
            </c:ext>
          </c:extLst>
        </c:ser>
        <c:ser>
          <c:idx val="6"/>
          <c:order val="6"/>
          <c:tx>
            <c:strRef>
              <c:f>Лист1!$H$1</c:f>
              <c:strCache>
                <c:ptCount val="1"/>
                <c:pt idx="0">
                  <c:v>Қате жазбалар, емдеуге жатқызу бюросының порталы бойынша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ru-RU" sz="11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Лист1!$H$2:$H$3</c:f>
              <c:numCache>
                <c:formatCode>General</c:formatCode>
                <c:ptCount val="2"/>
                <c:pt idx="0">
                  <c:v>4.8</c:v>
                </c:pt>
                <c:pt idx="1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835-474E-B0C3-00709F240D86}"/>
            </c:ext>
          </c:extLst>
        </c:ser>
        <c:ser>
          <c:idx val="7"/>
          <c:order val="7"/>
          <c:tx>
            <c:strRef>
              <c:f>Лист1!$I$1</c:f>
              <c:strCache>
                <c:ptCount val="1"/>
                <c:pt idx="0">
                  <c:v>Емдеуге жатқызуға дейінгі қарсы көрсетілімдердің болуы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9.2936802973977699E-3"/>
                  <c:y val="-2.15195368589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835-474E-B0C3-00709F240D86}"/>
                </c:ext>
              </c:extLst>
            </c:dLbl>
            <c:dLbl>
              <c:idx val="1"/>
              <c:layout>
                <c:manualLayout>
                  <c:x val="-7.4349442379182803E-3"/>
                  <c:y val="2.151953685889980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1835-474E-B0C3-00709F240D8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ru-RU" sz="1100" b="1" i="0" u="none" strike="noStrike" kern="1200" baseline="0">
                    <a:solidFill>
                      <a:schemeClr val="bg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Лист1!$I$2:$I$3</c:f>
              <c:numCache>
                <c:formatCode>General</c:formatCode>
                <c:ptCount val="2"/>
                <c:pt idx="0">
                  <c:v>1.6</c:v>
                </c:pt>
                <c:pt idx="1">
                  <c:v>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1835-474E-B0C3-00709F240D86}"/>
            </c:ext>
          </c:extLst>
        </c:ser>
        <c:ser>
          <c:idx val="8"/>
          <c:order val="8"/>
          <c:tx>
            <c:strRef>
              <c:f>Лист1!$J$1</c:f>
              <c:strCache>
                <c:ptCount val="1"/>
                <c:pt idx="0">
                  <c:v>Емдеуге жатқызу бюросы деңгейіне байланысты емес жағдайлар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85873605947952E-3"/>
                  <c:y val="1.936758317300999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6710037174721197E-2"/>
                      <c:h val="3.366740013833500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A-1835-474E-B0C3-00709F240D8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ru-RU" sz="1100" b="1" i="0" u="none" strike="noStrike" kern="1200" baseline="0">
                    <a:solidFill>
                      <a:schemeClr val="bg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Лист1!$J$2:$J$3</c:f>
              <c:numCache>
                <c:formatCode>General</c:formatCode>
                <c:ptCount val="2"/>
                <c:pt idx="0">
                  <c:v>0.8</c:v>
                </c:pt>
                <c:pt idx="1">
                  <c:v>1.7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1835-474E-B0C3-00709F240D86}"/>
            </c:ext>
          </c:extLst>
        </c:ser>
        <c:ser>
          <c:idx val="9"/>
          <c:order val="9"/>
          <c:tx>
            <c:strRef>
              <c:f>Лист1!$K$1</c:f>
              <c:strCache>
                <c:ptCount val="1"/>
                <c:pt idx="0">
                  <c:v>Үлес салмағы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ru-RU" sz="11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Лист1!$K$2:$K$3</c:f>
              <c:numCache>
                <c:formatCode>General</c:formatCode>
                <c:ptCount val="2"/>
                <c:pt idx="0">
                  <c:v>30.4</c:v>
                </c:pt>
                <c:pt idx="1">
                  <c:v>25.4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1835-474E-B0C3-00709F240D8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overlap val="40"/>
        <c:axId val="222112768"/>
        <c:axId val="222126848"/>
      </c:barChart>
      <c:catAx>
        <c:axId val="22211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222126848"/>
        <c:crosses val="autoZero"/>
        <c:auto val="1"/>
        <c:lblAlgn val="ctr"/>
        <c:lblOffset val="100"/>
        <c:noMultiLvlLbl val="0"/>
      </c:catAx>
      <c:valAx>
        <c:axId val="2221268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2221127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5991119142958099"/>
          <c:y val="8.29203672080214E-2"/>
          <c:w val="0.34008880857041901"/>
          <c:h val="0.9170796327919790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0d33a040-64dd-47cc-b0cd-6ec2c51700ac}"/>
      </c:ext>
    </c:extLst>
  </c:chart>
  <c:spPr>
    <a:noFill/>
    <a:ln>
      <a:noFill/>
    </a:ln>
    <a:effectLst/>
  </c:spPr>
  <c:txPr>
    <a:bodyPr/>
    <a:lstStyle/>
    <a:p>
      <a:pPr>
        <a:defRPr lang="ru-RU" sz="1100" b="1">
          <a:latin typeface="Times New Roman" panose="02020603050405020304" pitchFamily="18" charset="0"/>
          <a:cs typeface="Times New Roman" panose="02020603050405020304" pitchFamily="18" charset="0"/>
        </a:defRPr>
      </a:pPr>
      <a:endParaRPr lang="ru-KZ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2024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ru-RU" sz="18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Лист1!$A$2</c:f>
              <c:strCache>
                <c:ptCount val="1"/>
                <c:pt idx="0">
                  <c:v>1000 тұрғынға шаққандағы туу коэффициенті</c:v>
                </c:pt>
              </c:strCache>
            </c:strRef>
          </c:cat>
          <c:val>
            <c:numRef>
              <c:f>Лист1!$B$2</c:f>
              <c:numCache>
                <c:formatCode>General</c:formatCode>
                <c:ptCount val="1"/>
                <c:pt idx="0">
                  <c:v>1.6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9B5-494A-B47F-BD69E8845565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2025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ru-RU" sz="18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Лист1!$A$2</c:f>
              <c:strCache>
                <c:ptCount val="1"/>
                <c:pt idx="0">
                  <c:v>1000 тұрғынға шаққандағы туу коэффициенті</c:v>
                </c:pt>
              </c:strCache>
            </c:strRef>
          </c:cat>
          <c:val>
            <c:numRef>
              <c:f>Лист1!$C$2</c:f>
              <c:numCache>
                <c:formatCode>General</c:formatCode>
                <c:ptCount val="1"/>
                <c:pt idx="0">
                  <c:v>17.399999999999999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9B5-494A-B47F-BD69E884556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22967680"/>
        <c:axId val="222969216"/>
      </c:barChart>
      <c:catAx>
        <c:axId val="22296768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ru-RU" sz="12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222969216"/>
        <c:crosses val="autoZero"/>
        <c:auto val="1"/>
        <c:lblAlgn val="ctr"/>
        <c:lblOffset val="100"/>
        <c:noMultiLvlLbl val="0"/>
      </c:catAx>
      <c:valAx>
        <c:axId val="22296921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ru-RU" sz="12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222967680"/>
        <c:crosses val="autoZero"/>
        <c:crossBetween val="between"/>
      </c:valAx>
    </c:plotArea>
    <c:legend>
      <c:legendPos val="r"/>
      <c:overlay val="0"/>
      <c:txPr>
        <a:bodyPr rot="0" spcFirstLastPara="0" vertOverflow="ellipsis" vert="horz" wrap="square" anchor="ctr" anchorCtr="1"/>
        <a:lstStyle/>
        <a:p>
          <a:pPr>
            <a:defRPr lang="ru-RU" sz="1200" b="1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d53d9f0b-e14b-4891-8c78-8a3fc4f3fc6b}"/>
      </c:ext>
    </c:extLst>
  </c:chart>
  <c:txPr>
    <a:bodyPr/>
    <a:lstStyle/>
    <a:p>
      <a:pPr>
        <a:defRPr lang="ru-RU" sz="1800"/>
      </a:pPr>
      <a:endParaRPr lang="ru-KZ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2024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ru-RU" sz="24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Лист1!$A$2:$A$4</c:f>
              <c:strCache>
                <c:ptCount val="3"/>
                <c:pt idx="0">
                  <c:v>Перинатальды</c:v>
                </c:pt>
                <c:pt idx="1">
                  <c:v>Өлі туылғандар</c:v>
                </c:pt>
                <c:pt idx="2">
                  <c:v>Антенатальды</c:v>
                </c:pt>
              </c:strCache>
            </c:str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11-4D70-9E8D-56BF3EB06A43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2025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9.2041858027970304E-3"/>
                  <c:y val="-4.2876116382660201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511-4D70-9E8D-56BF3EB06A4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ru-RU" sz="24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Лист1!$A$2:$A$4</c:f>
              <c:strCache>
                <c:ptCount val="3"/>
                <c:pt idx="0">
                  <c:v>Перинатальды</c:v>
                </c:pt>
                <c:pt idx="1">
                  <c:v>Өлі туылғандар</c:v>
                </c:pt>
                <c:pt idx="2">
                  <c:v>Антенатальды</c:v>
                </c:pt>
              </c:strCache>
            </c:strRef>
          </c:cat>
          <c:val>
            <c:numRef>
              <c:f>Лист1!$C$2:$C$4</c:f>
              <c:numCache>
                <c:formatCode>General</c:formatCode>
                <c:ptCount val="3"/>
                <c:pt idx="0">
                  <c:v>0</c:v>
                </c:pt>
                <c:pt idx="1">
                  <c:v>3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511-4D70-9E8D-56BF3EB06A4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46515840"/>
        <c:axId val="146517376"/>
      </c:barChart>
      <c:catAx>
        <c:axId val="14651584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ru-RU" sz="18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146517376"/>
        <c:crosses val="autoZero"/>
        <c:auto val="1"/>
        <c:lblAlgn val="ctr"/>
        <c:lblOffset val="100"/>
        <c:noMultiLvlLbl val="0"/>
      </c:catAx>
      <c:valAx>
        <c:axId val="1465173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ru-RU" sz="18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1465158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8596699834444095"/>
          <c:y val="0.38594166070150299"/>
          <c:w val="0.186447179702699"/>
          <c:h val="0.246197924123121"/>
        </c:manualLayout>
      </c:layout>
      <c:overlay val="0"/>
      <c:txPr>
        <a:bodyPr rot="0" spcFirstLastPara="0" vertOverflow="ellipsis" vert="horz" wrap="square" anchor="ctr" anchorCtr="1"/>
        <a:lstStyle/>
        <a:p>
          <a:pPr>
            <a:defRPr lang="ru-RU" sz="1800" b="1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855a11b8-427d-4692-9c27-134978fb1416}"/>
      </c:ext>
    </c:extLst>
  </c:chart>
  <c:txPr>
    <a:bodyPr/>
    <a:lstStyle/>
    <a:p>
      <a:pPr>
        <a:defRPr lang="ru-RU" sz="1800" b="1">
          <a:latin typeface="Times New Roman" panose="02020603050405020304" pitchFamily="18" charset="0"/>
          <a:cs typeface="Times New Roman" panose="02020603050405020304" pitchFamily="18" charset="0"/>
        </a:defRPr>
      </a:pPr>
      <a:endParaRPr lang="ru-KZ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284650361584421"/>
          <c:y val="4.6806528411904254E-2"/>
          <c:w val="0.83355233992339595"/>
          <c:h val="0.74186319822155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Тіркеуге алынғандар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ru-RU" sz="28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Лист1!$A$2:$A$3</c:f>
              <c:strCache>
                <c:ptCount val="2"/>
                <c:pt idx="0">
                  <c:v>15.10.2024ж</c:v>
                </c:pt>
                <c:pt idx="1">
                  <c:v>2025</c:v>
                </c:pt>
              </c:strCache>
            </c:strRef>
          </c:cat>
          <c:val>
            <c:numRef>
              <c:f>Лист1!$B$2:$B$3</c:f>
              <c:numCache>
                <c:formatCode>General</c:formatCode>
                <c:ptCount val="2"/>
                <c:pt idx="0">
                  <c:v>44</c:v>
                </c:pt>
                <c:pt idx="1">
                  <c:v>263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05-4844-8E12-85B9869DBD27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Оның ішінде 12 аптаға дейін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ru-RU" sz="28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Лист1!$A$2:$A$3</c:f>
              <c:strCache>
                <c:ptCount val="2"/>
                <c:pt idx="0">
                  <c:v>15.10.2024ж</c:v>
                </c:pt>
                <c:pt idx="1">
                  <c:v>2025</c:v>
                </c:pt>
              </c:strCache>
            </c:strRef>
          </c:cat>
          <c:val>
            <c:numRef>
              <c:f>Лист1!$C$2:$C$3</c:f>
              <c:numCache>
                <c:formatCode>General</c:formatCode>
                <c:ptCount val="2"/>
                <c:pt idx="0">
                  <c:v>27</c:v>
                </c:pt>
                <c:pt idx="1">
                  <c:v>212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E05-4844-8E12-85B9869DBD27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Басқа МҰ ауысып келгендер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ru-RU" sz="28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Лист1!$A$2:$A$3</c:f>
              <c:strCache>
                <c:ptCount val="2"/>
                <c:pt idx="0">
                  <c:v>15.10.2024ж</c:v>
                </c:pt>
                <c:pt idx="1">
                  <c:v>2025</c:v>
                </c:pt>
              </c:strCache>
            </c:strRef>
          </c:cat>
          <c:val>
            <c:numRef>
              <c:f>Лист1!$D$2:$D$3</c:f>
              <c:numCache>
                <c:formatCode>General</c:formatCode>
                <c:ptCount val="2"/>
                <c:pt idx="0">
                  <c:v>119</c:v>
                </c:pt>
                <c:pt idx="1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E05-4844-8E12-85B9869DBD2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23442816"/>
        <c:axId val="223444352"/>
      </c:barChart>
      <c:catAx>
        <c:axId val="22344281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ru-RU" sz="18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223444352"/>
        <c:crosses val="autoZero"/>
        <c:auto val="1"/>
        <c:lblAlgn val="ctr"/>
        <c:lblOffset val="100"/>
        <c:noMultiLvlLbl val="0"/>
      </c:catAx>
      <c:valAx>
        <c:axId val="22344435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ru-RU" sz="18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2234428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1.4875307371875699E-2"/>
          <c:y val="0.85456013250503005"/>
          <c:w val="0.81862831967961802"/>
          <c:h val="0.145439783819823"/>
        </c:manualLayout>
      </c:layout>
      <c:overlay val="0"/>
      <c:txPr>
        <a:bodyPr rot="0" spcFirstLastPara="0" vertOverflow="ellipsis" vert="horz" wrap="square" anchor="ctr" anchorCtr="1"/>
        <a:lstStyle/>
        <a:p>
          <a:pPr>
            <a:defRPr lang="ru-RU" sz="1800" b="1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df042968-31e7-414f-a460-3854e292906f}"/>
      </c:ext>
    </c:extLst>
  </c:chart>
  <c:txPr>
    <a:bodyPr/>
    <a:lstStyle/>
    <a:p>
      <a:pPr>
        <a:defRPr lang="ru-RU" sz="1800"/>
      </a:pPr>
      <a:endParaRPr lang="ru-KZ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Жүктілікті аяқтады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ru-RU"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Лист1!$B$2:$B$3</c:f>
              <c:numCache>
                <c:formatCode>General</c:formatCode>
                <c:ptCount val="2"/>
                <c:pt idx="0">
                  <c:v>36</c:v>
                </c:pt>
                <c:pt idx="1">
                  <c:v>268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CDC-4CCD-B84B-A6CDCACED39F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Шұғыл босану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ru-RU"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Лист1!$C$2:$C$3</c:f>
              <c:numCache>
                <c:formatCode>General</c:formatCode>
                <c:ptCount val="2"/>
                <c:pt idx="0">
                  <c:v>31</c:v>
                </c:pt>
                <c:pt idx="1">
                  <c:v>250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CDC-4CCD-B84B-A6CDCACED39F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Мерзімінен бұрын босану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ru-RU"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Лист1!$D$2:$D$3</c:f>
              <c:numCache>
                <c:formatCode>General</c:formatCode>
                <c:ptCount val="2"/>
                <c:pt idx="0">
                  <c:v>5</c:v>
                </c:pt>
                <c:pt idx="1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CDC-4CCD-B84B-A6CDCACED39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154617488"/>
        <c:axId val="1455824464"/>
      </c:barChart>
      <c:catAx>
        <c:axId val="11546174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16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1455824464"/>
        <c:crosses val="autoZero"/>
        <c:auto val="1"/>
        <c:lblAlgn val="ctr"/>
        <c:lblOffset val="100"/>
        <c:noMultiLvlLbl val="0"/>
      </c:catAx>
      <c:valAx>
        <c:axId val="14558244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16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11546174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88542489005080505"/>
          <c:w val="1"/>
          <c:h val="9.475062612925040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1600" b="1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38a48663-c62b-4d53-b5b5-b59d5b0ad5ce}"/>
      </c:ext>
    </c:extLst>
  </c:chart>
  <c:spPr>
    <a:noFill/>
    <a:ln>
      <a:noFill/>
    </a:ln>
    <a:effectLst/>
  </c:spPr>
  <c:txPr>
    <a:bodyPr/>
    <a:lstStyle/>
    <a:p>
      <a:pPr>
        <a:defRPr lang="ru-RU" sz="1600" b="1"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pPr>
      <a:endParaRPr lang="ru-KZ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34"/>
    </mc:Choice>
    <mc:Fallback>
      <c:style val="34"/>
    </mc:Fallback>
  </mc:AlternateContent>
  <c:chart>
    <c:autoTitleDeleted val="1"/>
    <c:plotArea>
      <c:layout>
        <c:manualLayout>
          <c:layoutTarget val="inner"/>
          <c:xMode val="edge"/>
          <c:yMode val="edge"/>
          <c:x val="5.1591218207929099E-2"/>
          <c:y val="0.15416422249894199"/>
          <c:w val="0.89227632545931801"/>
          <c:h val="0.659857924857161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ЖЫЛДЫҚ ЖОСПАР</c:v>
                </c:pt>
              </c:strCache>
            </c:strRef>
          </c:tx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0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7DEF-4F94-941A-2B373FEAD35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0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7DEF-4F94-941A-2B373FEAD355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0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7DEF-4F94-941A-2B373FEAD355}"/>
                </c:ext>
              </c:extLst>
            </c:dLbl>
            <c:dLbl>
              <c:idx val="3"/>
              <c:layout>
                <c:manualLayout>
                  <c:x val="-1.0217622851718001E-2"/>
                  <c:y val="1.5589570552749701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1200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7DEF-4F94-941A-2B373FEAD355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1200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7DEF-4F94-941A-2B373FEAD355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/>
                      <a:t>1200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7DEF-4F94-941A-2B373FEAD35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ru-RU" sz="18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Лист1!$A$2:$A$7</c:f>
              <c:numCache>
                <c:formatCode>General</c:formatCode>
                <c:ptCount val="6"/>
                <c:pt idx="0">
                  <c:v>2023</c:v>
                </c:pt>
                <c:pt idx="3">
                  <c:v>2024</c:v>
                </c:pt>
              </c:numCache>
            </c:numRef>
          </c:cat>
          <c:val>
            <c:numRef>
              <c:f>Лист1!$B$2:$B$7</c:f>
              <c:numCache>
                <c:formatCode>#,##0</c:formatCode>
                <c:ptCount val="6"/>
                <c:pt idx="0">
                  <c:v>2600</c:v>
                </c:pt>
                <c:pt idx="1">
                  <c:v>2800</c:v>
                </c:pt>
                <c:pt idx="2">
                  <c:v>2700</c:v>
                </c:pt>
                <c:pt idx="3">
                  <c:v>5709</c:v>
                </c:pt>
                <c:pt idx="4">
                  <c:v>5709</c:v>
                </c:pt>
                <c:pt idx="5">
                  <c:v>5709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DEF-4F94-941A-2B373FEAD355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ОРЫНДАЛДЫ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9.0823314237493194E-3"/>
                  <c:y val="-4.3650797547699197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7DEF-4F94-941A-2B373FEAD355}"/>
                </c:ext>
              </c:extLst>
            </c:dLbl>
            <c:dLbl>
              <c:idx val="1"/>
              <c:layout>
                <c:manualLayout>
                  <c:x val="1.58940799915613E-2"/>
                  <c:y val="-3.7414969326599302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7DEF-4F94-941A-2B373FEAD355}"/>
                </c:ext>
              </c:extLst>
            </c:dLbl>
            <c:dLbl>
              <c:idx val="2"/>
              <c:layout>
                <c:manualLayout>
                  <c:x val="1.58940799915613E-2"/>
                  <c:y val="-3.7414969326599302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7DEF-4F94-941A-2B373FEAD355}"/>
                </c:ext>
              </c:extLst>
            </c:dLbl>
            <c:dLbl>
              <c:idx val="3"/>
              <c:layout>
                <c:manualLayout>
                  <c:x val="1.2488205707655299E-2"/>
                  <c:y val="-2.8061226994949499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1202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7DEF-4F94-941A-2B373FEAD355}"/>
                </c:ext>
              </c:extLst>
            </c:dLbl>
            <c:dLbl>
              <c:idx val="4"/>
              <c:layout>
                <c:manualLayout>
                  <c:x val="1.13529142796867E-2"/>
                  <c:y val="-4.3650797547699197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1202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7DEF-4F94-941A-2B373FEAD355}"/>
                </c:ext>
              </c:extLst>
            </c:dLbl>
            <c:dLbl>
              <c:idx val="5"/>
              <c:layout>
                <c:manualLayout>
                  <c:x val="2.0435245703436002E-2"/>
                  <c:y val="-3.7414969326599302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1202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7DEF-4F94-941A-2B373FEAD35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ru-RU" sz="18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Лист1!$A$2:$A$7</c:f>
              <c:numCache>
                <c:formatCode>General</c:formatCode>
                <c:ptCount val="6"/>
                <c:pt idx="0">
                  <c:v>2023</c:v>
                </c:pt>
                <c:pt idx="3">
                  <c:v>2024</c:v>
                </c:pt>
              </c:numCache>
            </c:numRef>
          </c:cat>
          <c:val>
            <c:numRef>
              <c:f>Лист1!$C$2:$C$7</c:f>
              <c:numCache>
                <c:formatCode>#,##0</c:formatCode>
                <c:ptCount val="6"/>
                <c:pt idx="0">
                  <c:v>2805</c:v>
                </c:pt>
                <c:pt idx="1">
                  <c:v>2818</c:v>
                </c:pt>
                <c:pt idx="2">
                  <c:v>2805</c:v>
                </c:pt>
                <c:pt idx="3">
                  <c:v>5709</c:v>
                </c:pt>
                <c:pt idx="4">
                  <c:v>5709</c:v>
                </c:pt>
                <c:pt idx="5">
                  <c:v>5709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7DEF-4F94-941A-2B373FEAD355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АНЫҚТАЛҒАН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1.47587885635926E-2"/>
                  <c:y val="-1.24716564421997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7DEF-4F94-941A-2B373FEAD355}"/>
                </c:ext>
              </c:extLst>
            </c:dLbl>
            <c:dLbl>
              <c:idx val="1"/>
              <c:layout>
                <c:manualLayout>
                  <c:x val="1.1352914279686601E-2"/>
                  <c:y val="-2.8061472499997599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7DEF-4F94-941A-2B373FEAD355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7DEF-4F94-941A-2B373FEAD355}"/>
                </c:ext>
              </c:extLst>
            </c:dLbl>
            <c:dLbl>
              <c:idx val="3"/>
              <c:layout>
                <c:manualLayout>
                  <c:x val="1.02176228517181E-2"/>
                  <c:y val="-3.1179141105499501E-3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46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1-7DEF-4F94-941A-2B373FEAD355}"/>
                </c:ext>
              </c:extLst>
            </c:dLbl>
            <c:dLbl>
              <c:idx val="4"/>
              <c:layout>
                <c:manualLayout>
                  <c:x val="1.24882057076554E-2"/>
                  <c:y val="0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15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2-7DEF-4F94-941A-2B373FEAD355}"/>
                </c:ext>
              </c:extLst>
            </c:dLbl>
            <c:dLbl>
              <c:idx val="5"/>
              <c:layout>
                <c:manualLayout>
                  <c:x val="1.1352914279686601E-2"/>
                  <c:y val="-1.5589570552749701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33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3-7DEF-4F94-941A-2B373FEAD35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ru-RU" sz="18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Лист1!$A$2:$A$7</c:f>
              <c:numCache>
                <c:formatCode>General</c:formatCode>
                <c:ptCount val="6"/>
                <c:pt idx="0">
                  <c:v>2023</c:v>
                </c:pt>
                <c:pt idx="3">
                  <c:v>2024</c:v>
                </c:pt>
              </c:numCache>
            </c:numRef>
          </c:cat>
          <c:val>
            <c:numRef>
              <c:f>Лист1!$D$2:$D$7</c:f>
              <c:numCache>
                <c:formatCode>General</c:formatCode>
                <c:ptCount val="6"/>
                <c:pt idx="0">
                  <c:v>131</c:v>
                </c:pt>
                <c:pt idx="1">
                  <c:v>12</c:v>
                </c:pt>
                <c:pt idx="2">
                  <c:v>37</c:v>
                </c:pt>
                <c:pt idx="3">
                  <c:v>564</c:v>
                </c:pt>
                <c:pt idx="4">
                  <c:v>0</c:v>
                </c:pt>
                <c:pt idx="5">
                  <c:v>176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7DEF-4F94-941A-2B373FEAD35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30185600"/>
        <c:axId val="230199680"/>
      </c:barChart>
      <c:catAx>
        <c:axId val="230185600"/>
        <c:scaling>
          <c:orientation val="minMax"/>
        </c:scaling>
        <c:delete val="1"/>
        <c:axPos val="b"/>
        <c:numFmt formatCode="General" sourceLinked="0"/>
        <c:majorTickMark val="none"/>
        <c:minorTickMark val="none"/>
        <c:tickLblPos val="none"/>
        <c:crossAx val="230199680"/>
        <c:crosses val="autoZero"/>
        <c:auto val="1"/>
        <c:lblAlgn val="ctr"/>
        <c:lblOffset val="100"/>
        <c:noMultiLvlLbl val="0"/>
      </c:catAx>
      <c:valAx>
        <c:axId val="230199680"/>
        <c:scaling>
          <c:orientation val="minMax"/>
        </c:scaling>
        <c:delete val="1"/>
        <c:axPos val="l"/>
        <c:numFmt formatCode="#,##0" sourceLinked="1"/>
        <c:majorTickMark val="out"/>
        <c:minorTickMark val="none"/>
        <c:tickLblPos val="none"/>
        <c:crossAx val="230185600"/>
        <c:crosses val="autoZero"/>
        <c:crossBetween val="between"/>
      </c:valAx>
      <c:spPr>
        <a:solidFill>
          <a:schemeClr val="dk1">
            <a:tint val="20000"/>
          </a:schemeClr>
        </a:solidFill>
        <a:ln>
          <a:noFill/>
        </a:ln>
        <a:effectLst/>
      </c:spPr>
    </c:plotArea>
    <c:legend>
      <c:legendPos val="t"/>
      <c:overlay val="0"/>
      <c:txPr>
        <a:bodyPr rot="0" spcFirstLastPara="0" vertOverflow="ellipsis" vert="horz" wrap="square" anchor="ctr" anchorCtr="1"/>
        <a:lstStyle/>
        <a:p>
          <a:pPr>
            <a:defRPr lang="ru-RU" sz="1800" b="1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56df7e28-c8db-4f21-9045-a51e83d74a13}"/>
      </c:ext>
    </c:extLst>
  </c:chart>
  <c:txPr>
    <a:bodyPr/>
    <a:lstStyle/>
    <a:p>
      <a:pPr>
        <a:defRPr lang="ru-RU" sz="1800" b="1"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pPr>
      <a:endParaRPr lang="ru-KZ"/>
    </a:p>
  </c:txPr>
  <c:externalData r:id="rId1">
    <c:autoUpdate val="0"/>
  </c:externalData>
  <c:userShapes r:id="rId2"/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34"/>
    </mc:Choice>
    <mc:Fallback>
      <c:style val="34"/>
    </mc:Fallback>
  </mc:AlternateContent>
  <c:chart>
    <c:autoTitleDeleted val="1"/>
    <c:plotArea>
      <c:layout>
        <c:manualLayout>
          <c:layoutTarget val="inner"/>
          <c:xMode val="edge"/>
          <c:yMode val="edge"/>
          <c:x val="2.9333333333333399E-2"/>
          <c:y val="0.123120350461648"/>
          <c:w val="0.97066666666666701"/>
          <c:h val="0.710069563417691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ЖЫЛДЫҚ ЖОСПАР</c:v>
                </c:pt>
              </c:strCache>
            </c:strRef>
          </c:tx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E2D-49B6-9D78-CAA15A4E7DAB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0E2D-49B6-9D78-CAA15A4E7DAB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0E2D-49B6-9D78-CAA15A4E7DAB}"/>
                </c:ext>
              </c:extLst>
            </c:dLbl>
            <c:dLbl>
              <c:idx val="4"/>
              <c:layout>
                <c:manualLayout>
                  <c:x val="-8.0000000000000192E-3"/>
                  <c:y val="-2.9205137344632099E-3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890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0E2D-49B6-9D78-CAA15A4E7DAB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/>
                      <a:t>634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0E2D-49B6-9D78-CAA15A4E7DAB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/>
                      <a:t>1002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0E2D-49B6-9D78-CAA15A4E7DA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ru-RU" sz="1800" b="1" i="0" u="none" strike="noStrike" kern="1200" baseline="0">
                    <a:solidFill>
                      <a:srgbClr val="00206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Лист1!$A$2:$A$8</c:f>
              <c:numCache>
                <c:formatCode>General</c:formatCode>
                <c:ptCount val="7"/>
              </c:numCache>
            </c:numRef>
          </c:cat>
          <c:val>
            <c:numRef>
              <c:f>Лист1!$B$2:$B$8</c:f>
              <c:numCache>
                <c:formatCode>#,##0</c:formatCode>
                <c:ptCount val="7"/>
                <c:pt idx="0">
                  <c:v>1100</c:v>
                </c:pt>
                <c:pt idx="1">
                  <c:v>1300</c:v>
                </c:pt>
                <c:pt idx="2">
                  <c:v>1100</c:v>
                </c:pt>
                <c:pt idx="4">
                  <c:v>1850</c:v>
                </c:pt>
                <c:pt idx="5">
                  <c:v>1750</c:v>
                </c:pt>
                <c:pt idx="6" formatCode="General">
                  <c:v>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E2D-49B6-9D78-CAA15A4E7DAB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ОРЫНДАЛҒАН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2.1333333333333399E-2"/>
                  <c:y val="0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0E2D-49B6-9D78-CAA15A4E7DAB}"/>
                </c:ext>
              </c:extLst>
            </c:dLbl>
            <c:dLbl>
              <c:idx val="1"/>
              <c:layout>
                <c:manualLayout>
                  <c:x val="2.8000000000000001E-2"/>
                  <c:y val="-1.33855333188001E-17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0E2D-49B6-9D78-CAA15A4E7DAB}"/>
                </c:ext>
              </c:extLst>
            </c:dLbl>
            <c:dLbl>
              <c:idx val="2"/>
              <c:layout>
                <c:manualLayout>
                  <c:x val="3.2000000000000098E-2"/>
                  <c:y val="-8.7615412033896604E-3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0E2D-49B6-9D78-CAA15A4E7DAB}"/>
                </c:ext>
              </c:extLst>
            </c:dLbl>
            <c:dLbl>
              <c:idx val="4"/>
              <c:layout>
                <c:manualLayout>
                  <c:x val="0.02"/>
                  <c:y val="-1.75230824067793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718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0E2D-49B6-9D78-CAA15A4E7DAB}"/>
                </c:ext>
              </c:extLst>
            </c:dLbl>
            <c:dLbl>
              <c:idx val="5"/>
              <c:layout>
                <c:manualLayout>
                  <c:x val="2.5333333333333399E-2"/>
                  <c:y val="-2.6284623610168902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637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0E2D-49B6-9D78-CAA15A4E7DAB}"/>
                </c:ext>
              </c:extLst>
            </c:dLbl>
            <c:dLbl>
              <c:idx val="6"/>
              <c:layout>
                <c:manualLayout>
                  <c:x val="3.1999895013123503E-2"/>
                  <c:y val="-1.75230824067793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1017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0E2D-49B6-9D78-CAA15A4E7DA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ru-RU" sz="1800" b="1" i="0" u="none" strike="noStrike" kern="1200" baseline="0">
                    <a:solidFill>
                      <a:srgbClr val="00206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Лист1!$A$2:$A$8</c:f>
              <c:numCache>
                <c:formatCode>General</c:formatCode>
                <c:ptCount val="7"/>
              </c:numCache>
            </c:numRef>
          </c:cat>
          <c:val>
            <c:numRef>
              <c:f>Лист1!$C$2:$C$8</c:f>
              <c:numCache>
                <c:formatCode>#,##0</c:formatCode>
                <c:ptCount val="7"/>
                <c:pt idx="0">
                  <c:v>1116</c:v>
                </c:pt>
                <c:pt idx="1">
                  <c:v>1302</c:v>
                </c:pt>
                <c:pt idx="2">
                  <c:v>1100</c:v>
                </c:pt>
                <c:pt idx="4" formatCode="General">
                  <c:v>1850</c:v>
                </c:pt>
                <c:pt idx="5" formatCode="General">
                  <c:v>1750</c:v>
                </c:pt>
                <c:pt idx="6" formatCode="General">
                  <c:v>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0E2D-49B6-9D78-CAA15A4E7DAB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АНЫҚТАЛҒАН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1.6E-2"/>
                  <c:y val="-1.16820549378529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0E2D-49B6-9D78-CAA15A4E7DAB}"/>
                </c:ext>
              </c:extLst>
            </c:dLbl>
            <c:dLbl>
              <c:idx val="1"/>
              <c:layout>
                <c:manualLayout>
                  <c:x val="1.8666666666666699E-2"/>
                  <c:y val="-1.16820549378529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0E2D-49B6-9D78-CAA15A4E7DAB}"/>
                </c:ext>
              </c:extLst>
            </c:dLbl>
            <c:dLbl>
              <c:idx val="2"/>
              <c:layout>
                <c:manualLayout>
                  <c:x val="1.7333333333333301E-2"/>
                  <c:y val="-2.044359614124250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0E2D-49B6-9D78-CAA15A4E7DAB}"/>
                </c:ext>
              </c:extLst>
            </c:dLbl>
            <c:dLbl>
              <c:idx val="4"/>
              <c:layout>
                <c:manualLayout>
                  <c:x val="1.0666666666666699E-2"/>
                  <c:y val="-2.9205137344632099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0E2D-49B6-9D78-CAA15A4E7DAB}"/>
                </c:ext>
              </c:extLst>
            </c:dLbl>
            <c:dLbl>
              <c:idx val="5"/>
              <c:layout>
                <c:manualLayout>
                  <c:x val="2.26666666666667E-2"/>
                  <c:y val="-1.7523082406779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0E2D-49B6-9D78-CAA15A4E7DAB}"/>
                </c:ext>
              </c:extLst>
            </c:dLbl>
            <c:dLbl>
              <c:idx val="6"/>
              <c:layout>
                <c:manualLayout>
                  <c:x val="1.4666666666666699E-2"/>
                  <c:y val="-1.75230824067793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3-0E2D-49B6-9D78-CAA15A4E7DA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ru-RU" sz="1800" b="1" i="0" u="none" strike="noStrike" kern="1200" baseline="0">
                    <a:solidFill>
                      <a:srgbClr val="00206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Лист1!$A$2:$A$8</c:f>
              <c:numCache>
                <c:formatCode>General</c:formatCode>
                <c:ptCount val="7"/>
              </c:numCache>
            </c:numRef>
          </c:cat>
          <c:val>
            <c:numRef>
              <c:f>Лист1!$D$2:$D$8</c:f>
              <c:numCache>
                <c:formatCode>General</c:formatCode>
                <c:ptCount val="7"/>
                <c:pt idx="0">
                  <c:v>5</c:v>
                </c:pt>
                <c:pt idx="1">
                  <c:v>1</c:v>
                </c:pt>
                <c:pt idx="2">
                  <c:v>0</c:v>
                </c:pt>
                <c:pt idx="4">
                  <c:v>5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0E2D-49B6-9D78-CAA15A4E7DA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31445248"/>
        <c:axId val="231446784"/>
      </c:barChart>
      <c:catAx>
        <c:axId val="231445248"/>
        <c:scaling>
          <c:orientation val="minMax"/>
        </c:scaling>
        <c:delete val="1"/>
        <c:axPos val="b"/>
        <c:numFmt formatCode="General" sourceLinked="0"/>
        <c:majorTickMark val="none"/>
        <c:minorTickMark val="none"/>
        <c:tickLblPos val="nextTo"/>
        <c:crossAx val="231446784"/>
        <c:crosses val="autoZero"/>
        <c:auto val="1"/>
        <c:lblAlgn val="ctr"/>
        <c:lblOffset val="100"/>
        <c:noMultiLvlLbl val="0"/>
      </c:catAx>
      <c:valAx>
        <c:axId val="231446784"/>
        <c:scaling>
          <c:orientation val="minMax"/>
        </c:scaling>
        <c:delete val="1"/>
        <c:axPos val="l"/>
        <c:numFmt formatCode="#,##0" sourceLinked="1"/>
        <c:majorTickMark val="out"/>
        <c:minorTickMark val="none"/>
        <c:tickLblPos val="none"/>
        <c:crossAx val="231445248"/>
        <c:crosses val="autoZero"/>
        <c:crossBetween val="between"/>
      </c:valAx>
      <c:spPr>
        <a:solidFill>
          <a:schemeClr val="dk1">
            <a:tint val="20000"/>
          </a:schemeClr>
        </a:solidFill>
        <a:ln>
          <a:noFill/>
        </a:ln>
        <a:effectLst/>
      </c:spPr>
    </c:plotArea>
    <c:legend>
      <c:legendPos val="t"/>
      <c:overlay val="0"/>
      <c:txPr>
        <a:bodyPr rot="0" spcFirstLastPara="0" vertOverflow="ellipsis" vert="horz" wrap="square" anchor="ctr" anchorCtr="1"/>
        <a:lstStyle/>
        <a:p>
          <a:pPr>
            <a:defRPr lang="ru-RU" sz="1200" b="1" i="0" u="none" strike="noStrike" kern="1200" baseline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d69a0f01-fd64-4979-9c31-bfe1e2963ac5}"/>
      </c:ext>
    </c:extLst>
  </c:chart>
  <c:txPr>
    <a:bodyPr/>
    <a:lstStyle/>
    <a:p>
      <a:pPr>
        <a:defRPr lang="ru-RU" sz="1800" b="1">
          <a:solidFill>
            <a:srgbClr val="002060"/>
          </a:solidFill>
          <a:latin typeface="Times New Roman" panose="02020603050405020304" pitchFamily="18" charset="0"/>
          <a:cs typeface="Times New Roman" panose="02020603050405020304" pitchFamily="18" charset="0"/>
        </a:defRPr>
      </a:pPr>
      <a:endParaRPr lang="ru-KZ"/>
    </a:p>
  </c:txPr>
  <c:externalData r:id="rId1">
    <c:autoUpdate val="0"/>
  </c:externalData>
  <c:userShapes r:id="rId2"/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 Пневмо 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0"/>
                  <c:y val="0.166504394460158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5170-4289-80C9-119171A2480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ru-RU" sz="1195" b="1" i="0" u="none" strike="noStrike" kern="1200" baseline="0">
                    <a:solidFill>
                      <a:schemeClr val="bg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</c:f>
              <c:numCache>
                <c:formatCode>General</c:formatCode>
                <c:ptCount val="1"/>
              </c:numCache>
            </c:numRef>
          </c:cat>
          <c:val>
            <c:numRef>
              <c:f>Лист1!$B$2</c:f>
              <c:numCache>
                <c:formatCode>0.0</c:formatCode>
                <c:ptCount val="1"/>
                <c:pt idx="0">
                  <c:v>101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70-4289-80C9-119171A24805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 АбКДС 3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0"/>
                  <c:y val="0.15774100527804399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170-4289-80C9-119171A2480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ru-RU" sz="1195" b="1" i="0" u="none" strike="noStrike" kern="1200" baseline="0">
                    <a:solidFill>
                      <a:schemeClr val="bg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</c:f>
              <c:numCache>
                <c:formatCode>General</c:formatCode>
                <c:ptCount val="1"/>
              </c:numCache>
            </c:numRef>
          </c:cat>
          <c:val>
            <c:numRef>
              <c:f>Лист1!$C$2</c:f>
              <c:numCache>
                <c:formatCode>0.0</c:formatCode>
                <c:ptCount val="1"/>
                <c:pt idx="0">
                  <c:v>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170-4289-80C9-119171A24805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ККП1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0"/>
                  <c:y val="0.16212269986910099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170-4289-80C9-119171A2480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ru-RU" sz="1195" b="1" i="0" u="none" strike="noStrike" kern="1200" baseline="0">
                    <a:solidFill>
                      <a:schemeClr val="bg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</c:f>
              <c:numCache>
                <c:formatCode>General</c:formatCode>
                <c:ptCount val="1"/>
              </c:numCache>
            </c:numRef>
          </c:cat>
          <c:val>
            <c:numRef>
              <c:f>Лист1!$D$2</c:f>
              <c:numCache>
                <c:formatCode>0.0</c:formatCode>
                <c:ptCount val="1"/>
                <c:pt idx="0">
                  <c:v>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170-4289-80C9-119171A24805}"/>
            </c:ext>
          </c:extLst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 Пневмо 3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1.58061110407926E-3"/>
                  <c:y val="0.170886089051215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170-4289-80C9-119171A2480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ru-RU" sz="1195" b="1" i="0" u="none" strike="noStrike" kern="1200" baseline="0">
                    <a:solidFill>
                      <a:schemeClr val="bg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</c:f>
              <c:numCache>
                <c:formatCode>General</c:formatCode>
                <c:ptCount val="1"/>
              </c:numCache>
            </c:numRef>
          </c:cat>
          <c:val>
            <c:numRef>
              <c:f>Лист1!$E$2</c:f>
              <c:numCache>
                <c:formatCode>0.0</c:formatCode>
                <c:ptCount val="1"/>
                <c:pt idx="0">
                  <c:v>102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5170-4289-80C9-119171A24805}"/>
            </c:ext>
          </c:extLst>
        </c:ser>
        <c:ser>
          <c:idx val="4"/>
          <c:order val="4"/>
          <c:tx>
            <c:strRef>
              <c:f>Лист1!$F$1</c:f>
              <c:strCache>
                <c:ptCount val="1"/>
                <c:pt idx="0">
                  <c:v> ОПВ4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1.58061110407926E-3"/>
                  <c:y val="0.16212269986910099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5170-4289-80C9-119171A2480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ru-RU" sz="1195" b="1" i="0" u="none" strike="noStrike" kern="1200" baseline="0">
                    <a:solidFill>
                      <a:schemeClr val="bg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</c:f>
              <c:numCache>
                <c:formatCode>General</c:formatCode>
                <c:ptCount val="1"/>
              </c:numCache>
            </c:numRef>
          </c:cat>
          <c:val>
            <c:numRef>
              <c:f>Лист1!$F$2</c:f>
              <c:numCache>
                <c:formatCode>0.0</c:formatCode>
                <c:ptCount val="1"/>
                <c:pt idx="0">
                  <c:v>101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5170-4289-80C9-119171A24805}"/>
            </c:ext>
          </c:extLst>
        </c:ser>
        <c:ser>
          <c:idx val="5"/>
          <c:order val="5"/>
          <c:tx>
            <c:strRef>
              <c:f>Лист1!$G$1</c:f>
              <c:strCache>
                <c:ptCount val="1"/>
                <c:pt idx="0">
                  <c:v>АКДС4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3.1612222081585199E-3"/>
                  <c:y val="0.15335931068698799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5170-4289-80C9-119171A2480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ru-RU" sz="1195" b="1" i="0" u="none" strike="noStrike" kern="1200" baseline="0">
                    <a:solidFill>
                      <a:schemeClr val="bg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</c:f>
              <c:numCache>
                <c:formatCode>General</c:formatCode>
                <c:ptCount val="1"/>
              </c:numCache>
            </c:numRef>
          </c:cat>
          <c:val>
            <c:numRef>
              <c:f>Лист1!$G$2</c:f>
              <c:numCache>
                <c:formatCode>0.0</c:formatCode>
                <c:ptCount val="1"/>
                <c:pt idx="0">
                  <c:v>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5170-4289-80C9-119171A24805}"/>
            </c:ext>
          </c:extLst>
        </c:ser>
        <c:ser>
          <c:idx val="6"/>
          <c:order val="6"/>
          <c:tx>
            <c:strRef>
              <c:f>Лист1!$H$1</c:f>
              <c:strCache>
                <c:ptCount val="1"/>
                <c:pt idx="0">
                  <c:v>ККП2 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-3.1612222081585199E-3"/>
                  <c:y val="0.14897761609593099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/>
                <a:lstStyle/>
                <a:p>
                  <a:pPr>
                    <a:defRPr lang="ru-RU" sz="1195" b="1" i="0" u="none" strike="noStrike" kern="1200" baseline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ru-KZ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5170-4289-80C9-119171A2480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ru-RU" sz="1195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</c:f>
              <c:numCache>
                <c:formatCode>General</c:formatCode>
                <c:ptCount val="1"/>
              </c:numCache>
            </c:numRef>
          </c:cat>
          <c:val>
            <c:numRef>
              <c:f>Лист1!$H$2</c:f>
              <c:numCache>
                <c:formatCode>0.0</c:formatCode>
                <c:ptCount val="1"/>
                <c:pt idx="0">
                  <c:v>130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5170-4289-80C9-119171A24805}"/>
            </c:ext>
          </c:extLst>
        </c:ser>
        <c:ser>
          <c:idx val="7"/>
          <c:order val="7"/>
          <c:tx>
            <c:strRef>
              <c:f>Лист1!$I$1</c:f>
              <c:strCache>
                <c:ptCount val="1"/>
                <c:pt idx="0">
                  <c:v>АбКДС5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0"/>
                  <c:y val="0.14897761609593099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5170-4289-80C9-119171A2480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ru-RU" sz="1195" b="1" i="0" u="none" strike="noStrike" kern="1200" baseline="0">
                    <a:solidFill>
                      <a:schemeClr val="bg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</c:f>
              <c:numCache>
                <c:formatCode>General</c:formatCode>
                <c:ptCount val="1"/>
              </c:numCache>
            </c:numRef>
          </c:cat>
          <c:val>
            <c:numRef>
              <c:f>Лист1!$I$2</c:f>
              <c:numCache>
                <c:formatCode>0.0</c:formatCode>
                <c:ptCount val="1"/>
                <c:pt idx="0">
                  <c:v>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5170-4289-80C9-119171A24805}"/>
            </c:ext>
          </c:extLst>
        </c:ser>
        <c:ser>
          <c:idx val="8"/>
          <c:order val="8"/>
          <c:tx>
            <c:strRef>
              <c:f>Лист1!$J$1</c:f>
              <c:strCache>
                <c:ptCount val="1"/>
                <c:pt idx="0">
                  <c:v>АДС-М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-4.74183331223789E-3"/>
                  <c:y val="0.12268744854959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5170-4289-80C9-119171A2480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ru-RU" sz="1195" b="1" i="0" u="none" strike="noStrike" kern="1200" baseline="0">
                    <a:solidFill>
                      <a:schemeClr val="bg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</c:f>
              <c:numCache>
                <c:formatCode>General</c:formatCode>
                <c:ptCount val="1"/>
              </c:numCache>
            </c:numRef>
          </c:cat>
          <c:val>
            <c:numRef>
              <c:f>Лист1!$J$2</c:f>
              <c:numCache>
                <c:formatCode>0.0</c:formatCode>
                <c:ptCount val="1"/>
                <c:pt idx="0">
                  <c:v>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5170-4289-80C9-119171A24805}"/>
            </c:ext>
          </c:extLst>
        </c:ser>
        <c:ser>
          <c:idx val="9"/>
          <c:order val="9"/>
          <c:tx>
            <c:strRef>
              <c:f>Лист1!$K$1</c:f>
              <c:strCache>
                <c:ptCount val="1"/>
                <c:pt idx="0">
                  <c:v>АДС-М2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-3.1612222081585199E-3"/>
                  <c:y val="0.11392405936747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5170-4289-80C9-119171A2480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ru-RU" sz="1195" b="1" i="0" u="none" strike="noStrike" kern="1200" baseline="0">
                    <a:solidFill>
                      <a:schemeClr val="bg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</c:f>
              <c:numCache>
                <c:formatCode>General</c:formatCode>
                <c:ptCount val="1"/>
              </c:numCache>
            </c:numRef>
          </c:cat>
          <c:val>
            <c:numRef>
              <c:f>Лист1!$K$2</c:f>
              <c:numCache>
                <c:formatCode>0.0</c:formatCode>
                <c:ptCount val="1"/>
                <c:pt idx="0">
                  <c:v>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3-5170-4289-80C9-119171A2480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36781871"/>
        <c:axId val="1766311503"/>
      </c:barChart>
      <c:catAx>
        <c:axId val="2367818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1195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1766311503"/>
        <c:crosses val="autoZero"/>
        <c:auto val="1"/>
        <c:lblAlgn val="ctr"/>
        <c:lblOffset val="100"/>
        <c:noMultiLvlLbl val="0"/>
      </c:catAx>
      <c:valAx>
        <c:axId val="17663115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1195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2367818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1195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f37a8773-3323-4911-8fe4-753c0b3d8899}"/>
      </c:ext>
    </c:extLst>
  </c:chart>
  <c:spPr>
    <a:noFill/>
    <a:ln>
      <a:noFill/>
    </a:ln>
    <a:effectLst/>
  </c:spPr>
  <c:txPr>
    <a:bodyPr/>
    <a:lstStyle/>
    <a:p>
      <a:pPr>
        <a:defRPr lang="ru-RU" b="1">
          <a:latin typeface="Times New Roman" panose="02020603050405020304" pitchFamily="18" charset="0"/>
          <a:cs typeface="Times New Roman" panose="02020603050405020304" pitchFamily="18" charset="0"/>
        </a:defRPr>
      </a:pPr>
      <a:endParaRPr lang="ru-KZ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ҚД б-ша қаматылды 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17,08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A8FC-4DB4-A25E-33B329816A8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ru-RU"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Лист1!$B$2:$B$3</c:f>
              <c:numCache>
                <c:formatCode>0%</c:formatCode>
                <c:ptCount val="2"/>
                <c:pt idx="0">
                  <c:v>0</c:v>
                </c:pt>
                <c:pt idx="1">
                  <c:v>0.06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8FC-4DB4-A25E-33B329816A84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АГ б-ша қамтылды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1"/>
              <c:tx>
                <c:rich>
                  <a:bodyPr/>
                  <a:lstStyle/>
                  <a:p>
                    <a:r>
                      <a:rPr lang="en-US" dirty="0"/>
                      <a:t>16,29%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A8FC-4DB4-A25E-33B329816A8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ru-RU" sz="14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Лист1!$C$2:$C$3</c:f>
              <c:numCache>
                <c:formatCode>0%</c:formatCode>
                <c:ptCount val="2"/>
                <c:pt idx="0">
                  <c:v>0</c:v>
                </c:pt>
                <c:pt idx="1">
                  <c:v>0.06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8FC-4DB4-A25E-33B329816A84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СЖЖ б-ша қамтылды 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12,82%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A8FC-4DB4-A25E-33B329816A8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ru-RU" sz="14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Лист1!$D$2:$D$3</c:f>
              <c:numCache>
                <c:formatCode>0%</c:formatCode>
                <c:ptCount val="2"/>
                <c:pt idx="0">
                  <c:v>0</c:v>
                </c:pt>
                <c:pt idx="1">
                  <c:v>0.09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A8FC-4DB4-A25E-33B329816A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28423936"/>
        <c:axId val="228429824"/>
      </c:barChart>
      <c:catAx>
        <c:axId val="2284239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1195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228429824"/>
        <c:crosses val="autoZero"/>
        <c:auto val="1"/>
        <c:lblAlgn val="ctr"/>
        <c:lblOffset val="100"/>
        <c:noMultiLvlLbl val="0"/>
      </c:catAx>
      <c:valAx>
        <c:axId val="2284298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1195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2284239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1195" b="1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92ca2fc4-4ea7-4a45-95fe-e0f663308dab}"/>
      </c:ext>
    </c:extLst>
  </c:chart>
  <c:spPr>
    <a:noFill/>
    <a:ln>
      <a:noFill/>
    </a:ln>
    <a:effectLst/>
  </c:spPr>
  <c:txPr>
    <a:bodyPr/>
    <a:lstStyle/>
    <a:p>
      <a:pPr>
        <a:defRPr lang="ru-RU"/>
      </a:pPr>
      <a:endParaRPr lang="ru-KZ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ru-RU" sz="2000" b="1" i="0" u="none" strike="noStrike" kern="1200" spc="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1800" b="1" dirty="0" err="1">
                <a:effectLst/>
              </a:rPr>
              <a:t>Динамикалық</a:t>
            </a:r>
            <a:r>
              <a:rPr lang="ru-RU" sz="1800" b="1" dirty="0">
                <a:effectLst/>
              </a:rPr>
              <a:t> </a:t>
            </a:r>
            <a:r>
              <a:rPr lang="ru-RU" sz="1800" b="1" dirty="0" err="1">
                <a:effectLst/>
              </a:rPr>
              <a:t>корсеткіш</a:t>
            </a:r>
            <a:endParaRPr lang="ru-KZ" sz="2000" dirty="0">
              <a:effectLst/>
            </a:endParaRPr>
          </a:p>
        </c:rich>
      </c:tx>
      <c:layout>
        <c:manualLayout>
          <c:xMode val="edge"/>
          <c:yMode val="edge"/>
          <c:x val="0.11395710899965164"/>
          <c:y val="3.5473413654080029E-2"/>
        </c:manualLayout>
      </c:layout>
      <c:overlay val="0"/>
      <c:spPr>
        <a:solidFill>
          <a:srgbClr val="FF6699"/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2000" b="1" i="0" u="none" strike="noStrike" kern="1200" spc="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ru-RU" dirty="0" err="1"/>
                      <a:t>Сырқаттанушылық</a:t>
                    </a:r>
                    <a:r>
                      <a:rPr lang="ru-RU" dirty="0"/>
                      <a:t> </a:t>
                    </a:r>
                    <a:r>
                      <a:rPr lang="ru-RU" dirty="0" err="1"/>
                      <a:t>динамикасы</a:t>
                    </a:r>
                    <a:r>
                      <a:rPr lang="ru-RU" dirty="0"/>
                      <a:t>; 375,3</a:t>
                    </a:r>
                  </a:p>
                </c:rich>
              </c:tx>
              <c:dLblPos val="r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C991-4F9F-BE42-1E15A7D26CC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ru-RU" dirty="0" err="1"/>
                      <a:t>Өлім</a:t>
                    </a:r>
                    <a:r>
                      <a:rPr lang="ru-RU" dirty="0"/>
                      <a:t> </a:t>
                    </a:r>
                    <a:r>
                      <a:rPr lang="ru-RU" dirty="0" err="1"/>
                      <a:t>динамикасы</a:t>
                    </a:r>
                    <a:r>
                      <a:rPr lang="ru-RU" dirty="0"/>
                      <a:t>; 253,7</a:t>
                    </a:r>
                  </a:p>
                </c:rich>
              </c:tx>
              <c:dLblPos val="r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C991-4F9F-BE42-1E15A7D26CC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ru-RU" dirty="0" err="1"/>
                      <a:t>Ерте</a:t>
                    </a:r>
                    <a:r>
                      <a:rPr lang="ru-RU" dirty="0"/>
                      <a:t> </a:t>
                    </a:r>
                    <a:r>
                      <a:rPr lang="ru-RU" dirty="0" err="1"/>
                      <a:t>анықтаудың</a:t>
                    </a:r>
                    <a:r>
                      <a:rPr lang="ru-RU" dirty="0"/>
                      <a:t> </a:t>
                    </a:r>
                    <a:r>
                      <a:rPr lang="ru-RU" dirty="0" err="1"/>
                      <a:t>үлес</a:t>
                    </a:r>
                    <a:r>
                      <a:rPr lang="ru-RU" dirty="0"/>
                      <a:t> </a:t>
                    </a:r>
                    <a:r>
                      <a:rPr lang="ru-RU" dirty="0" err="1"/>
                      <a:t>салмағының</a:t>
                    </a:r>
                    <a:r>
                      <a:rPr lang="ru-RU" dirty="0"/>
                      <a:t> </a:t>
                    </a:r>
                    <a:r>
                      <a:rPr lang="ru-RU" dirty="0" err="1"/>
                      <a:t>динамикасы</a:t>
                    </a:r>
                    <a:r>
                      <a:rPr lang="ru-RU" dirty="0"/>
                      <a:t>; 24,0</a:t>
                    </a:r>
                  </a:p>
                </c:rich>
              </c:tx>
              <c:dLblPos val="r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C991-4F9F-BE42-1E15A7D26CCD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ru-RU" dirty="0"/>
                      <a:t>Кеш </a:t>
                    </a:r>
                    <a:r>
                      <a:rPr lang="ru-RU" dirty="0" err="1"/>
                      <a:t>анықтаудың</a:t>
                    </a:r>
                    <a:r>
                      <a:rPr lang="ru-RU" dirty="0"/>
                      <a:t> </a:t>
                    </a:r>
                    <a:r>
                      <a:rPr lang="ru-RU" dirty="0" err="1"/>
                      <a:t>үлес</a:t>
                    </a:r>
                    <a:r>
                      <a:rPr lang="ru-RU" dirty="0"/>
                      <a:t> </a:t>
                    </a:r>
                    <a:r>
                      <a:rPr lang="ru-RU" dirty="0" err="1"/>
                      <a:t>салмағының</a:t>
                    </a:r>
                    <a:r>
                      <a:rPr lang="ru-RU" dirty="0"/>
                      <a:t> </a:t>
                    </a:r>
                    <a:r>
                      <a:rPr lang="ru-RU" dirty="0" err="1"/>
                      <a:t>динамикасы</a:t>
                    </a:r>
                    <a:r>
                      <a:rPr lang="ru-RU" dirty="0"/>
                      <a:t>; -62,8</a:t>
                    </a:r>
                  </a:p>
                </c:rich>
              </c:tx>
              <c:dLblPos val="r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C991-4F9F-BE42-1E15A7D26CCD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lang="ru-RU" sz="1195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r"/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Лист1!$A$2:$A$5</c:f>
              <c:strCache>
                <c:ptCount val="4"/>
                <c:pt idx="0">
                  <c:v>Динамика заболеваемости</c:v>
                </c:pt>
                <c:pt idx="1">
                  <c:v>Динамика смертности</c:v>
                </c:pt>
                <c:pt idx="2">
                  <c:v>Динамика удельного веса раннего выявления</c:v>
                </c:pt>
                <c:pt idx="3">
                  <c:v>Динамика удельного веса позднего выявления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-2.9</c:v>
                </c:pt>
                <c:pt idx="1">
                  <c:v>16.100000000000001</c:v>
                </c:pt>
                <c:pt idx="2">
                  <c:v>26.1</c:v>
                </c:pt>
                <c:pt idx="3">
                  <c:v>-41.1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C991-4F9F-BE42-1E15A7D26C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1826688"/>
        <c:axId val="161828224"/>
      </c:lineChart>
      <c:catAx>
        <c:axId val="16182668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61828224"/>
        <c:crosses val="autoZero"/>
        <c:auto val="1"/>
        <c:lblAlgn val="ctr"/>
        <c:lblOffset val="100"/>
        <c:noMultiLvlLbl val="0"/>
      </c:catAx>
      <c:valAx>
        <c:axId val="1618282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1195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1618266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e8c8d91b-f5b2-4eb4-9584-9e1052dbc109}"/>
      </c:ext>
    </c:extLst>
  </c:chart>
  <c:spPr>
    <a:solidFill>
      <a:srgbClr val="FF6699"/>
    </a:solidFill>
    <a:ln>
      <a:noFill/>
    </a:ln>
    <a:effectLst/>
  </c:spPr>
  <c:txPr>
    <a:bodyPr/>
    <a:lstStyle/>
    <a:p>
      <a:pPr>
        <a:defRPr lang="ru-RU"/>
      </a:pPr>
      <a:endParaRPr lang="ru-KZ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ru-RU" sz="1860" b="1" i="0" u="none" strike="noStrike" kern="1200" spc="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dirty="0" err="1"/>
              <a:t>Сырқаттанушылық</a:t>
            </a:r>
            <a:endParaRPr lang="ru-RU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1860" b="1" i="0" u="none" strike="noStrike" kern="1200" spc="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title>
    <c:autoTitleDeleted val="0"/>
    <c:plotArea>
      <c:layout>
        <c:manualLayout>
          <c:layoutTarget val="inner"/>
          <c:xMode val="edge"/>
          <c:yMode val="edge"/>
          <c:x val="2.96772277517981E-2"/>
          <c:y val="0.21880680394576901"/>
          <c:w val="0.94064554449640403"/>
          <c:h val="0.6781187999368970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Заболеваемость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BB46-4B0F-A436-C691258076E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dirty="0"/>
                      <a:t>38,9%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BB46-4B0F-A436-C691258076E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ru-RU" sz="1195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Лист1!$B$2:$B$3</c:f>
              <c:numCache>
                <c:formatCode>0.0%</c:formatCode>
                <c:ptCount val="2"/>
                <c:pt idx="0">
                  <c:v>0</c:v>
                </c:pt>
                <c:pt idx="1">
                  <c:v>0.38900000000000001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B46-4B0F-A436-C691258076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1968256"/>
        <c:axId val="182047872"/>
      </c:barChart>
      <c:catAx>
        <c:axId val="1819682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1195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182047872"/>
        <c:crosses val="autoZero"/>
        <c:auto val="1"/>
        <c:lblAlgn val="ctr"/>
        <c:lblOffset val="100"/>
        <c:noMultiLvlLbl val="0"/>
      </c:catAx>
      <c:valAx>
        <c:axId val="182047872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%" sourceLinked="0"/>
        <c:majorTickMark val="none"/>
        <c:minorTickMark val="none"/>
        <c:tickLblPos val="nextTo"/>
        <c:crossAx val="1819682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1ab8795f-a63d-465b-a1f2-d638361f08a1}"/>
      </c:ext>
    </c:extLst>
  </c:chart>
  <c:spPr>
    <a:noFill/>
    <a:ln>
      <a:noFill/>
    </a:ln>
    <a:effectLst/>
  </c:spPr>
  <c:txPr>
    <a:bodyPr/>
    <a:lstStyle/>
    <a:p>
      <a:pPr>
        <a:defRPr lang="ru-RU"/>
      </a:pPr>
      <a:endParaRPr lang="ru-KZ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ru-RU" sz="288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1800" dirty="0" err="1">
                <a:effectLst/>
              </a:rPr>
              <a:t>Мүгедектікке</a:t>
            </a:r>
            <a:r>
              <a:rPr lang="ru-RU" sz="1800" dirty="0">
                <a:effectLst/>
              </a:rPr>
              <a:t> </a:t>
            </a:r>
            <a:r>
              <a:rPr lang="ru-RU" sz="1800" dirty="0" err="1">
                <a:effectLst/>
              </a:rPr>
              <a:t>алғашқы</a:t>
            </a:r>
            <a:r>
              <a:rPr lang="ru-RU" sz="1800" dirty="0">
                <a:effectLst/>
              </a:rPr>
              <a:t> </a:t>
            </a:r>
            <a:r>
              <a:rPr lang="ru-RU" sz="1800" dirty="0" err="1">
                <a:effectLst/>
              </a:rPr>
              <a:t>шығу</a:t>
            </a:r>
            <a:endParaRPr lang="en-US" dirty="0">
              <a:effectLst/>
            </a:endParaRP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-1.5625E-2"/>
                  <c:y val="-2.109374870240229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6F5-4A03-B8EB-5A7FE37A4121}"/>
                </c:ext>
              </c:extLst>
            </c:dLbl>
            <c:dLbl>
              <c:idx val="1"/>
              <c:layout>
                <c:manualLayout>
                  <c:x val="0"/>
                  <c:y val="-1.8749998846579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6F5-4A03-B8EB-5A7FE37A412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ru-RU" sz="24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Лист1!$A$2:$A$3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Лист1!$B$2:$B$3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6F5-4A03-B8EB-5A7FE37A412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45849728"/>
        <c:axId val="147743104"/>
      </c:barChart>
      <c:catAx>
        <c:axId val="1458497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ru-RU" sz="24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147743104"/>
        <c:crosses val="autoZero"/>
        <c:auto val="1"/>
        <c:lblAlgn val="ctr"/>
        <c:lblOffset val="100"/>
        <c:noMultiLvlLbl val="0"/>
      </c:catAx>
      <c:valAx>
        <c:axId val="14774310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ru-RU" sz="18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1458497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ddd2cc31-a311-42a2-be30-c063d62d1956}"/>
      </c:ext>
    </c:extLst>
  </c:chart>
  <c:txPr>
    <a:bodyPr/>
    <a:lstStyle/>
    <a:p>
      <a:pPr>
        <a:defRPr lang="ru-RU" sz="2400" b="1">
          <a:latin typeface="Times New Roman" panose="02020603050405020304" pitchFamily="18" charset="0"/>
          <a:cs typeface="Times New Roman" panose="02020603050405020304" pitchFamily="18" charset="0"/>
        </a:defRPr>
      </a:pPr>
      <a:endParaRPr lang="ru-KZ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Столбец1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1"/>
              <c:tx>
                <c:rich>
                  <a:bodyPr/>
                  <a:lstStyle/>
                  <a:p>
                    <a:r>
                      <a:rPr lang="ru-RU"/>
                      <a:t>Көх</a:t>
                    </a:r>
                    <a:r>
                      <a:rPr lang="ru-RU" baseline="0"/>
                      <a:t> аурулары</a:t>
                    </a:r>
                    <a:r>
                      <a:rPr lang="ru-RU"/>
                      <a:t>; </a:t>
                    </a:r>
                    <a:r>
                      <a:rPr lang="ru-RU" dirty="0"/>
                      <a:t>11%</a:t>
                    </a:r>
                  </a:p>
                </c:rich>
              </c:tx>
              <c:dLblPos val="r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7B6D-4497-9182-F85DCE58BC49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ru-RU"/>
                      <a:t>Жүйке жүйесінің аурулары; 50%</a:t>
                    </a:r>
                    <a:endParaRPr lang="ru-RU" dirty="0"/>
                  </a:p>
                </c:rich>
              </c:tx>
              <c:dLblPos val="r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7B6D-4497-9182-F85DCE58BC49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lang="ru-RU" sz="1195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KZ"/>
              </a:p>
            </c:txPr>
            <c:dLblPos val="r"/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Лист1!$A$2:$A$4</c:f>
              <c:strCache>
                <c:ptCount val="3"/>
                <c:pt idx="0">
                  <c:v>Туа біткен жүрек кемістігі</c:v>
                </c:pt>
                <c:pt idx="1">
                  <c:v>Көз аурулары</c:v>
                </c:pt>
                <c:pt idx="2">
                  <c:v>Жүйке жүйесінің аурулары</c:v>
                </c:pt>
              </c:strCache>
            </c:strRef>
          </c:cat>
          <c:val>
            <c:numRef>
              <c:f>Лист1!$B$2:$B$4</c:f>
              <c:numCache>
                <c:formatCode>0%</c:formatCode>
                <c:ptCount val="3"/>
                <c:pt idx="0" formatCode="0.0%">
                  <c:v>0.30599999999999999</c:v>
                </c:pt>
                <c:pt idx="1">
                  <c:v>0.11</c:v>
                </c:pt>
                <c:pt idx="2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B6D-4497-9182-F85DCE58BC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33275776"/>
        <c:axId val="233277312"/>
      </c:lineChart>
      <c:catAx>
        <c:axId val="233275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1195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233277312"/>
        <c:crosses val="autoZero"/>
        <c:auto val="1"/>
        <c:lblAlgn val="ctr"/>
        <c:lblOffset val="100"/>
        <c:noMultiLvlLbl val="0"/>
      </c:catAx>
      <c:valAx>
        <c:axId val="2332773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1195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233275776"/>
        <c:crosses val="autoZero"/>
        <c:crossBetween val="between"/>
      </c:valAx>
      <c:spPr>
        <a:solidFill>
          <a:srgbClr val="FF6699"/>
        </a:solidFill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c0e1e18a-c4e8-4a88-bd3c-2941bf457519}"/>
      </c:ext>
    </c:extLst>
  </c:chart>
  <c:spPr>
    <a:solidFill>
      <a:srgbClr val="FF6699"/>
    </a:solidFill>
    <a:ln>
      <a:noFill/>
    </a:ln>
    <a:effectLst/>
  </c:spPr>
  <c:txPr>
    <a:bodyPr/>
    <a:lstStyle/>
    <a:p>
      <a:pPr>
        <a:defRPr lang="ru-RU"/>
      </a:pPr>
      <a:endParaRPr lang="ru-KZ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32793563848"/>
          <c:y val="6.2746670540946306E-2"/>
          <c:w val="0.84672063152597399"/>
          <c:h val="0.627904499007216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Барлығы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ru-RU" sz="1195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Лист1!$B$2:$B$3</c:f>
              <c:numCache>
                <c:formatCode>General</c:formatCode>
                <c:ptCount val="2"/>
                <c:pt idx="0">
                  <c:v>21</c:v>
                </c:pt>
                <c:pt idx="1">
                  <c:v>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A1-4635-9C7B-E4245152A5E8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Үйдегі өлім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ru-RU" sz="1195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Лист1!$C$2:$C$3</c:f>
              <c:numCache>
                <c:formatCode>General</c:formatCode>
                <c:ptCount val="2"/>
                <c:pt idx="0">
                  <c:v>12</c:v>
                </c:pt>
                <c:pt idx="1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2A1-4635-9C7B-E4245152A5E8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60 жастан жоғары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ru-RU" sz="1195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Лист1!$D$2:$D$3</c:f>
              <c:numCache>
                <c:formatCode>General</c:formatCode>
                <c:ptCount val="2"/>
                <c:pt idx="0">
                  <c:v>12</c:v>
                </c:pt>
                <c:pt idx="1">
                  <c:v>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2A1-4635-9C7B-E4245152A5E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35208064"/>
        <c:axId val="236168320"/>
      </c:barChart>
      <c:catAx>
        <c:axId val="23520806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1195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236168320"/>
        <c:crosses val="autoZero"/>
        <c:auto val="1"/>
        <c:lblAlgn val="ctr"/>
        <c:lblOffset val="100"/>
        <c:noMultiLvlLbl val="0"/>
      </c:catAx>
      <c:valAx>
        <c:axId val="2361683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1195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2352080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79387825076274898"/>
          <c:w val="1"/>
          <c:h val="0.1765997384861250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1195" b="1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6b21fc96-86fb-417e-9300-7ebc3328d913}"/>
      </c:ext>
    </c:extLst>
  </c:chart>
  <c:spPr>
    <a:noFill/>
    <a:ln>
      <a:noFill/>
    </a:ln>
    <a:effectLst/>
  </c:spPr>
  <c:txPr>
    <a:bodyPr/>
    <a:lstStyle/>
    <a:p>
      <a:pPr>
        <a:defRPr lang="ru-RU" b="1"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pPr>
      <a:endParaRPr lang="ru-KZ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ru-RU" sz="12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en-US" sz="1200"/>
              <a:t>Қан айналымы жүйесі ауруларынан (ЖҚА) өлім </a:t>
            </a:r>
          </a:p>
        </c:rich>
      </c:tx>
      <c:layout>
        <c:manualLayout>
          <c:xMode val="edge"/>
          <c:yMode val="edge"/>
          <c:x val="0.18098871982159001"/>
          <c:y val="3.3116283228036697E-2"/>
        </c:manualLayout>
      </c:layout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-1.5625E-2"/>
                  <c:y val="-2.109374870240229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864-4B23-A630-EBE932B369EF}"/>
                </c:ext>
              </c:extLst>
            </c:dLbl>
            <c:dLbl>
              <c:idx val="1"/>
              <c:layout>
                <c:manualLayout>
                  <c:x val="0"/>
                  <c:y val="-1.8749998846579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864-4B23-A630-EBE932B369E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ru-RU" sz="14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Лист1!$A$2:$A$3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Лист1!$B$2:$B$3</c:f>
              <c:numCache>
                <c:formatCode>General</c:formatCode>
                <c:ptCount val="2"/>
                <c:pt idx="0">
                  <c:v>2</c:v>
                </c:pt>
                <c:pt idx="1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864-4B23-A630-EBE932B369E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19175040"/>
        <c:axId val="50606848"/>
      </c:barChart>
      <c:catAx>
        <c:axId val="1191750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ru-RU" sz="14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50606848"/>
        <c:crosses val="autoZero"/>
        <c:auto val="1"/>
        <c:lblAlgn val="ctr"/>
        <c:lblOffset val="100"/>
        <c:noMultiLvlLbl val="0"/>
      </c:catAx>
      <c:valAx>
        <c:axId val="506068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ru-RU" sz="14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1191750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a992efd3-0a4e-4c91-a126-4c4e766d1d8b}"/>
      </c:ext>
    </c:extLst>
  </c:chart>
  <c:txPr>
    <a:bodyPr/>
    <a:lstStyle/>
    <a:p>
      <a:pPr>
        <a:defRPr lang="ru-RU" sz="1400" b="1">
          <a:latin typeface="Times New Roman" panose="02020603050405020304" pitchFamily="18" charset="0"/>
          <a:cs typeface="Times New Roman" panose="02020603050405020304" pitchFamily="18" charset="0"/>
        </a:defRPr>
      </a:pPr>
      <a:endParaRPr lang="ru-KZ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0"/>
      <c:depthPercent val="100"/>
      <c:rAngAx val="0"/>
    </c:view3D>
    <c:floor>
      <c:thickness val="0"/>
    </c:floor>
    <c:sideWall>
      <c:thickness val="0"/>
    </c:sideWall>
    <c:backWall>
      <c:thickness val="0"/>
    </c:backWall>
    <c:plotArea>
      <c:layout/>
      <c:pie3D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Столбец1</c:v>
                </c:pt>
              </c:strCache>
            </c:strRef>
          </c:tx>
          <c:explosion val="25"/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0-15AC-4F4F-9F73-91991C627900}"/>
              </c:ext>
            </c:extLst>
          </c:dPt>
          <c:dPt>
            <c:idx val="1"/>
            <c:bubble3D val="0"/>
            <c:spPr>
              <a:solidFill>
                <a:srgbClr val="FF0000"/>
              </a:solidFill>
            </c:spPr>
            <c:extLst>
              <c:ext xmlns:c16="http://schemas.microsoft.com/office/drawing/2014/chart" uri="{C3380CC4-5D6E-409C-BE32-E72D297353CC}">
                <c16:uniqueId val="{00000002-15AC-4F4F-9F73-91991C627900}"/>
              </c:ext>
            </c:extLst>
          </c:dPt>
          <c:dPt>
            <c:idx val="2"/>
            <c:bubble3D val="0"/>
            <c:extLst>
              <c:ext xmlns:c16="http://schemas.microsoft.com/office/drawing/2014/chart" uri="{C3380CC4-5D6E-409C-BE32-E72D297353CC}">
                <c16:uniqueId val="{00000003-15AC-4F4F-9F73-91991C627900}"/>
              </c:ext>
            </c:extLst>
          </c:dPt>
          <c:dPt>
            <c:idx val="3"/>
            <c:bubble3D val="0"/>
            <c:extLst>
              <c:ext xmlns:c16="http://schemas.microsoft.com/office/drawing/2014/chart" uri="{C3380CC4-5D6E-409C-BE32-E72D297353CC}">
                <c16:uniqueId val="{00000004-15AC-4F4F-9F73-91991C627900}"/>
              </c:ext>
            </c:extLst>
          </c:dPt>
          <c:dPt>
            <c:idx val="4"/>
            <c:bubble3D val="0"/>
            <c:extLst>
              <c:ext xmlns:c16="http://schemas.microsoft.com/office/drawing/2014/chart" uri="{C3380CC4-5D6E-409C-BE32-E72D297353CC}">
                <c16:uniqueId val="{00000005-15AC-4F4F-9F73-91991C627900}"/>
              </c:ext>
            </c:extLst>
          </c:dPt>
          <c:dPt>
            <c:idx val="5"/>
            <c:bubble3D val="0"/>
            <c:extLst>
              <c:ext xmlns:c16="http://schemas.microsoft.com/office/drawing/2014/chart" uri="{C3380CC4-5D6E-409C-BE32-E72D297353CC}">
                <c16:uniqueId val="{00000006-15AC-4F4F-9F73-91991C627900}"/>
              </c:ext>
            </c:extLst>
          </c:dPt>
          <c:dLbls>
            <c:dLbl>
              <c:idx val="0"/>
              <c:layout>
                <c:manualLayout>
                  <c:x val="4.0100252488574503E-2"/>
                  <c:y val="3.6267476925888699E-2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lang="ru-RU" sz="1200" b="1" i="0" u="none" strike="noStrike" kern="1200" baseline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defRPr>
                    </a:pPr>
                    <a:r>
                      <a:rPr lang="ru-RU" dirty="0" err="1"/>
                      <a:t>басқалары</a:t>
                    </a:r>
                    <a:endParaRPr lang="ru-RU" dirty="0"/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>
                  <c15:layout>
                    <c:manualLayout>
                      <c:w val="0.16277303554267999"/>
                      <c:h val="0.107734039454446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0-15AC-4F4F-9F73-91991C627900}"/>
                </c:ext>
              </c:extLst>
            </c:dLbl>
            <c:dLbl>
              <c:idx val="1"/>
              <c:layout>
                <c:manualLayout>
                  <c:x val="0.179271717007745"/>
                  <c:y val="-1.8133738462944301E-2"/>
                </c:manualLayout>
              </c:layout>
              <c:tx>
                <c:rich>
                  <a:bodyPr/>
                  <a:lstStyle/>
                  <a:p>
                    <a:r>
                      <a:rPr lang="ru-RU"/>
                      <a:t>Жүрек</a:t>
                    </a:r>
                    <a:r>
                      <a:rPr lang="ru-RU" baseline="0"/>
                      <a:t> қан тамыр аурулары</a:t>
                    </a:r>
                    <a:endParaRPr lang="ru-RU" dirty="0"/>
                  </a:p>
                </c:rich>
              </c:tx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15AC-4F4F-9F73-91991C627900}"/>
                </c:ext>
              </c:extLst>
            </c:dLbl>
            <c:dLbl>
              <c:idx val="2"/>
              <c:layout>
                <c:manualLayout>
                  <c:x val="-3.7741414106893599E-2"/>
                  <c:y val="-8.3112007838154796E-17"/>
                </c:manualLayout>
              </c:layout>
              <c:tx>
                <c:rich>
                  <a:bodyPr/>
                  <a:lstStyle/>
                  <a:p>
                    <a:r>
                      <a:rPr lang="ru-RU"/>
                      <a:t>Қатерлі</a:t>
                    </a:r>
                    <a:r>
                      <a:rPr lang="ru-RU" baseline="0"/>
                      <a:t> ісіктер </a:t>
                    </a:r>
                    <a:endParaRPr lang="ru-RU" dirty="0"/>
                  </a:p>
                </c:rich>
              </c:tx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15AC-4F4F-9F73-91991C627900}"/>
                </c:ext>
              </c:extLst>
            </c:dLbl>
            <c:dLbl>
              <c:idx val="3"/>
              <c:layout>
                <c:manualLayout>
                  <c:x val="-4.48179292519362E-2"/>
                  <c:y val="4.53343461573609E-2"/>
                </c:manualLayout>
              </c:layout>
              <c:tx>
                <c:rich>
                  <a:bodyPr/>
                  <a:lstStyle/>
                  <a:p>
                    <a:r>
                      <a:rPr lang="ru-RU"/>
                      <a:t>Тыныс</a:t>
                    </a:r>
                    <a:r>
                      <a:rPr lang="ru-RU" baseline="0"/>
                      <a:t> алу органдарының аурулары</a:t>
                    </a:r>
                    <a:endParaRPr lang="ru-RU" dirty="0"/>
                  </a:p>
                </c:rich>
              </c:tx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15AC-4F4F-9F73-91991C627900}"/>
                </c:ext>
              </c:extLst>
            </c:dLbl>
            <c:dLbl>
              <c:idx val="4"/>
              <c:layout>
                <c:manualLayout>
                  <c:x val="4.9398533359732502E-2"/>
                  <c:y val="-2.7200607694416502E-2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lang="ru-RU" sz="1200" b="1" i="0" u="none" strike="noStrike" kern="1200" baseline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defRPr>
                    </a:pPr>
                    <a:r>
                      <a:rPr lang="ru-RU" dirty="0"/>
                      <a:t>Ас</a:t>
                    </a:r>
                    <a:r>
                      <a:rPr lang="ru-RU" baseline="0" dirty="0"/>
                      <a:t> </a:t>
                    </a:r>
                    <a:r>
                      <a:rPr lang="ru-RU" baseline="0" dirty="0" err="1"/>
                      <a:t>қорыту</a:t>
                    </a:r>
                    <a:r>
                      <a:rPr lang="ru-RU" baseline="0" dirty="0"/>
                      <a:t> </a:t>
                    </a:r>
                    <a:r>
                      <a:rPr lang="ru-RU" baseline="0" dirty="0" err="1"/>
                      <a:t>органдарынң</a:t>
                    </a:r>
                    <a:r>
                      <a:rPr lang="ru-RU" baseline="0" dirty="0"/>
                      <a:t> </a:t>
                    </a:r>
                    <a:r>
                      <a:rPr lang="ru-RU" baseline="0" dirty="0" err="1"/>
                      <a:t>аурулары</a:t>
                    </a:r>
                    <a:endParaRPr lang="ru-RU" dirty="0"/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>
                  <c15:layout>
                    <c:manualLayout>
                      <c:w val="0.384455366505907"/>
                      <c:h val="0.146883281549849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5-15AC-4F4F-9F73-91991C627900}"/>
                </c:ext>
              </c:extLst>
            </c:dLbl>
            <c:dLbl>
              <c:idx val="5"/>
              <c:layout>
                <c:manualLayout>
                  <c:x val="0.35207705934948802"/>
                  <c:y val="1.7848167778488499E-7"/>
                </c:manualLayout>
              </c:layout>
              <c:tx>
                <c:rich>
                  <a:bodyPr/>
                  <a:lstStyle/>
                  <a:p>
                    <a:r>
                      <a:rPr lang="ru-RU" dirty="0" err="1"/>
                      <a:t>Несеп</a:t>
                    </a:r>
                    <a:r>
                      <a:rPr lang="ru-RU" baseline="0" dirty="0"/>
                      <a:t> </a:t>
                    </a:r>
                    <a:r>
                      <a:rPr lang="ru-RU" baseline="0" dirty="0" err="1"/>
                      <a:t>жыныс</a:t>
                    </a:r>
                    <a:r>
                      <a:rPr lang="ru-RU" baseline="0" dirty="0"/>
                      <a:t> </a:t>
                    </a:r>
                    <a:r>
                      <a:rPr lang="ru-RU" baseline="0" dirty="0" err="1"/>
                      <a:t>жүйесінің</a:t>
                    </a:r>
                    <a:r>
                      <a:rPr lang="ru-RU" baseline="0" dirty="0"/>
                      <a:t> </a:t>
                    </a:r>
                    <a:r>
                      <a:rPr lang="ru-RU" baseline="0" dirty="0" err="1"/>
                      <a:t>аурулары</a:t>
                    </a:r>
                    <a:endParaRPr lang="ru-RU" dirty="0"/>
                  </a:p>
                </c:rich>
              </c:tx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>
                  <c15:layout>
                    <c:manualLayout>
                      <c:w val="0.41034241046536701"/>
                      <c:h val="0.146496690235767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6-15AC-4F4F-9F73-91991C62790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ru-RU" sz="12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1"/>
            <c:showSerName val="0"/>
            <c:showPercent val="0"/>
            <c:showBubbleSize val="0"/>
            <c:separator> </c:separator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Лист1!$A$2:$A$7</c:f>
              <c:strCache>
                <c:ptCount val="6"/>
                <c:pt idx="0">
                  <c:v>прочие</c:v>
                </c:pt>
                <c:pt idx="1">
                  <c:v>сердечно-сосудистые заболевания</c:v>
                </c:pt>
                <c:pt idx="2">
                  <c:v>злокачественные новобразования</c:v>
                </c:pt>
                <c:pt idx="3">
                  <c:v>заболевания органов дыхания</c:v>
                </c:pt>
                <c:pt idx="4">
                  <c:v>заболевания органов пищеварения</c:v>
                </c:pt>
                <c:pt idx="5">
                  <c:v>заболевания мочеполовой системы</c:v>
                </c:pt>
              </c:strCache>
            </c:strRef>
          </c:cat>
          <c:val>
            <c:numRef>
              <c:f>Лист1!$B$2:$B$7</c:f>
              <c:numCache>
                <c:formatCode>0.00%</c:formatCode>
                <c:ptCount val="6"/>
                <c:pt idx="0">
                  <c:v>0.36299999999999999</c:v>
                </c:pt>
                <c:pt idx="1">
                  <c:v>0.22500000000000001</c:v>
                </c:pt>
                <c:pt idx="2">
                  <c:v>0.16300000000000001</c:v>
                </c:pt>
                <c:pt idx="3">
                  <c:v>0.186</c:v>
                </c:pt>
                <c:pt idx="4">
                  <c:v>3.5999999999999997E-2</c:v>
                </c:pt>
                <c:pt idx="5">
                  <c:v>2.5999999999999999E-2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5AC-4F4F-9F73-91991C6279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</c:plotArea>
    <c:plotVisOnly val="1"/>
    <c:dispBlanksAs val="gap"/>
    <c:showDLblsOverMax val="0"/>
    <c:extLst>
      <c:ext uri="{0b15fc19-7d7d-44ad-8c2d-2c3a37ce22c3}">
        <chartProps xmlns="https://web.wps.cn/et/2018/main" chartId="{dc35f06a-674e-4f4c-9823-396bd21996e0}"/>
      </c:ext>
    </c:extLst>
  </c:chart>
  <c:txPr>
    <a:bodyPr/>
    <a:lstStyle/>
    <a:p>
      <a:pPr>
        <a:defRPr lang="ru-RU" sz="1200" b="1">
          <a:latin typeface="Times New Roman" panose="02020603050405020304" pitchFamily="18" charset="0"/>
          <a:cs typeface="Times New Roman" panose="02020603050405020304" pitchFamily="18" charset="0"/>
        </a:defRPr>
      </a:pPr>
      <a:endParaRPr lang="ru-KZ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4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5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/>
    <cs:fillRef idx="2">
      <cs:styleClr val="auto"/>
    </cs:fillRef>
    <cs:effectRef idx="1"/>
    <cs:fontRef idx="minor">
      <a:schemeClr val="dk1"/>
    </cs:fontRef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5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D9884B8-9A99-4808-BDEB-F7F700296A87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5CDC539F-11FA-4080-905E-D76F22818852}">
      <dgm:prSet phldrT="[Текст]"/>
      <dgm:spPr/>
      <dgm:t>
        <a:bodyPr/>
        <a:lstStyle/>
        <a:p>
          <a:r>
            <a:rPr lang="ru-RU" dirty="0">
              <a:latin typeface="Century" panose="02040604050505020304" pitchFamily="18" charset="0"/>
            </a:rPr>
            <a:t>1 </a:t>
          </a:r>
          <a:r>
            <a:rPr lang="kk-KZ" dirty="0">
              <a:latin typeface="Century" panose="02040604050505020304" pitchFamily="18" charset="0"/>
            </a:rPr>
            <a:t>отбасылық денсаулық бөлімі</a:t>
          </a:r>
          <a:r>
            <a:rPr lang="ru-RU" dirty="0">
              <a:latin typeface="Century" panose="02040604050505020304" pitchFamily="18" charset="0"/>
            </a:rPr>
            <a:t>	</a:t>
          </a:r>
        </a:p>
      </dgm:t>
    </dgm:pt>
    <dgm:pt modelId="{0D604D2D-62EF-4688-BF25-5B741C575A76}" type="parTrans" cxnId="{1C801244-6260-43E6-A1D9-B47B3C9E7290}">
      <dgm:prSet/>
      <dgm:spPr/>
      <dgm:t>
        <a:bodyPr/>
        <a:lstStyle/>
        <a:p>
          <a:endParaRPr lang="ru-RU"/>
        </a:p>
      </dgm:t>
    </dgm:pt>
    <dgm:pt modelId="{9CF786C7-DDDF-464A-90D4-7AF3AED45A9B}" type="sibTrans" cxnId="{1C801244-6260-43E6-A1D9-B47B3C9E7290}">
      <dgm:prSet/>
      <dgm:spPr/>
      <dgm:t>
        <a:bodyPr/>
        <a:lstStyle/>
        <a:p>
          <a:endParaRPr lang="ru-RU"/>
        </a:p>
      </dgm:t>
    </dgm:pt>
    <dgm:pt modelId="{7B5DBF59-32B4-4259-87F5-8AD3CC7C59E4}">
      <dgm:prSet phldrT="[Текст]"/>
      <dgm:spPr/>
      <dgm:t>
        <a:bodyPr/>
        <a:lstStyle/>
        <a:p>
          <a:r>
            <a:rPr lang="ru-RU" dirty="0" err="1">
              <a:latin typeface="Century" panose="02040604050505020304" pitchFamily="18" charset="0"/>
            </a:rPr>
            <a:t>Акушерл</a:t>
          </a:r>
          <a:r>
            <a:rPr lang="kk-KZ" dirty="0">
              <a:latin typeface="Century" panose="02040604050505020304" pitchFamily="18" charset="0"/>
            </a:rPr>
            <a:t>ік</a:t>
          </a:r>
          <a:r>
            <a:rPr lang="ru-RU" dirty="0">
              <a:latin typeface="Century" panose="02040604050505020304" pitchFamily="18" charset="0"/>
            </a:rPr>
            <a:t>-</a:t>
          </a:r>
          <a:r>
            <a:rPr lang="ru-RU" dirty="0" err="1">
              <a:latin typeface="Century" panose="02040604050505020304" pitchFamily="18" charset="0"/>
            </a:rPr>
            <a:t>гинекологиялық</a:t>
          </a:r>
          <a:r>
            <a:rPr lang="ru-RU" dirty="0">
              <a:latin typeface="Century" panose="02040604050505020304" pitchFamily="18" charset="0"/>
            </a:rPr>
            <a:t> </a:t>
          </a:r>
          <a:r>
            <a:rPr lang="ru-RU" dirty="0" err="1">
              <a:latin typeface="Century" panose="02040604050505020304" pitchFamily="18" charset="0"/>
            </a:rPr>
            <a:t>бөлімі</a:t>
          </a:r>
          <a:endParaRPr lang="ru-RU" dirty="0">
            <a:latin typeface="Century" panose="02040604050505020304" pitchFamily="18" charset="0"/>
          </a:endParaRPr>
        </a:p>
      </dgm:t>
    </dgm:pt>
    <dgm:pt modelId="{51449416-AE0D-4BAC-AFF6-444BFCAF9FD3}" type="parTrans" cxnId="{ADF2198F-74BE-43DA-9682-B3A27BCBA594}">
      <dgm:prSet/>
      <dgm:spPr/>
      <dgm:t>
        <a:bodyPr/>
        <a:lstStyle/>
        <a:p>
          <a:endParaRPr lang="ru-RU"/>
        </a:p>
      </dgm:t>
    </dgm:pt>
    <dgm:pt modelId="{8B51750C-60D9-49EF-B0EB-3CE40B0FEAB0}" type="sibTrans" cxnId="{ADF2198F-74BE-43DA-9682-B3A27BCBA594}">
      <dgm:prSet/>
      <dgm:spPr/>
      <dgm:t>
        <a:bodyPr/>
        <a:lstStyle/>
        <a:p>
          <a:endParaRPr lang="ru-RU"/>
        </a:p>
      </dgm:t>
    </dgm:pt>
    <dgm:pt modelId="{6F3966F6-A2E5-4AEE-8CCD-A4F862E407C5}">
      <dgm:prSet phldrT="[Текст]"/>
      <dgm:spPr/>
      <dgm:t>
        <a:bodyPr/>
        <a:lstStyle/>
        <a:p>
          <a:r>
            <a:rPr lang="kk-KZ" dirty="0">
              <a:latin typeface="Century" panose="02040604050505020304" pitchFamily="18" charset="0"/>
            </a:rPr>
            <a:t>Алдын алу және әлеуметтік-психологиялық көмек көрсету бөлімі</a:t>
          </a:r>
          <a:endParaRPr lang="ru-RU" dirty="0">
            <a:latin typeface="Century" panose="02040604050505020304" pitchFamily="18" charset="0"/>
          </a:endParaRPr>
        </a:p>
      </dgm:t>
    </dgm:pt>
    <dgm:pt modelId="{61D265A1-621D-427F-A1EC-00406E2DFF61}" type="parTrans" cxnId="{7C19091F-2C94-408C-BDE9-B5A7100B8451}">
      <dgm:prSet/>
      <dgm:spPr/>
      <dgm:t>
        <a:bodyPr/>
        <a:lstStyle/>
        <a:p>
          <a:endParaRPr lang="ru-RU"/>
        </a:p>
      </dgm:t>
    </dgm:pt>
    <dgm:pt modelId="{7B945E03-D1CD-45B4-B0F3-DDA32278BC8F}" type="sibTrans" cxnId="{7C19091F-2C94-408C-BDE9-B5A7100B8451}">
      <dgm:prSet/>
      <dgm:spPr/>
      <dgm:t>
        <a:bodyPr/>
        <a:lstStyle/>
        <a:p>
          <a:endParaRPr lang="ru-RU"/>
        </a:p>
      </dgm:t>
    </dgm:pt>
    <dgm:pt modelId="{1F242D3B-418B-44D2-9D63-58937103CF7B}">
      <dgm:prSet phldrT="[Текст]"/>
      <dgm:spPr/>
      <dgm:t>
        <a:bodyPr/>
        <a:lstStyle/>
        <a:p>
          <a:r>
            <a:rPr lang="kk-KZ" dirty="0">
              <a:latin typeface="Century" panose="02040604050505020304" pitchFamily="18" charset="0"/>
            </a:rPr>
            <a:t>Күндізгі стационар</a:t>
          </a:r>
          <a:endParaRPr lang="ru-RU" dirty="0">
            <a:latin typeface="Century" panose="02040604050505020304" pitchFamily="18" charset="0"/>
          </a:endParaRPr>
        </a:p>
      </dgm:t>
    </dgm:pt>
    <dgm:pt modelId="{2D8B763C-8CCF-45E8-8E44-235A652195E4}" type="parTrans" cxnId="{8622411A-237E-4B56-BC92-E9855AD466A1}">
      <dgm:prSet/>
      <dgm:spPr/>
      <dgm:t>
        <a:bodyPr/>
        <a:lstStyle/>
        <a:p>
          <a:endParaRPr lang="ru-RU"/>
        </a:p>
      </dgm:t>
    </dgm:pt>
    <dgm:pt modelId="{DB149EF8-B3A7-480D-BFB5-84966B19DF2E}" type="sibTrans" cxnId="{8622411A-237E-4B56-BC92-E9855AD466A1}">
      <dgm:prSet/>
      <dgm:spPr/>
      <dgm:t>
        <a:bodyPr/>
        <a:lstStyle/>
        <a:p>
          <a:endParaRPr lang="ru-RU"/>
        </a:p>
      </dgm:t>
    </dgm:pt>
    <dgm:pt modelId="{DE13BEF1-9082-40F3-AB3B-58A542203E43}">
      <dgm:prSet phldrT="[Текст]"/>
      <dgm:spPr/>
      <dgm:t>
        <a:bodyPr/>
        <a:lstStyle/>
        <a:p>
          <a:r>
            <a:rPr lang="kk-KZ" dirty="0">
              <a:latin typeface="Century" panose="02040604050505020304" pitchFamily="18" charset="0"/>
            </a:rPr>
            <a:t>Консультациялық-диагностикалық бөлім</a:t>
          </a:r>
          <a:endParaRPr lang="ru-RU" dirty="0">
            <a:latin typeface="Century" panose="02040604050505020304" pitchFamily="18" charset="0"/>
          </a:endParaRPr>
        </a:p>
      </dgm:t>
    </dgm:pt>
    <dgm:pt modelId="{16786DFF-40CC-4F1C-A478-80FF7E173775}" type="parTrans" cxnId="{661B6245-5AC7-412E-9303-F3F90D682E22}">
      <dgm:prSet/>
      <dgm:spPr/>
      <dgm:t>
        <a:bodyPr/>
        <a:lstStyle/>
        <a:p>
          <a:endParaRPr lang="ru-RU"/>
        </a:p>
      </dgm:t>
    </dgm:pt>
    <dgm:pt modelId="{494512D4-EC37-4BCE-B781-3502917C2FA2}" type="sibTrans" cxnId="{661B6245-5AC7-412E-9303-F3F90D682E22}">
      <dgm:prSet/>
      <dgm:spPr/>
      <dgm:t>
        <a:bodyPr/>
        <a:lstStyle/>
        <a:p>
          <a:endParaRPr lang="ru-RU"/>
        </a:p>
      </dgm:t>
    </dgm:pt>
    <dgm:pt modelId="{224E1199-1A60-4329-B09C-52F82821C15F}">
      <dgm:prSet phldrT="[Текст]"/>
      <dgm:spPr/>
      <dgm:t>
        <a:bodyPr/>
        <a:lstStyle/>
        <a:p>
          <a:r>
            <a:rPr lang="ru-RU" dirty="0" err="1">
              <a:latin typeface="Century" panose="02040604050505020304" pitchFamily="18" charset="0"/>
            </a:rPr>
            <a:t>Науқастарды</a:t>
          </a:r>
          <a:r>
            <a:rPr lang="ru-RU" dirty="0">
              <a:latin typeface="Century" panose="02040604050505020304" pitchFamily="18" charset="0"/>
            </a:rPr>
            <a:t> </a:t>
          </a:r>
          <a:r>
            <a:rPr lang="ru-RU" dirty="0" err="1">
              <a:latin typeface="Century" panose="02040604050505020304" pitchFamily="18" charset="0"/>
            </a:rPr>
            <a:t>қолдау</a:t>
          </a:r>
          <a:r>
            <a:rPr lang="ru-RU" dirty="0">
              <a:latin typeface="Century" panose="02040604050505020304" pitchFamily="18" charset="0"/>
            </a:rPr>
            <a:t> </a:t>
          </a:r>
          <a:r>
            <a:rPr lang="ru-RU" dirty="0" err="1">
              <a:latin typeface="Century" panose="02040604050505020304" pitchFamily="18" charset="0"/>
            </a:rPr>
            <a:t>қызметі</a:t>
          </a:r>
          <a:endParaRPr lang="ru-RU" dirty="0">
            <a:latin typeface="Century" panose="02040604050505020304" pitchFamily="18" charset="0"/>
          </a:endParaRPr>
        </a:p>
      </dgm:t>
    </dgm:pt>
    <dgm:pt modelId="{2B11B1F3-CE1C-44B8-BDA0-C9967267252E}" type="sibTrans" cxnId="{C7E729DC-72EC-41C0-BBF1-6B8757B4811C}">
      <dgm:prSet/>
      <dgm:spPr/>
      <dgm:t>
        <a:bodyPr/>
        <a:lstStyle/>
        <a:p>
          <a:endParaRPr lang="ru-RU"/>
        </a:p>
      </dgm:t>
    </dgm:pt>
    <dgm:pt modelId="{7C59359A-B63A-4AAC-9109-5C9EB4BD0256}" type="parTrans" cxnId="{C7E729DC-72EC-41C0-BBF1-6B8757B4811C}">
      <dgm:prSet/>
      <dgm:spPr/>
      <dgm:t>
        <a:bodyPr/>
        <a:lstStyle/>
        <a:p>
          <a:endParaRPr lang="ru-RU"/>
        </a:p>
      </dgm:t>
    </dgm:pt>
    <dgm:pt modelId="{B7539656-3CB8-4CD6-B227-91804D4DA5F1}">
      <dgm:prSet/>
      <dgm:spPr/>
      <dgm:t>
        <a:bodyPr/>
        <a:lstStyle/>
        <a:p>
          <a:r>
            <a:rPr lang="ru-RU" dirty="0" err="1">
              <a:latin typeface="Century" panose="02040604050505020304" pitchFamily="18" charset="0"/>
            </a:rPr>
            <a:t>Арнайы</a:t>
          </a:r>
          <a:r>
            <a:rPr lang="ru-RU" dirty="0">
              <a:latin typeface="Century" panose="02040604050505020304" pitchFamily="18" charset="0"/>
            </a:rPr>
            <a:t> мамандандырылған көмек бөлімі</a:t>
          </a:r>
          <a:endParaRPr lang="ru-KZ" dirty="0">
            <a:latin typeface="Century" panose="02040604050505020304" pitchFamily="18" charset="0"/>
          </a:endParaRPr>
        </a:p>
      </dgm:t>
    </dgm:pt>
    <dgm:pt modelId="{A12E3A01-4A6B-44E3-9FE9-68D066D49D30}" type="parTrans" cxnId="{813D2895-3B71-4CF9-A8E4-79E257719FE1}">
      <dgm:prSet/>
      <dgm:spPr/>
      <dgm:t>
        <a:bodyPr/>
        <a:lstStyle/>
        <a:p>
          <a:endParaRPr lang="ru-KZ"/>
        </a:p>
      </dgm:t>
    </dgm:pt>
    <dgm:pt modelId="{A9738FB0-CF74-47FA-969C-BA06F6C7B66F}" type="sibTrans" cxnId="{813D2895-3B71-4CF9-A8E4-79E257719FE1}">
      <dgm:prSet/>
      <dgm:spPr/>
      <dgm:t>
        <a:bodyPr/>
        <a:lstStyle/>
        <a:p>
          <a:endParaRPr lang="ru-KZ"/>
        </a:p>
      </dgm:t>
    </dgm:pt>
    <dgm:pt modelId="{133ABDCF-1A06-43D2-91C9-4F1D70B9938F}" type="pres">
      <dgm:prSet presAssocID="{2D9884B8-9A99-4808-BDEB-F7F700296A87}" presName="Name0" presStyleCnt="0">
        <dgm:presLayoutVars>
          <dgm:chMax val="7"/>
          <dgm:chPref val="7"/>
          <dgm:dir/>
        </dgm:presLayoutVars>
      </dgm:prSet>
      <dgm:spPr/>
    </dgm:pt>
    <dgm:pt modelId="{AF783B20-B5E9-4E62-BB90-D9A82F2CEAA8}" type="pres">
      <dgm:prSet presAssocID="{2D9884B8-9A99-4808-BDEB-F7F700296A87}" presName="Name1" presStyleCnt="0"/>
      <dgm:spPr/>
    </dgm:pt>
    <dgm:pt modelId="{D0A532CC-011C-4C77-8B9F-6D2BFEA13AA8}" type="pres">
      <dgm:prSet presAssocID="{2D9884B8-9A99-4808-BDEB-F7F700296A87}" presName="cycle" presStyleCnt="0"/>
      <dgm:spPr/>
    </dgm:pt>
    <dgm:pt modelId="{C914DE40-07D0-4BD2-AE46-B76CDECFAE64}" type="pres">
      <dgm:prSet presAssocID="{2D9884B8-9A99-4808-BDEB-F7F700296A87}" presName="srcNode" presStyleLbl="node1" presStyleIdx="0" presStyleCnt="7"/>
      <dgm:spPr/>
    </dgm:pt>
    <dgm:pt modelId="{6F1D52A9-7CB6-4F6E-AFCD-8794EE76DCDC}" type="pres">
      <dgm:prSet presAssocID="{2D9884B8-9A99-4808-BDEB-F7F700296A87}" presName="conn" presStyleLbl="parChTrans1D2" presStyleIdx="0" presStyleCnt="1"/>
      <dgm:spPr/>
    </dgm:pt>
    <dgm:pt modelId="{EA22E133-5AF1-498C-8EDF-46E438D81D82}" type="pres">
      <dgm:prSet presAssocID="{2D9884B8-9A99-4808-BDEB-F7F700296A87}" presName="extraNode" presStyleLbl="node1" presStyleIdx="0" presStyleCnt="7"/>
      <dgm:spPr/>
    </dgm:pt>
    <dgm:pt modelId="{F373CA01-2919-4527-A3A9-C7C883732FF0}" type="pres">
      <dgm:prSet presAssocID="{2D9884B8-9A99-4808-BDEB-F7F700296A87}" presName="dstNode" presStyleLbl="node1" presStyleIdx="0" presStyleCnt="7"/>
      <dgm:spPr/>
    </dgm:pt>
    <dgm:pt modelId="{97DD5E56-C1B5-4C71-81BE-D94E66C573CB}" type="pres">
      <dgm:prSet presAssocID="{5CDC539F-11FA-4080-905E-D76F22818852}" presName="text_1" presStyleLbl="node1" presStyleIdx="0" presStyleCnt="7">
        <dgm:presLayoutVars>
          <dgm:bulletEnabled val="1"/>
        </dgm:presLayoutVars>
      </dgm:prSet>
      <dgm:spPr/>
    </dgm:pt>
    <dgm:pt modelId="{E4B702CE-D268-4714-B748-1B10C66C6B3C}" type="pres">
      <dgm:prSet presAssocID="{5CDC539F-11FA-4080-905E-D76F22818852}" presName="accent_1" presStyleCnt="0"/>
      <dgm:spPr/>
    </dgm:pt>
    <dgm:pt modelId="{00C1D230-71FE-48CA-8F53-D0F212B557DF}" type="pres">
      <dgm:prSet presAssocID="{5CDC539F-11FA-4080-905E-D76F22818852}" presName="accentRepeatNode" presStyleLbl="solidFgAcc1" presStyleIdx="0" presStyleCnt="7"/>
      <dgm:spPr/>
    </dgm:pt>
    <dgm:pt modelId="{CCE7A632-3C32-4BB8-84ED-12A186DC8C7A}" type="pres">
      <dgm:prSet presAssocID="{7B5DBF59-32B4-4259-87F5-8AD3CC7C59E4}" presName="text_2" presStyleLbl="node1" presStyleIdx="1" presStyleCnt="7">
        <dgm:presLayoutVars>
          <dgm:bulletEnabled val="1"/>
        </dgm:presLayoutVars>
      </dgm:prSet>
      <dgm:spPr/>
    </dgm:pt>
    <dgm:pt modelId="{59488A5E-7FC4-4E35-A10D-A97B94DCEE18}" type="pres">
      <dgm:prSet presAssocID="{7B5DBF59-32B4-4259-87F5-8AD3CC7C59E4}" presName="accent_2" presStyleCnt="0"/>
      <dgm:spPr/>
    </dgm:pt>
    <dgm:pt modelId="{041DEC36-04E5-43BB-9C8E-B53215F25D57}" type="pres">
      <dgm:prSet presAssocID="{7B5DBF59-32B4-4259-87F5-8AD3CC7C59E4}" presName="accentRepeatNode" presStyleLbl="solidFgAcc1" presStyleIdx="1" presStyleCnt="7"/>
      <dgm:spPr/>
    </dgm:pt>
    <dgm:pt modelId="{F0C963D9-A052-451D-837A-C4B60CC875D0}" type="pres">
      <dgm:prSet presAssocID="{6F3966F6-A2E5-4AEE-8CCD-A4F862E407C5}" presName="text_3" presStyleLbl="node1" presStyleIdx="2" presStyleCnt="7">
        <dgm:presLayoutVars>
          <dgm:bulletEnabled val="1"/>
        </dgm:presLayoutVars>
      </dgm:prSet>
      <dgm:spPr/>
    </dgm:pt>
    <dgm:pt modelId="{BA54B558-310F-4455-8938-9CAC7C641759}" type="pres">
      <dgm:prSet presAssocID="{6F3966F6-A2E5-4AEE-8CCD-A4F862E407C5}" presName="accent_3" presStyleCnt="0"/>
      <dgm:spPr/>
    </dgm:pt>
    <dgm:pt modelId="{9ED32B97-3B16-491B-8CF3-86EA74F70CB6}" type="pres">
      <dgm:prSet presAssocID="{6F3966F6-A2E5-4AEE-8CCD-A4F862E407C5}" presName="accentRepeatNode" presStyleLbl="solidFgAcc1" presStyleIdx="2" presStyleCnt="7"/>
      <dgm:spPr/>
    </dgm:pt>
    <dgm:pt modelId="{DC8FA377-96E9-43DB-804A-B41C2B3280A3}" type="pres">
      <dgm:prSet presAssocID="{B7539656-3CB8-4CD6-B227-91804D4DA5F1}" presName="text_4" presStyleLbl="node1" presStyleIdx="3" presStyleCnt="7">
        <dgm:presLayoutVars>
          <dgm:bulletEnabled val="1"/>
        </dgm:presLayoutVars>
      </dgm:prSet>
      <dgm:spPr/>
    </dgm:pt>
    <dgm:pt modelId="{8CED48F4-F616-43E6-AE29-99905E6BC0BF}" type="pres">
      <dgm:prSet presAssocID="{B7539656-3CB8-4CD6-B227-91804D4DA5F1}" presName="accent_4" presStyleCnt="0"/>
      <dgm:spPr/>
    </dgm:pt>
    <dgm:pt modelId="{578F0AEB-9EAE-4DAD-B93D-7304FDC60FA4}" type="pres">
      <dgm:prSet presAssocID="{B7539656-3CB8-4CD6-B227-91804D4DA5F1}" presName="accentRepeatNode" presStyleLbl="solidFgAcc1" presStyleIdx="3" presStyleCnt="7"/>
      <dgm:spPr/>
    </dgm:pt>
    <dgm:pt modelId="{3CC7686C-A84E-4826-A1AF-7087B2AEC32D}" type="pres">
      <dgm:prSet presAssocID="{1F242D3B-418B-44D2-9D63-58937103CF7B}" presName="text_5" presStyleLbl="node1" presStyleIdx="4" presStyleCnt="7">
        <dgm:presLayoutVars>
          <dgm:bulletEnabled val="1"/>
        </dgm:presLayoutVars>
      </dgm:prSet>
      <dgm:spPr/>
    </dgm:pt>
    <dgm:pt modelId="{47001740-8275-40E8-B131-D505E0219108}" type="pres">
      <dgm:prSet presAssocID="{1F242D3B-418B-44D2-9D63-58937103CF7B}" presName="accent_5" presStyleCnt="0"/>
      <dgm:spPr/>
    </dgm:pt>
    <dgm:pt modelId="{23E71332-EF60-4BF3-8AC1-FE034E4FF21F}" type="pres">
      <dgm:prSet presAssocID="{1F242D3B-418B-44D2-9D63-58937103CF7B}" presName="accentRepeatNode" presStyleLbl="solidFgAcc1" presStyleIdx="4" presStyleCnt="7"/>
      <dgm:spPr/>
    </dgm:pt>
    <dgm:pt modelId="{97FD872E-4EE4-426A-BAC7-D24D6C2E2F91}" type="pres">
      <dgm:prSet presAssocID="{DE13BEF1-9082-40F3-AB3B-58A542203E43}" presName="text_6" presStyleLbl="node1" presStyleIdx="5" presStyleCnt="7">
        <dgm:presLayoutVars>
          <dgm:bulletEnabled val="1"/>
        </dgm:presLayoutVars>
      </dgm:prSet>
      <dgm:spPr/>
    </dgm:pt>
    <dgm:pt modelId="{260200CB-BF75-494F-B9C3-03322375983A}" type="pres">
      <dgm:prSet presAssocID="{DE13BEF1-9082-40F3-AB3B-58A542203E43}" presName="accent_6" presStyleCnt="0"/>
      <dgm:spPr/>
    </dgm:pt>
    <dgm:pt modelId="{1972C03E-7EB6-4F5C-80CD-BB57600AF53A}" type="pres">
      <dgm:prSet presAssocID="{DE13BEF1-9082-40F3-AB3B-58A542203E43}" presName="accentRepeatNode" presStyleLbl="solidFgAcc1" presStyleIdx="5" presStyleCnt="7"/>
      <dgm:spPr/>
    </dgm:pt>
    <dgm:pt modelId="{7348C1CA-C2A8-4387-ADF7-8B022AD71845}" type="pres">
      <dgm:prSet presAssocID="{224E1199-1A60-4329-B09C-52F82821C15F}" presName="text_7" presStyleLbl="node1" presStyleIdx="6" presStyleCnt="7">
        <dgm:presLayoutVars>
          <dgm:bulletEnabled val="1"/>
        </dgm:presLayoutVars>
      </dgm:prSet>
      <dgm:spPr/>
    </dgm:pt>
    <dgm:pt modelId="{A3B60AEB-0048-41B7-A5FA-3E76781D53F6}" type="pres">
      <dgm:prSet presAssocID="{224E1199-1A60-4329-B09C-52F82821C15F}" presName="accent_7" presStyleCnt="0"/>
      <dgm:spPr/>
    </dgm:pt>
    <dgm:pt modelId="{6630EA43-B166-4DD7-A821-281888E4766A}" type="pres">
      <dgm:prSet presAssocID="{224E1199-1A60-4329-B09C-52F82821C15F}" presName="accentRepeatNode" presStyleLbl="solidFgAcc1" presStyleIdx="6" presStyleCnt="7"/>
      <dgm:spPr/>
    </dgm:pt>
  </dgm:ptLst>
  <dgm:cxnLst>
    <dgm:cxn modelId="{3909CF11-AA19-40DF-830B-CC80DE7E4715}" type="presOf" srcId="{DE13BEF1-9082-40F3-AB3B-58A542203E43}" destId="{97FD872E-4EE4-426A-BAC7-D24D6C2E2F91}" srcOrd="0" destOrd="0" presId="urn:microsoft.com/office/officeart/2008/layout/VerticalCurvedList"/>
    <dgm:cxn modelId="{8622411A-237E-4B56-BC92-E9855AD466A1}" srcId="{2D9884B8-9A99-4808-BDEB-F7F700296A87}" destId="{1F242D3B-418B-44D2-9D63-58937103CF7B}" srcOrd="4" destOrd="0" parTransId="{2D8B763C-8CCF-45E8-8E44-235A652195E4}" sibTransId="{DB149EF8-B3A7-480D-BFB5-84966B19DF2E}"/>
    <dgm:cxn modelId="{7C19091F-2C94-408C-BDE9-B5A7100B8451}" srcId="{2D9884B8-9A99-4808-BDEB-F7F700296A87}" destId="{6F3966F6-A2E5-4AEE-8CCD-A4F862E407C5}" srcOrd="2" destOrd="0" parTransId="{61D265A1-621D-427F-A1EC-00406E2DFF61}" sibTransId="{7B945E03-D1CD-45B4-B0F3-DDA32278BC8F}"/>
    <dgm:cxn modelId="{1C801244-6260-43E6-A1D9-B47B3C9E7290}" srcId="{2D9884B8-9A99-4808-BDEB-F7F700296A87}" destId="{5CDC539F-11FA-4080-905E-D76F22818852}" srcOrd="0" destOrd="0" parTransId="{0D604D2D-62EF-4688-BF25-5B741C575A76}" sibTransId="{9CF786C7-DDDF-464A-90D4-7AF3AED45A9B}"/>
    <dgm:cxn modelId="{661B6245-5AC7-412E-9303-F3F90D682E22}" srcId="{2D9884B8-9A99-4808-BDEB-F7F700296A87}" destId="{DE13BEF1-9082-40F3-AB3B-58A542203E43}" srcOrd="5" destOrd="0" parTransId="{16786DFF-40CC-4F1C-A478-80FF7E173775}" sibTransId="{494512D4-EC37-4BCE-B781-3502917C2FA2}"/>
    <dgm:cxn modelId="{450A9A67-8173-4233-B64C-FBE7B5E36F6C}" type="presOf" srcId="{9CF786C7-DDDF-464A-90D4-7AF3AED45A9B}" destId="{6F1D52A9-7CB6-4F6E-AFCD-8794EE76DCDC}" srcOrd="0" destOrd="0" presId="urn:microsoft.com/office/officeart/2008/layout/VerticalCurvedList"/>
    <dgm:cxn modelId="{793C2252-6941-448D-933E-565F4D478D09}" type="presOf" srcId="{2D9884B8-9A99-4808-BDEB-F7F700296A87}" destId="{133ABDCF-1A06-43D2-91C9-4F1D70B9938F}" srcOrd="0" destOrd="0" presId="urn:microsoft.com/office/officeart/2008/layout/VerticalCurvedList"/>
    <dgm:cxn modelId="{6731AC85-A1C4-4668-9E03-D1A55DCEBE02}" type="presOf" srcId="{7B5DBF59-32B4-4259-87F5-8AD3CC7C59E4}" destId="{CCE7A632-3C32-4BB8-84ED-12A186DC8C7A}" srcOrd="0" destOrd="0" presId="urn:microsoft.com/office/officeart/2008/layout/VerticalCurvedList"/>
    <dgm:cxn modelId="{ADF2198F-74BE-43DA-9682-B3A27BCBA594}" srcId="{2D9884B8-9A99-4808-BDEB-F7F700296A87}" destId="{7B5DBF59-32B4-4259-87F5-8AD3CC7C59E4}" srcOrd="1" destOrd="0" parTransId="{51449416-AE0D-4BAC-AFF6-444BFCAF9FD3}" sibTransId="{8B51750C-60D9-49EF-B0EB-3CE40B0FEAB0}"/>
    <dgm:cxn modelId="{813D2895-3B71-4CF9-A8E4-79E257719FE1}" srcId="{2D9884B8-9A99-4808-BDEB-F7F700296A87}" destId="{B7539656-3CB8-4CD6-B227-91804D4DA5F1}" srcOrd="3" destOrd="0" parTransId="{A12E3A01-4A6B-44E3-9FE9-68D066D49D30}" sibTransId="{A9738FB0-CF74-47FA-969C-BA06F6C7B66F}"/>
    <dgm:cxn modelId="{047AF395-D797-4828-8AA2-60B76FFE5880}" type="presOf" srcId="{1F242D3B-418B-44D2-9D63-58937103CF7B}" destId="{3CC7686C-A84E-4826-A1AF-7087B2AEC32D}" srcOrd="0" destOrd="0" presId="urn:microsoft.com/office/officeart/2008/layout/VerticalCurvedList"/>
    <dgm:cxn modelId="{71974598-F50F-4CE4-9E82-79D61E06CDE1}" type="presOf" srcId="{5CDC539F-11FA-4080-905E-D76F22818852}" destId="{97DD5E56-C1B5-4C71-81BE-D94E66C573CB}" srcOrd="0" destOrd="0" presId="urn:microsoft.com/office/officeart/2008/layout/VerticalCurvedList"/>
    <dgm:cxn modelId="{5AB15D99-6FEF-4F80-9A76-DB3FD74DD964}" type="presOf" srcId="{6F3966F6-A2E5-4AEE-8CCD-A4F862E407C5}" destId="{F0C963D9-A052-451D-837A-C4B60CC875D0}" srcOrd="0" destOrd="0" presId="urn:microsoft.com/office/officeart/2008/layout/VerticalCurvedList"/>
    <dgm:cxn modelId="{C7E729DC-72EC-41C0-BBF1-6B8757B4811C}" srcId="{2D9884B8-9A99-4808-BDEB-F7F700296A87}" destId="{224E1199-1A60-4329-B09C-52F82821C15F}" srcOrd="6" destOrd="0" parTransId="{7C59359A-B63A-4AAC-9109-5C9EB4BD0256}" sibTransId="{2B11B1F3-CE1C-44B8-BDA0-C9967267252E}"/>
    <dgm:cxn modelId="{8716EADD-433A-4BDD-ACD4-3F379FB3A064}" type="presOf" srcId="{B7539656-3CB8-4CD6-B227-91804D4DA5F1}" destId="{DC8FA377-96E9-43DB-804A-B41C2B3280A3}" srcOrd="0" destOrd="0" presId="urn:microsoft.com/office/officeart/2008/layout/VerticalCurvedList"/>
    <dgm:cxn modelId="{7B8921E3-4842-4643-A14C-56B4B15ED8E6}" type="presOf" srcId="{224E1199-1A60-4329-B09C-52F82821C15F}" destId="{7348C1CA-C2A8-4387-ADF7-8B022AD71845}" srcOrd="0" destOrd="0" presId="urn:microsoft.com/office/officeart/2008/layout/VerticalCurvedList"/>
    <dgm:cxn modelId="{98B99A3D-1C5F-466C-95AF-CEE78CDB3F1B}" type="presParOf" srcId="{133ABDCF-1A06-43D2-91C9-4F1D70B9938F}" destId="{AF783B20-B5E9-4E62-BB90-D9A82F2CEAA8}" srcOrd="0" destOrd="0" presId="urn:microsoft.com/office/officeart/2008/layout/VerticalCurvedList"/>
    <dgm:cxn modelId="{62308EBF-4B9B-491D-BA81-70D3C5A306DE}" type="presParOf" srcId="{AF783B20-B5E9-4E62-BB90-D9A82F2CEAA8}" destId="{D0A532CC-011C-4C77-8B9F-6D2BFEA13AA8}" srcOrd="0" destOrd="0" presId="urn:microsoft.com/office/officeart/2008/layout/VerticalCurvedList"/>
    <dgm:cxn modelId="{76092B6B-8CDE-4188-BA6B-8FAE581F08F5}" type="presParOf" srcId="{D0A532CC-011C-4C77-8B9F-6D2BFEA13AA8}" destId="{C914DE40-07D0-4BD2-AE46-B76CDECFAE64}" srcOrd="0" destOrd="0" presId="urn:microsoft.com/office/officeart/2008/layout/VerticalCurvedList"/>
    <dgm:cxn modelId="{D3EC0628-C82F-4420-8662-4484BC729FBD}" type="presParOf" srcId="{D0A532CC-011C-4C77-8B9F-6D2BFEA13AA8}" destId="{6F1D52A9-7CB6-4F6E-AFCD-8794EE76DCDC}" srcOrd="1" destOrd="0" presId="urn:microsoft.com/office/officeart/2008/layout/VerticalCurvedList"/>
    <dgm:cxn modelId="{6431B647-DC0C-4635-B715-322D7959876D}" type="presParOf" srcId="{D0A532CC-011C-4C77-8B9F-6D2BFEA13AA8}" destId="{EA22E133-5AF1-498C-8EDF-46E438D81D82}" srcOrd="2" destOrd="0" presId="urn:microsoft.com/office/officeart/2008/layout/VerticalCurvedList"/>
    <dgm:cxn modelId="{BC9D5DC1-B633-4CD2-95A7-35071643A5CC}" type="presParOf" srcId="{D0A532CC-011C-4C77-8B9F-6D2BFEA13AA8}" destId="{F373CA01-2919-4527-A3A9-C7C883732FF0}" srcOrd="3" destOrd="0" presId="urn:microsoft.com/office/officeart/2008/layout/VerticalCurvedList"/>
    <dgm:cxn modelId="{DC9AF7C2-79A3-4C2E-8347-6B4C1FE0F15A}" type="presParOf" srcId="{AF783B20-B5E9-4E62-BB90-D9A82F2CEAA8}" destId="{97DD5E56-C1B5-4C71-81BE-D94E66C573CB}" srcOrd="1" destOrd="0" presId="urn:microsoft.com/office/officeart/2008/layout/VerticalCurvedList"/>
    <dgm:cxn modelId="{0496AFDF-DB92-4E46-84EC-87DF4DC05134}" type="presParOf" srcId="{AF783B20-B5E9-4E62-BB90-D9A82F2CEAA8}" destId="{E4B702CE-D268-4714-B748-1B10C66C6B3C}" srcOrd="2" destOrd="0" presId="urn:microsoft.com/office/officeart/2008/layout/VerticalCurvedList"/>
    <dgm:cxn modelId="{FC37DFEE-68D4-4D72-84D0-8F54ADE3DBAE}" type="presParOf" srcId="{E4B702CE-D268-4714-B748-1B10C66C6B3C}" destId="{00C1D230-71FE-48CA-8F53-D0F212B557DF}" srcOrd="0" destOrd="0" presId="urn:microsoft.com/office/officeart/2008/layout/VerticalCurvedList"/>
    <dgm:cxn modelId="{20096006-8E70-444C-813D-40BD3886F83D}" type="presParOf" srcId="{AF783B20-B5E9-4E62-BB90-D9A82F2CEAA8}" destId="{CCE7A632-3C32-4BB8-84ED-12A186DC8C7A}" srcOrd="3" destOrd="0" presId="urn:microsoft.com/office/officeart/2008/layout/VerticalCurvedList"/>
    <dgm:cxn modelId="{93F03D59-5F7F-4FC4-B827-2C1D2C37C801}" type="presParOf" srcId="{AF783B20-B5E9-4E62-BB90-D9A82F2CEAA8}" destId="{59488A5E-7FC4-4E35-A10D-A97B94DCEE18}" srcOrd="4" destOrd="0" presId="urn:microsoft.com/office/officeart/2008/layout/VerticalCurvedList"/>
    <dgm:cxn modelId="{AADCAF2C-48A6-476B-A0D4-8631ECF40C8A}" type="presParOf" srcId="{59488A5E-7FC4-4E35-A10D-A97B94DCEE18}" destId="{041DEC36-04E5-43BB-9C8E-B53215F25D57}" srcOrd="0" destOrd="0" presId="urn:microsoft.com/office/officeart/2008/layout/VerticalCurvedList"/>
    <dgm:cxn modelId="{B9266BDB-C1BC-4B67-A22B-A1FDF5E660D2}" type="presParOf" srcId="{AF783B20-B5E9-4E62-BB90-D9A82F2CEAA8}" destId="{F0C963D9-A052-451D-837A-C4B60CC875D0}" srcOrd="5" destOrd="0" presId="urn:microsoft.com/office/officeart/2008/layout/VerticalCurvedList"/>
    <dgm:cxn modelId="{6849C136-7470-40D0-87C9-FF5AFAA603A0}" type="presParOf" srcId="{AF783B20-B5E9-4E62-BB90-D9A82F2CEAA8}" destId="{BA54B558-310F-4455-8938-9CAC7C641759}" srcOrd="6" destOrd="0" presId="urn:microsoft.com/office/officeart/2008/layout/VerticalCurvedList"/>
    <dgm:cxn modelId="{58D0C44E-EA7D-4451-BEB0-E42A44B03E89}" type="presParOf" srcId="{BA54B558-310F-4455-8938-9CAC7C641759}" destId="{9ED32B97-3B16-491B-8CF3-86EA74F70CB6}" srcOrd="0" destOrd="0" presId="urn:microsoft.com/office/officeart/2008/layout/VerticalCurvedList"/>
    <dgm:cxn modelId="{E1EB0BDD-146C-4D13-97FC-F55841687285}" type="presParOf" srcId="{AF783B20-B5E9-4E62-BB90-D9A82F2CEAA8}" destId="{DC8FA377-96E9-43DB-804A-B41C2B3280A3}" srcOrd="7" destOrd="0" presId="urn:microsoft.com/office/officeart/2008/layout/VerticalCurvedList"/>
    <dgm:cxn modelId="{CFD0DC1D-9D82-4BE6-85C7-790D7EB3C30B}" type="presParOf" srcId="{AF783B20-B5E9-4E62-BB90-D9A82F2CEAA8}" destId="{8CED48F4-F616-43E6-AE29-99905E6BC0BF}" srcOrd="8" destOrd="0" presId="urn:microsoft.com/office/officeart/2008/layout/VerticalCurvedList"/>
    <dgm:cxn modelId="{6DCD26AC-EABB-44C4-9E3B-43DFDDA7EAAB}" type="presParOf" srcId="{8CED48F4-F616-43E6-AE29-99905E6BC0BF}" destId="{578F0AEB-9EAE-4DAD-B93D-7304FDC60FA4}" srcOrd="0" destOrd="0" presId="urn:microsoft.com/office/officeart/2008/layout/VerticalCurvedList"/>
    <dgm:cxn modelId="{2B52A384-E917-449F-A959-76E949065FBF}" type="presParOf" srcId="{AF783B20-B5E9-4E62-BB90-D9A82F2CEAA8}" destId="{3CC7686C-A84E-4826-A1AF-7087B2AEC32D}" srcOrd="9" destOrd="0" presId="urn:microsoft.com/office/officeart/2008/layout/VerticalCurvedList"/>
    <dgm:cxn modelId="{DA4A0893-64BE-4BC7-8F14-6486567096DA}" type="presParOf" srcId="{AF783B20-B5E9-4E62-BB90-D9A82F2CEAA8}" destId="{47001740-8275-40E8-B131-D505E0219108}" srcOrd="10" destOrd="0" presId="urn:microsoft.com/office/officeart/2008/layout/VerticalCurvedList"/>
    <dgm:cxn modelId="{98D77049-9638-4BD6-9D38-B83CDAD35DAC}" type="presParOf" srcId="{47001740-8275-40E8-B131-D505E0219108}" destId="{23E71332-EF60-4BF3-8AC1-FE034E4FF21F}" srcOrd="0" destOrd="0" presId="urn:microsoft.com/office/officeart/2008/layout/VerticalCurvedList"/>
    <dgm:cxn modelId="{5A08F1EF-726D-48F6-B37B-6BF84A643DE8}" type="presParOf" srcId="{AF783B20-B5E9-4E62-BB90-D9A82F2CEAA8}" destId="{97FD872E-4EE4-426A-BAC7-D24D6C2E2F91}" srcOrd="11" destOrd="0" presId="urn:microsoft.com/office/officeart/2008/layout/VerticalCurvedList"/>
    <dgm:cxn modelId="{30A16F37-F165-43FA-964D-F5334BC21C89}" type="presParOf" srcId="{AF783B20-B5E9-4E62-BB90-D9A82F2CEAA8}" destId="{260200CB-BF75-494F-B9C3-03322375983A}" srcOrd="12" destOrd="0" presId="urn:microsoft.com/office/officeart/2008/layout/VerticalCurvedList"/>
    <dgm:cxn modelId="{44C68AEC-2C2B-470B-86BB-039F1FF41C82}" type="presParOf" srcId="{260200CB-BF75-494F-B9C3-03322375983A}" destId="{1972C03E-7EB6-4F5C-80CD-BB57600AF53A}" srcOrd="0" destOrd="0" presId="urn:microsoft.com/office/officeart/2008/layout/VerticalCurvedList"/>
    <dgm:cxn modelId="{BAAF65B1-881A-4056-A508-904BE91A45B1}" type="presParOf" srcId="{AF783B20-B5E9-4E62-BB90-D9A82F2CEAA8}" destId="{7348C1CA-C2A8-4387-ADF7-8B022AD71845}" srcOrd="13" destOrd="0" presId="urn:microsoft.com/office/officeart/2008/layout/VerticalCurvedList"/>
    <dgm:cxn modelId="{42BF038B-1CA5-4F3A-A38F-4759A49C78DC}" type="presParOf" srcId="{AF783B20-B5E9-4E62-BB90-D9A82F2CEAA8}" destId="{A3B60AEB-0048-41B7-A5FA-3E76781D53F6}" srcOrd="14" destOrd="0" presId="urn:microsoft.com/office/officeart/2008/layout/VerticalCurvedList"/>
    <dgm:cxn modelId="{3348F94C-2915-48DD-9AA0-373313646BC4}" type="presParOf" srcId="{A3B60AEB-0048-41B7-A5FA-3E76781D53F6}" destId="{6630EA43-B166-4DD7-A821-281888E4766A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6483BEE-CCE9-4D39-AB21-779B23A49555}" type="doc">
      <dgm:prSet loTypeId="urn:microsoft.com/office/officeart/2008/layout/HorizontalMultiLevelHierarchy" loCatId="hierarchy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68C7C0E-1C1D-47C5-AC58-499FC78B13ED}">
      <dgm:prSet phldrT="[Текст]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b="1" dirty="0">
              <a:latin typeface="Times New Roman" pitchFamily="18" charset="0"/>
              <a:cs typeface="Times New Roman" pitchFamily="18" charset="0"/>
            </a:rPr>
            <a:t>ВОП</a:t>
          </a:r>
        </a:p>
      </dgm:t>
    </dgm:pt>
    <dgm:pt modelId="{E29ED370-2A3A-4F7C-9260-D735C275AF08}" type="parTrans" cxnId="{12F00CF0-4F4F-4015-AD01-537DA261E957}">
      <dgm:prSet/>
      <dgm:spPr/>
      <dgm:t>
        <a:bodyPr/>
        <a:lstStyle/>
        <a:p>
          <a:endParaRPr lang="ru-RU" b="1">
            <a:latin typeface="Times New Roman" pitchFamily="18" charset="0"/>
            <a:cs typeface="Times New Roman" pitchFamily="18" charset="0"/>
          </a:endParaRPr>
        </a:p>
      </dgm:t>
    </dgm:pt>
    <dgm:pt modelId="{32A13B66-0352-49F2-8DC7-65C54161F43A}" type="sibTrans" cxnId="{12F00CF0-4F4F-4015-AD01-537DA261E957}">
      <dgm:prSet/>
      <dgm:spPr/>
      <dgm:t>
        <a:bodyPr/>
        <a:lstStyle/>
        <a:p>
          <a:endParaRPr lang="ru-RU" b="1">
            <a:latin typeface="Times New Roman" pitchFamily="18" charset="0"/>
            <a:cs typeface="Times New Roman" pitchFamily="18" charset="0"/>
          </a:endParaRPr>
        </a:p>
      </dgm:t>
    </dgm:pt>
    <dgm:pt modelId="{4D719366-55B2-42DD-9709-E187F6CEB3AE}">
      <dgm:prSet phldrT="[Текст]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b="1" dirty="0">
              <a:latin typeface="Times New Roman" pitchFamily="18" charset="0"/>
              <a:cs typeface="Times New Roman" pitchFamily="18" charset="0"/>
            </a:rPr>
            <a:t>9</a:t>
          </a:r>
        </a:p>
      </dgm:t>
    </dgm:pt>
    <dgm:pt modelId="{1124C820-37A0-4233-9FF4-8A22F769992E}" type="parTrans" cxnId="{CE275E2C-24D2-49F9-9803-3E5528B0FAFA}">
      <dgm:prSet/>
      <dgm:spPr/>
      <dgm:t>
        <a:bodyPr/>
        <a:lstStyle/>
        <a:p>
          <a:endParaRPr lang="ru-RU" b="1">
            <a:latin typeface="Times New Roman" pitchFamily="18" charset="0"/>
            <a:cs typeface="Times New Roman" pitchFamily="18" charset="0"/>
          </a:endParaRPr>
        </a:p>
      </dgm:t>
    </dgm:pt>
    <dgm:pt modelId="{22E13085-83FA-4934-9239-DBB87F80375B}" type="sibTrans" cxnId="{CE275E2C-24D2-49F9-9803-3E5528B0FAFA}">
      <dgm:prSet/>
      <dgm:spPr/>
      <dgm:t>
        <a:bodyPr/>
        <a:lstStyle/>
        <a:p>
          <a:endParaRPr lang="ru-RU" b="1">
            <a:latin typeface="Times New Roman" pitchFamily="18" charset="0"/>
            <a:cs typeface="Times New Roman" pitchFamily="18" charset="0"/>
          </a:endParaRPr>
        </a:p>
      </dgm:t>
    </dgm:pt>
    <dgm:pt modelId="{7165715C-A1B2-47CB-BB52-6BC6E531A938}">
      <dgm:prSet phldrT="[Текст]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b="1" dirty="0">
              <a:latin typeface="Times New Roman" pitchFamily="18" charset="0"/>
              <a:cs typeface="Times New Roman" pitchFamily="18" charset="0"/>
            </a:rPr>
            <a:t>81,8%</a:t>
          </a:r>
        </a:p>
      </dgm:t>
    </dgm:pt>
    <dgm:pt modelId="{C2B3D0B5-67AF-48A3-8B81-3B62D37273DA}" type="parTrans" cxnId="{85CBDDD9-A97B-4F32-8898-FA25B6E73B55}">
      <dgm:prSet/>
      <dgm:spPr/>
      <dgm:t>
        <a:bodyPr/>
        <a:lstStyle/>
        <a:p>
          <a:endParaRPr lang="ru-RU" b="1">
            <a:latin typeface="Times New Roman" pitchFamily="18" charset="0"/>
            <a:cs typeface="Times New Roman" pitchFamily="18" charset="0"/>
          </a:endParaRPr>
        </a:p>
      </dgm:t>
    </dgm:pt>
    <dgm:pt modelId="{217ACAB7-96A9-4738-B50A-24FF6220843A}" type="sibTrans" cxnId="{85CBDDD9-A97B-4F32-8898-FA25B6E73B55}">
      <dgm:prSet/>
      <dgm:spPr/>
      <dgm:t>
        <a:bodyPr/>
        <a:lstStyle/>
        <a:p>
          <a:endParaRPr lang="ru-RU" b="1">
            <a:latin typeface="Times New Roman" pitchFamily="18" charset="0"/>
            <a:cs typeface="Times New Roman" pitchFamily="18" charset="0"/>
          </a:endParaRPr>
        </a:p>
      </dgm:t>
    </dgm:pt>
    <dgm:pt modelId="{3A03128F-D020-426E-990E-6D6C5B52C042}">
      <dgm:prSet phldrT="[Текст]"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b="1" dirty="0">
              <a:latin typeface="Times New Roman" pitchFamily="18" charset="0"/>
              <a:cs typeface="Times New Roman" pitchFamily="18" charset="0"/>
            </a:rPr>
            <a:t>Педиатрия</a:t>
          </a:r>
        </a:p>
      </dgm:t>
    </dgm:pt>
    <dgm:pt modelId="{F9E360CE-E185-4669-8ABD-8D32F6CC721C}" type="parTrans" cxnId="{7F3BA427-B26F-4F39-B6DA-739E36CABA9C}">
      <dgm:prSet/>
      <dgm:spPr/>
      <dgm:t>
        <a:bodyPr/>
        <a:lstStyle/>
        <a:p>
          <a:endParaRPr lang="ru-RU" b="1">
            <a:latin typeface="Times New Roman" pitchFamily="18" charset="0"/>
            <a:cs typeface="Times New Roman" pitchFamily="18" charset="0"/>
          </a:endParaRPr>
        </a:p>
      </dgm:t>
    </dgm:pt>
    <dgm:pt modelId="{40D91CDE-D0FE-4943-BD9C-DAE0BC6BD2B8}" type="sibTrans" cxnId="{7F3BA427-B26F-4F39-B6DA-739E36CABA9C}">
      <dgm:prSet/>
      <dgm:spPr/>
      <dgm:t>
        <a:bodyPr/>
        <a:lstStyle/>
        <a:p>
          <a:endParaRPr lang="ru-RU" b="1">
            <a:latin typeface="Times New Roman" pitchFamily="18" charset="0"/>
            <a:cs typeface="Times New Roman" pitchFamily="18" charset="0"/>
          </a:endParaRPr>
        </a:p>
      </dgm:t>
    </dgm:pt>
    <dgm:pt modelId="{B58890CB-C8E4-4DDB-BCF6-18443B105B0F}">
      <dgm:prSet phldrT="[Текст]"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b="1" dirty="0">
              <a:latin typeface="Times New Roman" pitchFamily="18" charset="0"/>
              <a:cs typeface="Times New Roman" pitchFamily="18" charset="0"/>
            </a:rPr>
            <a:t>2</a:t>
          </a:r>
        </a:p>
      </dgm:t>
    </dgm:pt>
    <dgm:pt modelId="{A7F73A01-BDC4-4EAC-A932-C0018DF473DB}" type="parTrans" cxnId="{8E2FFEBA-57FF-4990-BA74-ADD25D8662C4}">
      <dgm:prSet/>
      <dgm:spPr/>
      <dgm:t>
        <a:bodyPr/>
        <a:lstStyle/>
        <a:p>
          <a:endParaRPr lang="ru-RU" b="1">
            <a:latin typeface="Times New Roman" pitchFamily="18" charset="0"/>
            <a:cs typeface="Times New Roman" pitchFamily="18" charset="0"/>
          </a:endParaRPr>
        </a:p>
      </dgm:t>
    </dgm:pt>
    <dgm:pt modelId="{8ADE10A6-9179-4293-8D59-FC7A67185B36}" type="sibTrans" cxnId="{8E2FFEBA-57FF-4990-BA74-ADD25D8662C4}">
      <dgm:prSet/>
      <dgm:spPr/>
      <dgm:t>
        <a:bodyPr/>
        <a:lstStyle/>
        <a:p>
          <a:endParaRPr lang="ru-RU" b="1">
            <a:latin typeface="Times New Roman" pitchFamily="18" charset="0"/>
            <a:cs typeface="Times New Roman" pitchFamily="18" charset="0"/>
          </a:endParaRPr>
        </a:p>
      </dgm:t>
    </dgm:pt>
    <dgm:pt modelId="{537DEC4D-8FA9-44D5-9663-C5F9CC67098F}">
      <dgm:prSet phldrT="[Текст]"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b="1" dirty="0">
              <a:latin typeface="Times New Roman" pitchFamily="18" charset="0"/>
              <a:cs typeface="Times New Roman" pitchFamily="18" charset="0"/>
            </a:rPr>
            <a:t>18,2%</a:t>
          </a:r>
        </a:p>
      </dgm:t>
    </dgm:pt>
    <dgm:pt modelId="{82A4C4A8-C9C9-4ECF-8DB4-6628A5E9C319}" type="parTrans" cxnId="{3B45E7E2-21D9-4AD3-9A09-3B661B755F1D}">
      <dgm:prSet/>
      <dgm:spPr/>
      <dgm:t>
        <a:bodyPr/>
        <a:lstStyle/>
        <a:p>
          <a:endParaRPr lang="ru-RU" b="1">
            <a:latin typeface="Times New Roman" pitchFamily="18" charset="0"/>
            <a:cs typeface="Times New Roman" pitchFamily="18" charset="0"/>
          </a:endParaRPr>
        </a:p>
      </dgm:t>
    </dgm:pt>
    <dgm:pt modelId="{B7E207D4-E876-4D29-9D53-013C5A4B51C4}" type="sibTrans" cxnId="{3B45E7E2-21D9-4AD3-9A09-3B661B755F1D}">
      <dgm:prSet/>
      <dgm:spPr/>
      <dgm:t>
        <a:bodyPr/>
        <a:lstStyle/>
        <a:p>
          <a:endParaRPr lang="ru-RU" b="1">
            <a:latin typeface="Times New Roman" pitchFamily="18" charset="0"/>
            <a:cs typeface="Times New Roman" pitchFamily="18" charset="0"/>
          </a:endParaRPr>
        </a:p>
      </dgm:t>
    </dgm:pt>
    <dgm:pt modelId="{B2103E4A-3DA6-41B0-B399-A04F0BA32776}">
      <dgm:prSet phldrT="[Текст]"/>
      <dgm:spPr/>
      <dgm:t>
        <a:bodyPr/>
        <a:lstStyle/>
        <a:p>
          <a:r>
            <a:rPr lang="ru-RU" b="1" dirty="0" err="1">
              <a:latin typeface="Times New Roman" pitchFamily="18" charset="0"/>
              <a:cs typeface="Times New Roman" pitchFamily="18" charset="0"/>
            </a:rPr>
            <a:t>Аумақтық</a:t>
          </a:r>
          <a:r>
            <a:rPr lang="ru-RU" b="1" dirty="0">
              <a:latin typeface="Times New Roman" pitchFamily="18" charset="0"/>
              <a:cs typeface="Times New Roman" pitchFamily="18" charset="0"/>
            </a:rPr>
            <a:t> </a:t>
          </a:r>
          <a:r>
            <a:rPr lang="ru-RU" b="1" dirty="0" err="1">
              <a:latin typeface="Times New Roman" pitchFamily="18" charset="0"/>
              <a:cs typeface="Times New Roman" pitchFamily="18" charset="0"/>
            </a:rPr>
            <a:t>қызмет</a:t>
          </a:r>
          <a:endParaRPr lang="ru-RU" b="1" dirty="0">
            <a:latin typeface="Times New Roman" pitchFamily="18" charset="0"/>
            <a:cs typeface="Times New Roman" pitchFamily="18" charset="0"/>
          </a:endParaRPr>
        </a:p>
      </dgm:t>
    </dgm:pt>
    <dgm:pt modelId="{AC0FBA4B-D5D5-4FB2-A399-CC0EB445D35B}" type="parTrans" cxnId="{D4DC876B-0DEF-4ED6-AF74-49C1BE71E772}">
      <dgm:prSet/>
      <dgm:spPr/>
      <dgm:t>
        <a:bodyPr/>
        <a:lstStyle/>
        <a:p>
          <a:endParaRPr lang="ru-RU" b="1">
            <a:latin typeface="Times New Roman" pitchFamily="18" charset="0"/>
            <a:cs typeface="Times New Roman" pitchFamily="18" charset="0"/>
          </a:endParaRPr>
        </a:p>
      </dgm:t>
    </dgm:pt>
    <dgm:pt modelId="{36BE4FF1-2651-425B-85D2-1BF04D7D0E3C}" type="sibTrans" cxnId="{D4DC876B-0DEF-4ED6-AF74-49C1BE71E772}">
      <dgm:prSet/>
      <dgm:spPr/>
      <dgm:t>
        <a:bodyPr/>
        <a:lstStyle/>
        <a:p>
          <a:endParaRPr lang="ru-RU" b="1">
            <a:latin typeface="Times New Roman" pitchFamily="18" charset="0"/>
            <a:cs typeface="Times New Roman" pitchFamily="18" charset="0"/>
          </a:endParaRPr>
        </a:p>
      </dgm:t>
    </dgm:pt>
    <dgm:pt modelId="{8D8CCD38-1014-4103-94BA-43989325CDDD}" type="pres">
      <dgm:prSet presAssocID="{36483BEE-CCE9-4D39-AB21-779B23A49555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BE945B34-95F7-488A-9D6F-7ADBFE00C43F}" type="pres">
      <dgm:prSet presAssocID="{B2103E4A-3DA6-41B0-B399-A04F0BA32776}" presName="root1" presStyleCnt="0"/>
      <dgm:spPr/>
    </dgm:pt>
    <dgm:pt modelId="{2CA31658-D62D-4BDD-8693-4095292494B2}" type="pres">
      <dgm:prSet presAssocID="{B2103E4A-3DA6-41B0-B399-A04F0BA32776}" presName="LevelOneTextNode" presStyleLbl="node0" presStyleIdx="0" presStyleCnt="1" custLinFactNeighborX="-91175" custLinFactNeighborY="-645">
        <dgm:presLayoutVars>
          <dgm:chPref val="3"/>
        </dgm:presLayoutVars>
      </dgm:prSet>
      <dgm:spPr/>
    </dgm:pt>
    <dgm:pt modelId="{A341CFBE-F34E-4759-B96D-8979BC9C4D3C}" type="pres">
      <dgm:prSet presAssocID="{B2103E4A-3DA6-41B0-B399-A04F0BA32776}" presName="level2hierChild" presStyleCnt="0"/>
      <dgm:spPr/>
    </dgm:pt>
    <dgm:pt modelId="{D0C2A674-9816-4799-9423-1FAF13438AEE}" type="pres">
      <dgm:prSet presAssocID="{E29ED370-2A3A-4F7C-9260-D735C275AF08}" presName="conn2-1" presStyleLbl="parChTrans1D2" presStyleIdx="0" presStyleCnt="2"/>
      <dgm:spPr/>
    </dgm:pt>
    <dgm:pt modelId="{E8502512-3601-4878-984A-EB3D9A077BF7}" type="pres">
      <dgm:prSet presAssocID="{E29ED370-2A3A-4F7C-9260-D735C275AF08}" presName="connTx" presStyleLbl="parChTrans1D2" presStyleIdx="0" presStyleCnt="2"/>
      <dgm:spPr/>
    </dgm:pt>
    <dgm:pt modelId="{C6076C2C-8DD7-4DDC-BB3F-79CEC5C132D4}" type="pres">
      <dgm:prSet presAssocID="{D68C7C0E-1C1D-47C5-AC58-499FC78B13ED}" presName="root2" presStyleCnt="0"/>
      <dgm:spPr/>
    </dgm:pt>
    <dgm:pt modelId="{846F01D2-3E4C-4502-B5EC-6B82AACFBAE0}" type="pres">
      <dgm:prSet presAssocID="{D68C7C0E-1C1D-47C5-AC58-499FC78B13ED}" presName="LevelTwoTextNode" presStyleLbl="node2" presStyleIdx="0" presStyleCnt="2" custLinFactNeighborX="-11674" custLinFactNeighborY="-1508">
        <dgm:presLayoutVars>
          <dgm:chPref val="3"/>
        </dgm:presLayoutVars>
      </dgm:prSet>
      <dgm:spPr/>
    </dgm:pt>
    <dgm:pt modelId="{16A8D7A4-6502-4C39-9EDD-2AB28EA10647}" type="pres">
      <dgm:prSet presAssocID="{D68C7C0E-1C1D-47C5-AC58-499FC78B13ED}" presName="level3hierChild" presStyleCnt="0"/>
      <dgm:spPr/>
    </dgm:pt>
    <dgm:pt modelId="{73C55A95-9F6D-4698-A111-6E04A030ECB7}" type="pres">
      <dgm:prSet presAssocID="{1124C820-37A0-4233-9FF4-8A22F769992E}" presName="conn2-1" presStyleLbl="parChTrans1D3" presStyleIdx="0" presStyleCnt="4"/>
      <dgm:spPr/>
    </dgm:pt>
    <dgm:pt modelId="{43FD33CF-54C1-48F6-8D93-BE1479ACAB19}" type="pres">
      <dgm:prSet presAssocID="{1124C820-37A0-4233-9FF4-8A22F769992E}" presName="connTx" presStyleLbl="parChTrans1D3" presStyleIdx="0" presStyleCnt="4"/>
      <dgm:spPr/>
    </dgm:pt>
    <dgm:pt modelId="{39A8D510-6FF9-45DD-9F55-33C5C49AC24C}" type="pres">
      <dgm:prSet presAssocID="{4D719366-55B2-42DD-9709-E187F6CEB3AE}" presName="root2" presStyleCnt="0"/>
      <dgm:spPr/>
    </dgm:pt>
    <dgm:pt modelId="{1A6E9B93-DFA8-4DEA-82DD-036FA23AD8BA}" type="pres">
      <dgm:prSet presAssocID="{4D719366-55B2-42DD-9709-E187F6CEB3AE}" presName="LevelTwoTextNode" presStyleLbl="node3" presStyleIdx="0" presStyleCnt="4">
        <dgm:presLayoutVars>
          <dgm:chPref val="3"/>
        </dgm:presLayoutVars>
      </dgm:prSet>
      <dgm:spPr/>
    </dgm:pt>
    <dgm:pt modelId="{0D3D5ADD-A9BC-4E24-A6A1-9D522E1419C2}" type="pres">
      <dgm:prSet presAssocID="{4D719366-55B2-42DD-9709-E187F6CEB3AE}" presName="level3hierChild" presStyleCnt="0"/>
      <dgm:spPr/>
    </dgm:pt>
    <dgm:pt modelId="{F3A18C95-8932-43D2-918E-5591A10A7921}" type="pres">
      <dgm:prSet presAssocID="{C2B3D0B5-67AF-48A3-8B81-3B62D37273DA}" presName="conn2-1" presStyleLbl="parChTrans1D3" presStyleIdx="1" presStyleCnt="4"/>
      <dgm:spPr/>
    </dgm:pt>
    <dgm:pt modelId="{97D9D9BE-386E-4CAD-BD60-22D0E8DD3B14}" type="pres">
      <dgm:prSet presAssocID="{C2B3D0B5-67AF-48A3-8B81-3B62D37273DA}" presName="connTx" presStyleLbl="parChTrans1D3" presStyleIdx="1" presStyleCnt="4"/>
      <dgm:spPr/>
    </dgm:pt>
    <dgm:pt modelId="{2BB684EC-BC79-4511-A772-B17398714D7E}" type="pres">
      <dgm:prSet presAssocID="{7165715C-A1B2-47CB-BB52-6BC6E531A938}" presName="root2" presStyleCnt="0"/>
      <dgm:spPr/>
    </dgm:pt>
    <dgm:pt modelId="{6F311096-1FEE-4C95-AB4F-F07D4DCE6727}" type="pres">
      <dgm:prSet presAssocID="{7165715C-A1B2-47CB-BB52-6BC6E531A938}" presName="LevelTwoTextNode" presStyleLbl="node3" presStyleIdx="1" presStyleCnt="4">
        <dgm:presLayoutVars>
          <dgm:chPref val="3"/>
        </dgm:presLayoutVars>
      </dgm:prSet>
      <dgm:spPr/>
    </dgm:pt>
    <dgm:pt modelId="{0BFF2A49-A531-420D-87F5-865240A441CC}" type="pres">
      <dgm:prSet presAssocID="{7165715C-A1B2-47CB-BB52-6BC6E531A938}" presName="level3hierChild" presStyleCnt="0"/>
      <dgm:spPr/>
    </dgm:pt>
    <dgm:pt modelId="{AB55C79D-C9A8-4655-8FE4-E90A749A82B0}" type="pres">
      <dgm:prSet presAssocID="{F9E360CE-E185-4669-8ABD-8D32F6CC721C}" presName="conn2-1" presStyleLbl="parChTrans1D2" presStyleIdx="1" presStyleCnt="2"/>
      <dgm:spPr/>
    </dgm:pt>
    <dgm:pt modelId="{B0F3E005-91C9-46BD-9228-FACC58B7C83A}" type="pres">
      <dgm:prSet presAssocID="{F9E360CE-E185-4669-8ABD-8D32F6CC721C}" presName="connTx" presStyleLbl="parChTrans1D2" presStyleIdx="1" presStyleCnt="2"/>
      <dgm:spPr/>
    </dgm:pt>
    <dgm:pt modelId="{0997DC84-C647-4B61-8297-287AAB237324}" type="pres">
      <dgm:prSet presAssocID="{3A03128F-D020-426E-990E-6D6C5B52C042}" presName="root2" presStyleCnt="0"/>
      <dgm:spPr/>
    </dgm:pt>
    <dgm:pt modelId="{62F4B74D-8E3F-4D37-921B-59DBC69932F7}" type="pres">
      <dgm:prSet presAssocID="{3A03128F-D020-426E-990E-6D6C5B52C042}" presName="LevelTwoTextNode" presStyleLbl="node2" presStyleIdx="1" presStyleCnt="2" custLinFactNeighborX="-11674" custLinFactNeighborY="1934">
        <dgm:presLayoutVars>
          <dgm:chPref val="3"/>
        </dgm:presLayoutVars>
      </dgm:prSet>
      <dgm:spPr/>
    </dgm:pt>
    <dgm:pt modelId="{66F2C331-154A-4162-B8D2-3FA1BB844BD0}" type="pres">
      <dgm:prSet presAssocID="{3A03128F-D020-426E-990E-6D6C5B52C042}" presName="level3hierChild" presStyleCnt="0"/>
      <dgm:spPr/>
    </dgm:pt>
    <dgm:pt modelId="{296855D7-948B-4CD8-8322-6ED5CDD1B147}" type="pres">
      <dgm:prSet presAssocID="{A7F73A01-BDC4-4EAC-A932-C0018DF473DB}" presName="conn2-1" presStyleLbl="parChTrans1D3" presStyleIdx="2" presStyleCnt="4"/>
      <dgm:spPr/>
    </dgm:pt>
    <dgm:pt modelId="{D667C4E3-54F5-40FA-87CE-F6201B8247CD}" type="pres">
      <dgm:prSet presAssocID="{A7F73A01-BDC4-4EAC-A932-C0018DF473DB}" presName="connTx" presStyleLbl="parChTrans1D3" presStyleIdx="2" presStyleCnt="4"/>
      <dgm:spPr/>
    </dgm:pt>
    <dgm:pt modelId="{3FA301E1-84A9-46D8-8BF7-4DD738620D99}" type="pres">
      <dgm:prSet presAssocID="{B58890CB-C8E4-4DDB-BCF6-18443B105B0F}" presName="root2" presStyleCnt="0"/>
      <dgm:spPr/>
    </dgm:pt>
    <dgm:pt modelId="{E090AE48-8828-4DB4-A048-59FC650EC894}" type="pres">
      <dgm:prSet presAssocID="{B58890CB-C8E4-4DDB-BCF6-18443B105B0F}" presName="LevelTwoTextNode" presStyleLbl="node3" presStyleIdx="2" presStyleCnt="4">
        <dgm:presLayoutVars>
          <dgm:chPref val="3"/>
        </dgm:presLayoutVars>
      </dgm:prSet>
      <dgm:spPr/>
    </dgm:pt>
    <dgm:pt modelId="{CEAC58D2-1B5E-4AF7-9374-A8B7D6136323}" type="pres">
      <dgm:prSet presAssocID="{B58890CB-C8E4-4DDB-BCF6-18443B105B0F}" presName="level3hierChild" presStyleCnt="0"/>
      <dgm:spPr/>
    </dgm:pt>
    <dgm:pt modelId="{D6F9C699-0CC5-4853-A65E-98D768BB63B4}" type="pres">
      <dgm:prSet presAssocID="{82A4C4A8-C9C9-4ECF-8DB4-6628A5E9C319}" presName="conn2-1" presStyleLbl="parChTrans1D3" presStyleIdx="3" presStyleCnt="4"/>
      <dgm:spPr/>
    </dgm:pt>
    <dgm:pt modelId="{A92E2381-9C2F-4AF0-9486-D30FFA5880A2}" type="pres">
      <dgm:prSet presAssocID="{82A4C4A8-C9C9-4ECF-8DB4-6628A5E9C319}" presName="connTx" presStyleLbl="parChTrans1D3" presStyleIdx="3" presStyleCnt="4"/>
      <dgm:spPr/>
    </dgm:pt>
    <dgm:pt modelId="{8E62ABC6-DA81-489F-8F55-6097E1D6D72E}" type="pres">
      <dgm:prSet presAssocID="{537DEC4D-8FA9-44D5-9663-C5F9CC67098F}" presName="root2" presStyleCnt="0"/>
      <dgm:spPr/>
    </dgm:pt>
    <dgm:pt modelId="{486169FE-31A5-4D39-9265-2329D257A6E7}" type="pres">
      <dgm:prSet presAssocID="{537DEC4D-8FA9-44D5-9663-C5F9CC67098F}" presName="LevelTwoTextNode" presStyleLbl="node3" presStyleIdx="3" presStyleCnt="4">
        <dgm:presLayoutVars>
          <dgm:chPref val="3"/>
        </dgm:presLayoutVars>
      </dgm:prSet>
      <dgm:spPr/>
    </dgm:pt>
    <dgm:pt modelId="{8EC71F21-EE98-4317-B9B0-6A78F2C94CA2}" type="pres">
      <dgm:prSet presAssocID="{537DEC4D-8FA9-44D5-9663-C5F9CC67098F}" presName="level3hierChild" presStyleCnt="0"/>
      <dgm:spPr/>
    </dgm:pt>
  </dgm:ptLst>
  <dgm:cxnLst>
    <dgm:cxn modelId="{C3920702-DD2D-4290-A28B-7CC5F37A5DEE}" type="presOf" srcId="{1124C820-37A0-4233-9FF4-8A22F769992E}" destId="{73C55A95-9F6D-4698-A111-6E04A030ECB7}" srcOrd="0" destOrd="0" presId="urn:microsoft.com/office/officeart/2008/layout/HorizontalMultiLevelHierarchy"/>
    <dgm:cxn modelId="{9313430F-FCD9-4D13-9689-5FF316DD6B48}" type="presOf" srcId="{4D719366-55B2-42DD-9709-E187F6CEB3AE}" destId="{1A6E9B93-DFA8-4DEA-82DD-036FA23AD8BA}" srcOrd="0" destOrd="0" presId="urn:microsoft.com/office/officeart/2008/layout/HorizontalMultiLevelHierarchy"/>
    <dgm:cxn modelId="{CCF75A24-1F9D-40F9-A929-A1B70B069635}" type="presOf" srcId="{F9E360CE-E185-4669-8ABD-8D32F6CC721C}" destId="{B0F3E005-91C9-46BD-9228-FACC58B7C83A}" srcOrd="1" destOrd="0" presId="urn:microsoft.com/office/officeart/2008/layout/HorizontalMultiLevelHierarchy"/>
    <dgm:cxn modelId="{F51D2226-3D38-49B5-8862-1BD9B4566861}" type="presOf" srcId="{E29ED370-2A3A-4F7C-9260-D735C275AF08}" destId="{E8502512-3601-4878-984A-EB3D9A077BF7}" srcOrd="1" destOrd="0" presId="urn:microsoft.com/office/officeart/2008/layout/HorizontalMultiLevelHierarchy"/>
    <dgm:cxn modelId="{7F3BA427-B26F-4F39-B6DA-739E36CABA9C}" srcId="{B2103E4A-3DA6-41B0-B399-A04F0BA32776}" destId="{3A03128F-D020-426E-990E-6D6C5B52C042}" srcOrd="1" destOrd="0" parTransId="{F9E360CE-E185-4669-8ABD-8D32F6CC721C}" sibTransId="{40D91CDE-D0FE-4943-BD9C-DAE0BC6BD2B8}"/>
    <dgm:cxn modelId="{E5190E29-25C2-4C4D-8F1E-1FC3A073438B}" type="presOf" srcId="{36483BEE-CCE9-4D39-AB21-779B23A49555}" destId="{8D8CCD38-1014-4103-94BA-43989325CDDD}" srcOrd="0" destOrd="0" presId="urn:microsoft.com/office/officeart/2008/layout/HorizontalMultiLevelHierarchy"/>
    <dgm:cxn modelId="{CE275E2C-24D2-49F9-9803-3E5528B0FAFA}" srcId="{D68C7C0E-1C1D-47C5-AC58-499FC78B13ED}" destId="{4D719366-55B2-42DD-9709-E187F6CEB3AE}" srcOrd="0" destOrd="0" parTransId="{1124C820-37A0-4233-9FF4-8A22F769992E}" sibTransId="{22E13085-83FA-4934-9239-DBB87F80375B}"/>
    <dgm:cxn modelId="{8330622D-3696-4316-80C9-3FEC0263F34D}" type="presOf" srcId="{537DEC4D-8FA9-44D5-9663-C5F9CC67098F}" destId="{486169FE-31A5-4D39-9265-2329D257A6E7}" srcOrd="0" destOrd="0" presId="urn:microsoft.com/office/officeart/2008/layout/HorizontalMultiLevelHierarchy"/>
    <dgm:cxn modelId="{D99C0D33-B094-47DA-9E58-195FEEECD0D8}" type="presOf" srcId="{C2B3D0B5-67AF-48A3-8B81-3B62D37273DA}" destId="{97D9D9BE-386E-4CAD-BD60-22D0E8DD3B14}" srcOrd="1" destOrd="0" presId="urn:microsoft.com/office/officeart/2008/layout/HorizontalMultiLevelHierarchy"/>
    <dgm:cxn modelId="{4DE2353C-EFDB-4489-A115-38198C8E1F68}" type="presOf" srcId="{82A4C4A8-C9C9-4ECF-8DB4-6628A5E9C319}" destId="{D6F9C699-0CC5-4853-A65E-98D768BB63B4}" srcOrd="0" destOrd="0" presId="urn:microsoft.com/office/officeart/2008/layout/HorizontalMultiLevelHierarchy"/>
    <dgm:cxn modelId="{0AD61062-5385-46F5-A11E-584ADFE8E1A3}" type="presOf" srcId="{1124C820-37A0-4233-9FF4-8A22F769992E}" destId="{43FD33CF-54C1-48F6-8D93-BE1479ACAB19}" srcOrd="1" destOrd="0" presId="urn:microsoft.com/office/officeart/2008/layout/HorizontalMultiLevelHierarchy"/>
    <dgm:cxn modelId="{7677D86A-55EC-4067-A6C1-48C865BFDE02}" type="presOf" srcId="{E29ED370-2A3A-4F7C-9260-D735C275AF08}" destId="{D0C2A674-9816-4799-9423-1FAF13438AEE}" srcOrd="0" destOrd="0" presId="urn:microsoft.com/office/officeart/2008/layout/HorizontalMultiLevelHierarchy"/>
    <dgm:cxn modelId="{D4DC876B-0DEF-4ED6-AF74-49C1BE71E772}" srcId="{36483BEE-CCE9-4D39-AB21-779B23A49555}" destId="{B2103E4A-3DA6-41B0-B399-A04F0BA32776}" srcOrd="0" destOrd="0" parTransId="{AC0FBA4B-D5D5-4FB2-A399-CC0EB445D35B}" sibTransId="{36BE4FF1-2651-425B-85D2-1BF04D7D0E3C}"/>
    <dgm:cxn modelId="{1F1F8D78-0F12-484E-AA53-83DD5F92FA9B}" type="presOf" srcId="{7165715C-A1B2-47CB-BB52-6BC6E531A938}" destId="{6F311096-1FEE-4C95-AB4F-F07D4DCE6727}" srcOrd="0" destOrd="0" presId="urn:microsoft.com/office/officeart/2008/layout/HorizontalMultiLevelHierarchy"/>
    <dgm:cxn modelId="{907B2A80-5768-49B3-AE43-EA7415A5EF99}" type="presOf" srcId="{F9E360CE-E185-4669-8ABD-8D32F6CC721C}" destId="{AB55C79D-C9A8-4655-8FE4-E90A749A82B0}" srcOrd="0" destOrd="0" presId="urn:microsoft.com/office/officeart/2008/layout/HorizontalMultiLevelHierarchy"/>
    <dgm:cxn modelId="{5157DA9F-E7DC-466F-807E-882463348FCD}" type="presOf" srcId="{D68C7C0E-1C1D-47C5-AC58-499FC78B13ED}" destId="{846F01D2-3E4C-4502-B5EC-6B82AACFBAE0}" srcOrd="0" destOrd="0" presId="urn:microsoft.com/office/officeart/2008/layout/HorizontalMultiLevelHierarchy"/>
    <dgm:cxn modelId="{549385A6-ED77-47B6-A97A-B98806338EC5}" type="presOf" srcId="{A7F73A01-BDC4-4EAC-A932-C0018DF473DB}" destId="{296855D7-948B-4CD8-8322-6ED5CDD1B147}" srcOrd="0" destOrd="0" presId="urn:microsoft.com/office/officeart/2008/layout/HorizontalMultiLevelHierarchy"/>
    <dgm:cxn modelId="{CB798AA9-6D4C-4884-A68B-83B995F165E7}" type="presOf" srcId="{B58890CB-C8E4-4DDB-BCF6-18443B105B0F}" destId="{E090AE48-8828-4DB4-A048-59FC650EC894}" srcOrd="0" destOrd="0" presId="urn:microsoft.com/office/officeart/2008/layout/HorizontalMultiLevelHierarchy"/>
    <dgm:cxn modelId="{8E2FFEBA-57FF-4990-BA74-ADD25D8662C4}" srcId="{3A03128F-D020-426E-990E-6D6C5B52C042}" destId="{B58890CB-C8E4-4DDB-BCF6-18443B105B0F}" srcOrd="0" destOrd="0" parTransId="{A7F73A01-BDC4-4EAC-A932-C0018DF473DB}" sibTransId="{8ADE10A6-9179-4293-8D59-FC7A67185B36}"/>
    <dgm:cxn modelId="{E63EB1C6-D022-404A-8C9B-0E56B99C3323}" type="presOf" srcId="{3A03128F-D020-426E-990E-6D6C5B52C042}" destId="{62F4B74D-8E3F-4D37-921B-59DBC69932F7}" srcOrd="0" destOrd="0" presId="urn:microsoft.com/office/officeart/2008/layout/HorizontalMultiLevelHierarchy"/>
    <dgm:cxn modelId="{2A1981C8-0FF7-4CC1-8989-955BAF01033C}" type="presOf" srcId="{C2B3D0B5-67AF-48A3-8B81-3B62D37273DA}" destId="{F3A18C95-8932-43D2-918E-5591A10A7921}" srcOrd="0" destOrd="0" presId="urn:microsoft.com/office/officeart/2008/layout/HorizontalMultiLevelHierarchy"/>
    <dgm:cxn modelId="{5F41F2C8-735D-4A76-A798-AA68CE57A3E1}" type="presOf" srcId="{A7F73A01-BDC4-4EAC-A932-C0018DF473DB}" destId="{D667C4E3-54F5-40FA-87CE-F6201B8247CD}" srcOrd="1" destOrd="0" presId="urn:microsoft.com/office/officeart/2008/layout/HorizontalMultiLevelHierarchy"/>
    <dgm:cxn modelId="{85CBDDD9-A97B-4F32-8898-FA25B6E73B55}" srcId="{D68C7C0E-1C1D-47C5-AC58-499FC78B13ED}" destId="{7165715C-A1B2-47CB-BB52-6BC6E531A938}" srcOrd="1" destOrd="0" parTransId="{C2B3D0B5-67AF-48A3-8B81-3B62D37273DA}" sibTransId="{217ACAB7-96A9-4738-B50A-24FF6220843A}"/>
    <dgm:cxn modelId="{3B45E7E2-21D9-4AD3-9A09-3B661B755F1D}" srcId="{3A03128F-D020-426E-990E-6D6C5B52C042}" destId="{537DEC4D-8FA9-44D5-9663-C5F9CC67098F}" srcOrd="1" destOrd="0" parTransId="{82A4C4A8-C9C9-4ECF-8DB4-6628A5E9C319}" sibTransId="{B7E207D4-E876-4D29-9D53-013C5A4B51C4}"/>
    <dgm:cxn modelId="{12F00CF0-4F4F-4015-AD01-537DA261E957}" srcId="{B2103E4A-3DA6-41B0-B399-A04F0BA32776}" destId="{D68C7C0E-1C1D-47C5-AC58-499FC78B13ED}" srcOrd="0" destOrd="0" parTransId="{E29ED370-2A3A-4F7C-9260-D735C275AF08}" sibTransId="{32A13B66-0352-49F2-8DC7-65C54161F43A}"/>
    <dgm:cxn modelId="{F302A1FB-2328-4A16-B4DE-B40A2DB2CC2C}" type="presOf" srcId="{82A4C4A8-C9C9-4ECF-8DB4-6628A5E9C319}" destId="{A92E2381-9C2F-4AF0-9486-D30FFA5880A2}" srcOrd="1" destOrd="0" presId="urn:microsoft.com/office/officeart/2008/layout/HorizontalMultiLevelHierarchy"/>
    <dgm:cxn modelId="{C91C03FF-AD47-48D2-9ADF-FE3D71AEF546}" type="presOf" srcId="{B2103E4A-3DA6-41B0-B399-A04F0BA32776}" destId="{2CA31658-D62D-4BDD-8693-4095292494B2}" srcOrd="0" destOrd="0" presId="urn:microsoft.com/office/officeart/2008/layout/HorizontalMultiLevelHierarchy"/>
    <dgm:cxn modelId="{440A36FB-EB9E-4529-8131-F1DD2295C5CA}" type="presParOf" srcId="{8D8CCD38-1014-4103-94BA-43989325CDDD}" destId="{BE945B34-95F7-488A-9D6F-7ADBFE00C43F}" srcOrd="0" destOrd="0" presId="urn:microsoft.com/office/officeart/2008/layout/HorizontalMultiLevelHierarchy"/>
    <dgm:cxn modelId="{048D5AE0-7CF5-4266-AAFE-6CB156D21437}" type="presParOf" srcId="{BE945B34-95F7-488A-9D6F-7ADBFE00C43F}" destId="{2CA31658-D62D-4BDD-8693-4095292494B2}" srcOrd="0" destOrd="0" presId="urn:microsoft.com/office/officeart/2008/layout/HorizontalMultiLevelHierarchy"/>
    <dgm:cxn modelId="{2F4736B4-8851-445D-8780-E5A3E4061341}" type="presParOf" srcId="{BE945B34-95F7-488A-9D6F-7ADBFE00C43F}" destId="{A341CFBE-F34E-4759-B96D-8979BC9C4D3C}" srcOrd="1" destOrd="0" presId="urn:microsoft.com/office/officeart/2008/layout/HorizontalMultiLevelHierarchy"/>
    <dgm:cxn modelId="{E64FD266-87E0-42D2-9C08-720382A8C950}" type="presParOf" srcId="{A341CFBE-F34E-4759-B96D-8979BC9C4D3C}" destId="{D0C2A674-9816-4799-9423-1FAF13438AEE}" srcOrd="0" destOrd="0" presId="urn:microsoft.com/office/officeart/2008/layout/HorizontalMultiLevelHierarchy"/>
    <dgm:cxn modelId="{478F8A4A-7554-4F2B-8D67-FE52863A499E}" type="presParOf" srcId="{D0C2A674-9816-4799-9423-1FAF13438AEE}" destId="{E8502512-3601-4878-984A-EB3D9A077BF7}" srcOrd="0" destOrd="0" presId="urn:microsoft.com/office/officeart/2008/layout/HorizontalMultiLevelHierarchy"/>
    <dgm:cxn modelId="{AAF3F774-91B2-48CA-A3FB-71D763EE950A}" type="presParOf" srcId="{A341CFBE-F34E-4759-B96D-8979BC9C4D3C}" destId="{C6076C2C-8DD7-4DDC-BB3F-79CEC5C132D4}" srcOrd="1" destOrd="0" presId="urn:microsoft.com/office/officeart/2008/layout/HorizontalMultiLevelHierarchy"/>
    <dgm:cxn modelId="{CB6798EE-7574-4C6E-87BB-5E3B32A9F9C7}" type="presParOf" srcId="{C6076C2C-8DD7-4DDC-BB3F-79CEC5C132D4}" destId="{846F01D2-3E4C-4502-B5EC-6B82AACFBAE0}" srcOrd="0" destOrd="0" presId="urn:microsoft.com/office/officeart/2008/layout/HorizontalMultiLevelHierarchy"/>
    <dgm:cxn modelId="{01BFC5A0-55FC-4D9F-8D3E-4E1A4AC98A34}" type="presParOf" srcId="{C6076C2C-8DD7-4DDC-BB3F-79CEC5C132D4}" destId="{16A8D7A4-6502-4C39-9EDD-2AB28EA10647}" srcOrd="1" destOrd="0" presId="urn:microsoft.com/office/officeart/2008/layout/HorizontalMultiLevelHierarchy"/>
    <dgm:cxn modelId="{5BF34F4D-E289-4EDE-96BC-EF76A382F8B0}" type="presParOf" srcId="{16A8D7A4-6502-4C39-9EDD-2AB28EA10647}" destId="{73C55A95-9F6D-4698-A111-6E04A030ECB7}" srcOrd="0" destOrd="0" presId="urn:microsoft.com/office/officeart/2008/layout/HorizontalMultiLevelHierarchy"/>
    <dgm:cxn modelId="{06930E4C-CFE0-47CF-8216-303719FA3761}" type="presParOf" srcId="{73C55A95-9F6D-4698-A111-6E04A030ECB7}" destId="{43FD33CF-54C1-48F6-8D93-BE1479ACAB19}" srcOrd="0" destOrd="0" presId="urn:microsoft.com/office/officeart/2008/layout/HorizontalMultiLevelHierarchy"/>
    <dgm:cxn modelId="{1D45D2AF-A043-4DC4-8F32-2063BAFB5844}" type="presParOf" srcId="{16A8D7A4-6502-4C39-9EDD-2AB28EA10647}" destId="{39A8D510-6FF9-45DD-9F55-33C5C49AC24C}" srcOrd="1" destOrd="0" presId="urn:microsoft.com/office/officeart/2008/layout/HorizontalMultiLevelHierarchy"/>
    <dgm:cxn modelId="{5CF69E2F-D389-47A6-800C-9234C1CBB325}" type="presParOf" srcId="{39A8D510-6FF9-45DD-9F55-33C5C49AC24C}" destId="{1A6E9B93-DFA8-4DEA-82DD-036FA23AD8BA}" srcOrd="0" destOrd="0" presId="urn:microsoft.com/office/officeart/2008/layout/HorizontalMultiLevelHierarchy"/>
    <dgm:cxn modelId="{1177F2D5-601F-4905-B887-A3C624FBAD95}" type="presParOf" srcId="{39A8D510-6FF9-45DD-9F55-33C5C49AC24C}" destId="{0D3D5ADD-A9BC-4E24-A6A1-9D522E1419C2}" srcOrd="1" destOrd="0" presId="urn:microsoft.com/office/officeart/2008/layout/HorizontalMultiLevelHierarchy"/>
    <dgm:cxn modelId="{50A815CE-A153-45D6-9CFD-09E41DFE90FD}" type="presParOf" srcId="{16A8D7A4-6502-4C39-9EDD-2AB28EA10647}" destId="{F3A18C95-8932-43D2-918E-5591A10A7921}" srcOrd="2" destOrd="0" presId="urn:microsoft.com/office/officeart/2008/layout/HorizontalMultiLevelHierarchy"/>
    <dgm:cxn modelId="{A176A0BB-D76D-46CC-B6FA-75719E7524E7}" type="presParOf" srcId="{F3A18C95-8932-43D2-918E-5591A10A7921}" destId="{97D9D9BE-386E-4CAD-BD60-22D0E8DD3B14}" srcOrd="0" destOrd="0" presId="urn:microsoft.com/office/officeart/2008/layout/HorizontalMultiLevelHierarchy"/>
    <dgm:cxn modelId="{E29D05D3-3E70-4317-9D87-E4BDF1831A17}" type="presParOf" srcId="{16A8D7A4-6502-4C39-9EDD-2AB28EA10647}" destId="{2BB684EC-BC79-4511-A772-B17398714D7E}" srcOrd="3" destOrd="0" presId="urn:microsoft.com/office/officeart/2008/layout/HorizontalMultiLevelHierarchy"/>
    <dgm:cxn modelId="{D0A51EE5-FAAA-4801-AB44-D0E2EA192F73}" type="presParOf" srcId="{2BB684EC-BC79-4511-A772-B17398714D7E}" destId="{6F311096-1FEE-4C95-AB4F-F07D4DCE6727}" srcOrd="0" destOrd="0" presId="urn:microsoft.com/office/officeart/2008/layout/HorizontalMultiLevelHierarchy"/>
    <dgm:cxn modelId="{4269AF19-E0F9-4C27-995C-2366D602FC6E}" type="presParOf" srcId="{2BB684EC-BC79-4511-A772-B17398714D7E}" destId="{0BFF2A49-A531-420D-87F5-865240A441CC}" srcOrd="1" destOrd="0" presId="urn:microsoft.com/office/officeart/2008/layout/HorizontalMultiLevelHierarchy"/>
    <dgm:cxn modelId="{0F22BD94-B7AD-4FF6-B545-188078930F4F}" type="presParOf" srcId="{A341CFBE-F34E-4759-B96D-8979BC9C4D3C}" destId="{AB55C79D-C9A8-4655-8FE4-E90A749A82B0}" srcOrd="2" destOrd="0" presId="urn:microsoft.com/office/officeart/2008/layout/HorizontalMultiLevelHierarchy"/>
    <dgm:cxn modelId="{FCFA35D7-465B-4F16-BB57-2FBD67F94B6A}" type="presParOf" srcId="{AB55C79D-C9A8-4655-8FE4-E90A749A82B0}" destId="{B0F3E005-91C9-46BD-9228-FACC58B7C83A}" srcOrd="0" destOrd="0" presId="urn:microsoft.com/office/officeart/2008/layout/HorizontalMultiLevelHierarchy"/>
    <dgm:cxn modelId="{9A5D1EE6-B1E1-4F5C-AEC3-1037002BD408}" type="presParOf" srcId="{A341CFBE-F34E-4759-B96D-8979BC9C4D3C}" destId="{0997DC84-C647-4B61-8297-287AAB237324}" srcOrd="3" destOrd="0" presId="urn:microsoft.com/office/officeart/2008/layout/HorizontalMultiLevelHierarchy"/>
    <dgm:cxn modelId="{14B7DE84-B360-40F8-86E0-D3A6C0834480}" type="presParOf" srcId="{0997DC84-C647-4B61-8297-287AAB237324}" destId="{62F4B74D-8E3F-4D37-921B-59DBC69932F7}" srcOrd="0" destOrd="0" presId="urn:microsoft.com/office/officeart/2008/layout/HorizontalMultiLevelHierarchy"/>
    <dgm:cxn modelId="{485BAE33-3785-4DB3-A43B-0E5050F1CDCE}" type="presParOf" srcId="{0997DC84-C647-4B61-8297-287AAB237324}" destId="{66F2C331-154A-4162-B8D2-3FA1BB844BD0}" srcOrd="1" destOrd="0" presId="urn:microsoft.com/office/officeart/2008/layout/HorizontalMultiLevelHierarchy"/>
    <dgm:cxn modelId="{01BDEDF0-B8F3-4ACB-B8D0-98166BA4999D}" type="presParOf" srcId="{66F2C331-154A-4162-B8D2-3FA1BB844BD0}" destId="{296855D7-948B-4CD8-8322-6ED5CDD1B147}" srcOrd="0" destOrd="0" presId="urn:microsoft.com/office/officeart/2008/layout/HorizontalMultiLevelHierarchy"/>
    <dgm:cxn modelId="{93951ED8-D038-4093-AE10-4E7F02B51394}" type="presParOf" srcId="{296855D7-948B-4CD8-8322-6ED5CDD1B147}" destId="{D667C4E3-54F5-40FA-87CE-F6201B8247CD}" srcOrd="0" destOrd="0" presId="urn:microsoft.com/office/officeart/2008/layout/HorizontalMultiLevelHierarchy"/>
    <dgm:cxn modelId="{0DAD5D1C-CBFB-476F-AF0F-FCCB86999060}" type="presParOf" srcId="{66F2C331-154A-4162-B8D2-3FA1BB844BD0}" destId="{3FA301E1-84A9-46D8-8BF7-4DD738620D99}" srcOrd="1" destOrd="0" presId="urn:microsoft.com/office/officeart/2008/layout/HorizontalMultiLevelHierarchy"/>
    <dgm:cxn modelId="{7D6F7DBA-E7DF-402F-A324-AFA11D40F087}" type="presParOf" srcId="{3FA301E1-84A9-46D8-8BF7-4DD738620D99}" destId="{E090AE48-8828-4DB4-A048-59FC650EC894}" srcOrd="0" destOrd="0" presId="urn:microsoft.com/office/officeart/2008/layout/HorizontalMultiLevelHierarchy"/>
    <dgm:cxn modelId="{3EF34656-B161-42AC-B974-F294AC08C206}" type="presParOf" srcId="{3FA301E1-84A9-46D8-8BF7-4DD738620D99}" destId="{CEAC58D2-1B5E-4AF7-9374-A8B7D6136323}" srcOrd="1" destOrd="0" presId="urn:microsoft.com/office/officeart/2008/layout/HorizontalMultiLevelHierarchy"/>
    <dgm:cxn modelId="{F9893431-116E-477E-87D4-D46C35816DFE}" type="presParOf" srcId="{66F2C331-154A-4162-B8D2-3FA1BB844BD0}" destId="{D6F9C699-0CC5-4853-A65E-98D768BB63B4}" srcOrd="2" destOrd="0" presId="urn:microsoft.com/office/officeart/2008/layout/HorizontalMultiLevelHierarchy"/>
    <dgm:cxn modelId="{59B51DBD-FD4B-48E0-ABF8-A8AE055487FD}" type="presParOf" srcId="{D6F9C699-0CC5-4853-A65E-98D768BB63B4}" destId="{A92E2381-9C2F-4AF0-9486-D30FFA5880A2}" srcOrd="0" destOrd="0" presId="urn:microsoft.com/office/officeart/2008/layout/HorizontalMultiLevelHierarchy"/>
    <dgm:cxn modelId="{8AD7276A-5A3B-4CBE-BC75-6760EBE974F6}" type="presParOf" srcId="{66F2C331-154A-4162-B8D2-3FA1BB844BD0}" destId="{8E62ABC6-DA81-489F-8F55-6097E1D6D72E}" srcOrd="3" destOrd="0" presId="urn:microsoft.com/office/officeart/2008/layout/HorizontalMultiLevelHierarchy"/>
    <dgm:cxn modelId="{A733A254-EC88-43B4-B4FB-CF20069D5EB9}" type="presParOf" srcId="{8E62ABC6-DA81-489F-8F55-6097E1D6D72E}" destId="{486169FE-31A5-4D39-9265-2329D257A6E7}" srcOrd="0" destOrd="0" presId="urn:microsoft.com/office/officeart/2008/layout/HorizontalMultiLevelHierarchy"/>
    <dgm:cxn modelId="{8F6B602C-D05B-4D20-B346-491DBACE8A3A}" type="presParOf" srcId="{8E62ABC6-DA81-489F-8F55-6097E1D6D72E}" destId="{8EC71F21-EE98-4317-B9B0-6A78F2C94CA2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A2CF460-F778-42DF-9084-5E5B63DA0C62}" type="doc">
      <dgm:prSet loTypeId="urn:microsoft.com/office/officeart/2005/8/layout/hierarchy4" loCatId="list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637D040-57AE-416D-97DF-222049D73E3A}">
      <dgm:prSet phldrT="[Текст]" custT="1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sz="2800" b="1" i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Сауығу</a:t>
          </a:r>
          <a:r>
            <a:rPr lang="ru-RU" sz="2800" b="1" i="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2800" b="1" dirty="0">
              <a:latin typeface="Times New Roman" pitchFamily="18" charset="0"/>
              <a:cs typeface="Times New Roman" pitchFamily="18" charset="0"/>
            </a:rPr>
            <a:t>– 21%</a:t>
          </a:r>
        </a:p>
      </dgm:t>
    </dgm:pt>
    <dgm:pt modelId="{1ADE0904-1E7E-4CB9-90BF-B8D9CED20E0F}" type="parTrans" cxnId="{80929746-E92E-4787-BDC8-B3DF96D0CD57}">
      <dgm:prSet/>
      <dgm:spPr/>
      <dgm:t>
        <a:bodyPr/>
        <a:lstStyle/>
        <a:p>
          <a:endParaRPr lang="ru-RU" sz="2800" b="1">
            <a:latin typeface="Times New Roman" pitchFamily="18" charset="0"/>
            <a:cs typeface="Times New Roman" pitchFamily="18" charset="0"/>
          </a:endParaRPr>
        </a:p>
      </dgm:t>
    </dgm:pt>
    <dgm:pt modelId="{DFD37148-0DB4-44AD-B261-8D785EB5F687}" type="sibTrans" cxnId="{80929746-E92E-4787-BDC8-B3DF96D0CD57}">
      <dgm:prSet/>
      <dgm:spPr/>
      <dgm:t>
        <a:bodyPr/>
        <a:lstStyle/>
        <a:p>
          <a:endParaRPr lang="ru-RU" sz="2800" b="1">
            <a:latin typeface="Times New Roman" pitchFamily="18" charset="0"/>
            <a:cs typeface="Times New Roman" pitchFamily="18" charset="0"/>
          </a:endParaRPr>
        </a:p>
      </dgm:t>
    </dgm:pt>
    <dgm:pt modelId="{F17F877D-1787-41A4-A398-8DA6DC38204B}">
      <dgm:prSet phldrT="[Текст]" custT="1"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sz="2800" b="1" dirty="0" err="1">
              <a:latin typeface="Times New Roman" pitchFamily="18" charset="0"/>
              <a:cs typeface="Times New Roman" pitchFamily="18" charset="0"/>
            </a:rPr>
            <a:t>Жақсару</a:t>
          </a:r>
          <a:r>
            <a:rPr lang="ru-RU" sz="2800" b="1" dirty="0">
              <a:latin typeface="Times New Roman" pitchFamily="18" charset="0"/>
              <a:cs typeface="Times New Roman" pitchFamily="18" charset="0"/>
            </a:rPr>
            <a:t> – 79%</a:t>
          </a:r>
        </a:p>
      </dgm:t>
    </dgm:pt>
    <dgm:pt modelId="{CEA12E2A-49EE-417F-946A-510332D082DA}" type="parTrans" cxnId="{C80310F1-7B08-45E3-8E89-A997A8F82829}">
      <dgm:prSet/>
      <dgm:spPr/>
      <dgm:t>
        <a:bodyPr/>
        <a:lstStyle/>
        <a:p>
          <a:endParaRPr lang="ru-RU" sz="2800" b="1">
            <a:latin typeface="Times New Roman" pitchFamily="18" charset="0"/>
            <a:cs typeface="Times New Roman" pitchFamily="18" charset="0"/>
          </a:endParaRPr>
        </a:p>
      </dgm:t>
    </dgm:pt>
    <dgm:pt modelId="{E7936BC0-F2DE-4B8B-8A0F-E0B43F31B1EA}" type="sibTrans" cxnId="{C80310F1-7B08-45E3-8E89-A997A8F82829}">
      <dgm:prSet/>
      <dgm:spPr/>
      <dgm:t>
        <a:bodyPr/>
        <a:lstStyle/>
        <a:p>
          <a:endParaRPr lang="ru-RU" sz="2800" b="1">
            <a:latin typeface="Times New Roman" pitchFamily="18" charset="0"/>
            <a:cs typeface="Times New Roman" pitchFamily="18" charset="0"/>
          </a:endParaRPr>
        </a:p>
      </dgm:t>
    </dgm:pt>
    <dgm:pt modelId="{DF684118-9D8A-4375-A0C3-5279123ABC33}">
      <dgm:prSet phldrT="[Текст]" custT="1">
        <dgm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sz="2800" b="1" dirty="0" err="1">
              <a:latin typeface="Times New Roman" pitchFamily="18" charset="0"/>
              <a:cs typeface="Times New Roman" pitchFamily="18" charset="0"/>
            </a:rPr>
            <a:t>Өзгеріссіз</a:t>
          </a:r>
          <a:r>
            <a:rPr lang="ru-RU" sz="2800" b="1" dirty="0">
              <a:latin typeface="Times New Roman" pitchFamily="18" charset="0"/>
              <a:cs typeface="Times New Roman" pitchFamily="18" charset="0"/>
            </a:rPr>
            <a:t> – 0%</a:t>
          </a:r>
        </a:p>
      </dgm:t>
    </dgm:pt>
    <dgm:pt modelId="{CD90767E-47B5-4AC7-961C-61EC3AD288AC}" type="parTrans" cxnId="{7FADC8D4-5112-4CEE-90E7-7A68B75D3A55}">
      <dgm:prSet/>
      <dgm:spPr/>
      <dgm:t>
        <a:bodyPr/>
        <a:lstStyle/>
        <a:p>
          <a:endParaRPr lang="ru-RU" sz="2800" b="1">
            <a:latin typeface="Times New Roman" pitchFamily="18" charset="0"/>
            <a:cs typeface="Times New Roman" pitchFamily="18" charset="0"/>
          </a:endParaRPr>
        </a:p>
      </dgm:t>
    </dgm:pt>
    <dgm:pt modelId="{3FAF00C8-34A5-45A0-A41D-3C6FA7A97054}" type="sibTrans" cxnId="{7FADC8D4-5112-4CEE-90E7-7A68B75D3A55}">
      <dgm:prSet/>
      <dgm:spPr/>
      <dgm:t>
        <a:bodyPr/>
        <a:lstStyle/>
        <a:p>
          <a:endParaRPr lang="ru-RU" sz="2800" b="1">
            <a:latin typeface="Times New Roman" pitchFamily="18" charset="0"/>
            <a:cs typeface="Times New Roman" pitchFamily="18" charset="0"/>
          </a:endParaRPr>
        </a:p>
      </dgm:t>
    </dgm:pt>
    <dgm:pt modelId="{C48BE7A8-7B2F-4579-A969-008A3CFA7454}" type="pres">
      <dgm:prSet presAssocID="{DA2CF460-F778-42DF-9084-5E5B63DA0C62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2D4BF51-8BA1-4C9B-BD4C-4900EA78A581}" type="pres">
      <dgm:prSet presAssocID="{0637D040-57AE-416D-97DF-222049D73E3A}" presName="vertOne" presStyleCnt="0"/>
      <dgm:spPr/>
    </dgm:pt>
    <dgm:pt modelId="{46792203-288E-4697-9418-B40E6BBD6C4E}" type="pres">
      <dgm:prSet presAssocID="{0637D040-57AE-416D-97DF-222049D73E3A}" presName="txOne" presStyleLbl="node0" presStyleIdx="0" presStyleCnt="1">
        <dgm:presLayoutVars>
          <dgm:chPref val="3"/>
        </dgm:presLayoutVars>
      </dgm:prSet>
      <dgm:spPr>
        <a:prstGeom prst="ellipse">
          <a:avLst/>
        </a:prstGeom>
      </dgm:spPr>
    </dgm:pt>
    <dgm:pt modelId="{DB0DDBC7-9D3A-4FFC-977D-049123DE8445}" type="pres">
      <dgm:prSet presAssocID="{0637D040-57AE-416D-97DF-222049D73E3A}" presName="parTransOne" presStyleCnt="0"/>
      <dgm:spPr/>
    </dgm:pt>
    <dgm:pt modelId="{9565622E-59B6-4800-82EA-477DCF3C78BD}" type="pres">
      <dgm:prSet presAssocID="{0637D040-57AE-416D-97DF-222049D73E3A}" presName="horzOne" presStyleCnt="0"/>
      <dgm:spPr/>
    </dgm:pt>
    <dgm:pt modelId="{9687520A-BE4B-4ADD-BDBC-4432D7E07DF9}" type="pres">
      <dgm:prSet presAssocID="{F17F877D-1787-41A4-A398-8DA6DC38204B}" presName="vertTwo" presStyleCnt="0"/>
      <dgm:spPr/>
    </dgm:pt>
    <dgm:pt modelId="{803474A6-622E-4357-BE6D-23E14A897D7C}" type="pres">
      <dgm:prSet presAssocID="{F17F877D-1787-41A4-A398-8DA6DC38204B}" presName="txTwo" presStyleLbl="node2" presStyleIdx="0" presStyleCnt="1">
        <dgm:presLayoutVars>
          <dgm:chPref val="3"/>
        </dgm:presLayoutVars>
      </dgm:prSet>
      <dgm:spPr>
        <a:prstGeom prst="ellipse">
          <a:avLst/>
        </a:prstGeom>
      </dgm:spPr>
    </dgm:pt>
    <dgm:pt modelId="{55A38501-F2F9-4785-87E9-40A975FE9E49}" type="pres">
      <dgm:prSet presAssocID="{F17F877D-1787-41A4-A398-8DA6DC38204B}" presName="parTransTwo" presStyleCnt="0"/>
      <dgm:spPr/>
    </dgm:pt>
    <dgm:pt modelId="{B83C009A-92E2-457C-B6E7-C7C6972BDB13}" type="pres">
      <dgm:prSet presAssocID="{F17F877D-1787-41A4-A398-8DA6DC38204B}" presName="horzTwo" presStyleCnt="0"/>
      <dgm:spPr/>
    </dgm:pt>
    <dgm:pt modelId="{81E8F931-8365-4453-BDB3-9FC8754E49B9}" type="pres">
      <dgm:prSet presAssocID="{DF684118-9D8A-4375-A0C3-5279123ABC33}" presName="vertThree" presStyleCnt="0"/>
      <dgm:spPr/>
    </dgm:pt>
    <dgm:pt modelId="{83B63233-6E0F-4F00-8CD0-4F3BA8C4559E}" type="pres">
      <dgm:prSet presAssocID="{DF684118-9D8A-4375-A0C3-5279123ABC33}" presName="txThree" presStyleLbl="node3" presStyleIdx="0" presStyleCnt="1" custLinFactNeighborX="49" custLinFactNeighborY="7336">
        <dgm:presLayoutVars>
          <dgm:chPref val="3"/>
        </dgm:presLayoutVars>
      </dgm:prSet>
      <dgm:spPr>
        <a:prstGeom prst="ellipse">
          <a:avLst/>
        </a:prstGeom>
      </dgm:spPr>
    </dgm:pt>
    <dgm:pt modelId="{E2524446-2D07-4C78-A309-E0154ED66EE5}" type="pres">
      <dgm:prSet presAssocID="{DF684118-9D8A-4375-A0C3-5279123ABC33}" presName="horzThree" presStyleCnt="0"/>
      <dgm:spPr/>
    </dgm:pt>
  </dgm:ptLst>
  <dgm:cxnLst>
    <dgm:cxn modelId="{AB2B0236-ACBB-4BF4-98BC-1EA658833569}" type="presOf" srcId="{DA2CF460-F778-42DF-9084-5E5B63DA0C62}" destId="{C48BE7A8-7B2F-4579-A969-008A3CFA7454}" srcOrd="0" destOrd="0" presId="urn:microsoft.com/office/officeart/2005/8/layout/hierarchy4"/>
    <dgm:cxn modelId="{80929746-E92E-4787-BDC8-B3DF96D0CD57}" srcId="{DA2CF460-F778-42DF-9084-5E5B63DA0C62}" destId="{0637D040-57AE-416D-97DF-222049D73E3A}" srcOrd="0" destOrd="0" parTransId="{1ADE0904-1E7E-4CB9-90BF-B8D9CED20E0F}" sibTransId="{DFD37148-0DB4-44AD-B261-8D785EB5F687}"/>
    <dgm:cxn modelId="{DF7FD781-9450-4C03-A8ED-F7AADAF81AAA}" type="presOf" srcId="{F17F877D-1787-41A4-A398-8DA6DC38204B}" destId="{803474A6-622E-4357-BE6D-23E14A897D7C}" srcOrd="0" destOrd="0" presId="urn:microsoft.com/office/officeart/2005/8/layout/hierarchy4"/>
    <dgm:cxn modelId="{97DCE294-8AC0-485A-986A-755AB0766D95}" type="presOf" srcId="{DF684118-9D8A-4375-A0C3-5279123ABC33}" destId="{83B63233-6E0F-4F00-8CD0-4F3BA8C4559E}" srcOrd="0" destOrd="0" presId="urn:microsoft.com/office/officeart/2005/8/layout/hierarchy4"/>
    <dgm:cxn modelId="{152637AD-FB22-48FC-8E31-65444713AB5D}" type="presOf" srcId="{0637D040-57AE-416D-97DF-222049D73E3A}" destId="{46792203-288E-4697-9418-B40E6BBD6C4E}" srcOrd="0" destOrd="0" presId="urn:microsoft.com/office/officeart/2005/8/layout/hierarchy4"/>
    <dgm:cxn modelId="{7FADC8D4-5112-4CEE-90E7-7A68B75D3A55}" srcId="{F17F877D-1787-41A4-A398-8DA6DC38204B}" destId="{DF684118-9D8A-4375-A0C3-5279123ABC33}" srcOrd="0" destOrd="0" parTransId="{CD90767E-47B5-4AC7-961C-61EC3AD288AC}" sibTransId="{3FAF00C8-34A5-45A0-A41D-3C6FA7A97054}"/>
    <dgm:cxn modelId="{C80310F1-7B08-45E3-8E89-A997A8F82829}" srcId="{0637D040-57AE-416D-97DF-222049D73E3A}" destId="{F17F877D-1787-41A4-A398-8DA6DC38204B}" srcOrd="0" destOrd="0" parTransId="{CEA12E2A-49EE-417F-946A-510332D082DA}" sibTransId="{E7936BC0-F2DE-4B8B-8A0F-E0B43F31B1EA}"/>
    <dgm:cxn modelId="{A8C6A513-692F-4185-8FE9-856B278AB047}" type="presParOf" srcId="{C48BE7A8-7B2F-4579-A969-008A3CFA7454}" destId="{92D4BF51-8BA1-4C9B-BD4C-4900EA78A581}" srcOrd="0" destOrd="0" presId="urn:microsoft.com/office/officeart/2005/8/layout/hierarchy4"/>
    <dgm:cxn modelId="{DB065A25-9B5D-46EC-94B4-B86AFCA38AF9}" type="presParOf" srcId="{92D4BF51-8BA1-4C9B-BD4C-4900EA78A581}" destId="{46792203-288E-4697-9418-B40E6BBD6C4E}" srcOrd="0" destOrd="0" presId="urn:microsoft.com/office/officeart/2005/8/layout/hierarchy4"/>
    <dgm:cxn modelId="{6CEADBBC-3026-424C-AF1D-6FAE579461DC}" type="presParOf" srcId="{92D4BF51-8BA1-4C9B-BD4C-4900EA78A581}" destId="{DB0DDBC7-9D3A-4FFC-977D-049123DE8445}" srcOrd="1" destOrd="0" presId="urn:microsoft.com/office/officeart/2005/8/layout/hierarchy4"/>
    <dgm:cxn modelId="{326B981C-2881-4FDB-A817-F0E220D56CC1}" type="presParOf" srcId="{92D4BF51-8BA1-4C9B-BD4C-4900EA78A581}" destId="{9565622E-59B6-4800-82EA-477DCF3C78BD}" srcOrd="2" destOrd="0" presId="urn:microsoft.com/office/officeart/2005/8/layout/hierarchy4"/>
    <dgm:cxn modelId="{E8071ED3-6A2D-46F1-A659-01DB683ACDDC}" type="presParOf" srcId="{9565622E-59B6-4800-82EA-477DCF3C78BD}" destId="{9687520A-BE4B-4ADD-BDBC-4432D7E07DF9}" srcOrd="0" destOrd="0" presId="urn:microsoft.com/office/officeart/2005/8/layout/hierarchy4"/>
    <dgm:cxn modelId="{16B6AF3E-1591-49E0-BFB5-275365618C34}" type="presParOf" srcId="{9687520A-BE4B-4ADD-BDBC-4432D7E07DF9}" destId="{803474A6-622E-4357-BE6D-23E14A897D7C}" srcOrd="0" destOrd="0" presId="urn:microsoft.com/office/officeart/2005/8/layout/hierarchy4"/>
    <dgm:cxn modelId="{4E6E3983-D78B-4751-8B69-F6632AEA0778}" type="presParOf" srcId="{9687520A-BE4B-4ADD-BDBC-4432D7E07DF9}" destId="{55A38501-F2F9-4785-87E9-40A975FE9E49}" srcOrd="1" destOrd="0" presId="urn:microsoft.com/office/officeart/2005/8/layout/hierarchy4"/>
    <dgm:cxn modelId="{D0B73771-7CC2-4A37-853B-60B081A7CA2B}" type="presParOf" srcId="{9687520A-BE4B-4ADD-BDBC-4432D7E07DF9}" destId="{B83C009A-92E2-457C-B6E7-C7C6972BDB13}" srcOrd="2" destOrd="0" presId="urn:microsoft.com/office/officeart/2005/8/layout/hierarchy4"/>
    <dgm:cxn modelId="{5F95E951-8AC4-40D0-9C28-17C9BEFAEE0B}" type="presParOf" srcId="{B83C009A-92E2-457C-B6E7-C7C6972BDB13}" destId="{81E8F931-8365-4453-BDB3-9FC8754E49B9}" srcOrd="0" destOrd="0" presId="urn:microsoft.com/office/officeart/2005/8/layout/hierarchy4"/>
    <dgm:cxn modelId="{DA386C60-D75B-40BF-AB77-48ECBADBF5CC}" type="presParOf" srcId="{81E8F931-8365-4453-BDB3-9FC8754E49B9}" destId="{83B63233-6E0F-4F00-8CD0-4F3BA8C4559E}" srcOrd="0" destOrd="0" presId="urn:microsoft.com/office/officeart/2005/8/layout/hierarchy4"/>
    <dgm:cxn modelId="{49FE57CB-3A49-4BEC-A5BB-48CEDDC6514B}" type="presParOf" srcId="{81E8F931-8365-4453-BDB3-9FC8754E49B9}" destId="{E2524446-2D07-4C78-A309-E0154ED66EE5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1D52A9-7CB6-4F6E-AFCD-8794EE76DCDC}">
      <dsp:nvSpPr>
        <dsp:cNvPr id="0" name=""/>
        <dsp:cNvSpPr/>
      </dsp:nvSpPr>
      <dsp:spPr>
        <a:xfrm>
          <a:off x="-5631080" y="-862503"/>
          <a:ext cx="6708169" cy="6708169"/>
        </a:xfrm>
        <a:prstGeom prst="blockArc">
          <a:avLst>
            <a:gd name="adj1" fmla="val 18900000"/>
            <a:gd name="adj2" fmla="val 2700000"/>
            <a:gd name="adj3" fmla="val 322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DD5E56-C1B5-4C71-81BE-D94E66C573CB}">
      <dsp:nvSpPr>
        <dsp:cNvPr id="0" name=""/>
        <dsp:cNvSpPr/>
      </dsp:nvSpPr>
      <dsp:spPr>
        <a:xfrm>
          <a:off x="349568" y="226534"/>
          <a:ext cx="9870907" cy="4528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9465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>
              <a:latin typeface="Century" panose="02040604050505020304" pitchFamily="18" charset="0"/>
            </a:rPr>
            <a:t>1 </a:t>
          </a:r>
          <a:r>
            <a:rPr lang="kk-KZ" sz="2100" kern="1200" dirty="0">
              <a:latin typeface="Century" panose="02040604050505020304" pitchFamily="18" charset="0"/>
            </a:rPr>
            <a:t>отбасылық денсаулық бөлімі</a:t>
          </a:r>
          <a:r>
            <a:rPr lang="ru-RU" sz="2100" kern="1200" dirty="0">
              <a:latin typeface="Century" panose="02040604050505020304" pitchFamily="18" charset="0"/>
            </a:rPr>
            <a:t>	</a:t>
          </a:r>
        </a:p>
      </dsp:txBody>
      <dsp:txXfrm>
        <a:off x="349568" y="226534"/>
        <a:ext cx="9870907" cy="452869"/>
      </dsp:txXfrm>
    </dsp:sp>
    <dsp:sp modelId="{00C1D230-71FE-48CA-8F53-D0F212B557DF}">
      <dsp:nvSpPr>
        <dsp:cNvPr id="0" name=""/>
        <dsp:cNvSpPr/>
      </dsp:nvSpPr>
      <dsp:spPr>
        <a:xfrm>
          <a:off x="66525" y="169925"/>
          <a:ext cx="566087" cy="56608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E7A632-3C32-4BB8-84ED-12A186DC8C7A}">
      <dsp:nvSpPr>
        <dsp:cNvPr id="0" name=""/>
        <dsp:cNvSpPr/>
      </dsp:nvSpPr>
      <dsp:spPr>
        <a:xfrm>
          <a:off x="759683" y="906237"/>
          <a:ext cx="9460793" cy="4528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9465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 err="1">
              <a:latin typeface="Century" panose="02040604050505020304" pitchFamily="18" charset="0"/>
            </a:rPr>
            <a:t>Акушерл</a:t>
          </a:r>
          <a:r>
            <a:rPr lang="kk-KZ" sz="2100" kern="1200" dirty="0">
              <a:latin typeface="Century" panose="02040604050505020304" pitchFamily="18" charset="0"/>
            </a:rPr>
            <a:t>ік</a:t>
          </a:r>
          <a:r>
            <a:rPr lang="ru-RU" sz="2100" kern="1200" dirty="0">
              <a:latin typeface="Century" panose="02040604050505020304" pitchFamily="18" charset="0"/>
            </a:rPr>
            <a:t>-</a:t>
          </a:r>
          <a:r>
            <a:rPr lang="ru-RU" sz="2100" kern="1200" dirty="0" err="1">
              <a:latin typeface="Century" panose="02040604050505020304" pitchFamily="18" charset="0"/>
            </a:rPr>
            <a:t>гинекологиялық</a:t>
          </a:r>
          <a:r>
            <a:rPr lang="ru-RU" sz="2100" kern="1200" dirty="0">
              <a:latin typeface="Century" panose="02040604050505020304" pitchFamily="18" charset="0"/>
            </a:rPr>
            <a:t> </a:t>
          </a:r>
          <a:r>
            <a:rPr lang="ru-RU" sz="2100" kern="1200" dirty="0" err="1">
              <a:latin typeface="Century" panose="02040604050505020304" pitchFamily="18" charset="0"/>
            </a:rPr>
            <a:t>бөлімі</a:t>
          </a:r>
          <a:endParaRPr lang="ru-RU" sz="2100" kern="1200" dirty="0">
            <a:latin typeface="Century" panose="02040604050505020304" pitchFamily="18" charset="0"/>
          </a:endParaRPr>
        </a:p>
      </dsp:txBody>
      <dsp:txXfrm>
        <a:off x="759683" y="906237"/>
        <a:ext cx="9460793" cy="452869"/>
      </dsp:txXfrm>
    </dsp:sp>
    <dsp:sp modelId="{041DEC36-04E5-43BB-9C8E-B53215F25D57}">
      <dsp:nvSpPr>
        <dsp:cNvPr id="0" name=""/>
        <dsp:cNvSpPr/>
      </dsp:nvSpPr>
      <dsp:spPr>
        <a:xfrm>
          <a:off x="476639" y="849629"/>
          <a:ext cx="566087" cy="56608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C963D9-A052-451D-837A-C4B60CC875D0}">
      <dsp:nvSpPr>
        <dsp:cNvPr id="0" name=""/>
        <dsp:cNvSpPr/>
      </dsp:nvSpPr>
      <dsp:spPr>
        <a:xfrm>
          <a:off x="984423" y="1585442"/>
          <a:ext cx="9236053" cy="4528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9465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k-KZ" sz="2100" kern="1200" dirty="0">
              <a:latin typeface="Century" panose="02040604050505020304" pitchFamily="18" charset="0"/>
            </a:rPr>
            <a:t>Алдын алу және әлеуметтік-психологиялық көмек көрсету бөлімі</a:t>
          </a:r>
          <a:endParaRPr lang="ru-RU" sz="2100" kern="1200" dirty="0">
            <a:latin typeface="Century" panose="02040604050505020304" pitchFamily="18" charset="0"/>
          </a:endParaRPr>
        </a:p>
      </dsp:txBody>
      <dsp:txXfrm>
        <a:off x="984423" y="1585442"/>
        <a:ext cx="9236053" cy="452869"/>
      </dsp:txXfrm>
    </dsp:sp>
    <dsp:sp modelId="{9ED32B97-3B16-491B-8CF3-86EA74F70CB6}">
      <dsp:nvSpPr>
        <dsp:cNvPr id="0" name=""/>
        <dsp:cNvSpPr/>
      </dsp:nvSpPr>
      <dsp:spPr>
        <a:xfrm>
          <a:off x="701380" y="1528834"/>
          <a:ext cx="566087" cy="56608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8FA377-96E9-43DB-804A-B41C2B3280A3}">
      <dsp:nvSpPr>
        <dsp:cNvPr id="0" name=""/>
        <dsp:cNvSpPr/>
      </dsp:nvSpPr>
      <dsp:spPr>
        <a:xfrm>
          <a:off x="1056181" y="2265146"/>
          <a:ext cx="9164295" cy="4528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9465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 err="1">
              <a:latin typeface="Century" panose="02040604050505020304" pitchFamily="18" charset="0"/>
            </a:rPr>
            <a:t>Арнайы</a:t>
          </a:r>
          <a:r>
            <a:rPr lang="ru-RU" sz="2100" kern="1200" dirty="0">
              <a:latin typeface="Century" panose="02040604050505020304" pitchFamily="18" charset="0"/>
            </a:rPr>
            <a:t> мамандандырылған көмек бөлімі</a:t>
          </a:r>
          <a:endParaRPr lang="ru-KZ" sz="2100" kern="1200" dirty="0">
            <a:latin typeface="Century" panose="02040604050505020304" pitchFamily="18" charset="0"/>
          </a:endParaRPr>
        </a:p>
      </dsp:txBody>
      <dsp:txXfrm>
        <a:off x="1056181" y="2265146"/>
        <a:ext cx="9164295" cy="452869"/>
      </dsp:txXfrm>
    </dsp:sp>
    <dsp:sp modelId="{578F0AEB-9EAE-4DAD-B93D-7304FDC60FA4}">
      <dsp:nvSpPr>
        <dsp:cNvPr id="0" name=""/>
        <dsp:cNvSpPr/>
      </dsp:nvSpPr>
      <dsp:spPr>
        <a:xfrm>
          <a:off x="773137" y="2208537"/>
          <a:ext cx="566087" cy="56608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C7686C-A84E-4826-A1AF-7087B2AEC32D}">
      <dsp:nvSpPr>
        <dsp:cNvPr id="0" name=""/>
        <dsp:cNvSpPr/>
      </dsp:nvSpPr>
      <dsp:spPr>
        <a:xfrm>
          <a:off x="984423" y="2944849"/>
          <a:ext cx="9236053" cy="4528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9465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k-KZ" sz="2100" kern="1200" dirty="0">
              <a:latin typeface="Century" panose="02040604050505020304" pitchFamily="18" charset="0"/>
            </a:rPr>
            <a:t>Күндізгі стационар</a:t>
          </a:r>
          <a:endParaRPr lang="ru-RU" sz="2100" kern="1200" dirty="0">
            <a:latin typeface="Century" panose="02040604050505020304" pitchFamily="18" charset="0"/>
          </a:endParaRPr>
        </a:p>
      </dsp:txBody>
      <dsp:txXfrm>
        <a:off x="984423" y="2944849"/>
        <a:ext cx="9236053" cy="452869"/>
      </dsp:txXfrm>
    </dsp:sp>
    <dsp:sp modelId="{23E71332-EF60-4BF3-8AC1-FE034E4FF21F}">
      <dsp:nvSpPr>
        <dsp:cNvPr id="0" name=""/>
        <dsp:cNvSpPr/>
      </dsp:nvSpPr>
      <dsp:spPr>
        <a:xfrm>
          <a:off x="701380" y="2888240"/>
          <a:ext cx="566087" cy="56608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FD872E-4EE4-426A-BAC7-D24D6C2E2F91}">
      <dsp:nvSpPr>
        <dsp:cNvPr id="0" name=""/>
        <dsp:cNvSpPr/>
      </dsp:nvSpPr>
      <dsp:spPr>
        <a:xfrm>
          <a:off x="759683" y="3624054"/>
          <a:ext cx="9460793" cy="4528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9465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k-KZ" sz="2100" kern="1200" dirty="0">
              <a:latin typeface="Century" panose="02040604050505020304" pitchFamily="18" charset="0"/>
            </a:rPr>
            <a:t>Консультациялық-диагностикалық бөлім</a:t>
          </a:r>
          <a:endParaRPr lang="ru-RU" sz="2100" kern="1200" dirty="0">
            <a:latin typeface="Century" panose="02040604050505020304" pitchFamily="18" charset="0"/>
          </a:endParaRPr>
        </a:p>
      </dsp:txBody>
      <dsp:txXfrm>
        <a:off x="759683" y="3624054"/>
        <a:ext cx="9460793" cy="452869"/>
      </dsp:txXfrm>
    </dsp:sp>
    <dsp:sp modelId="{1972C03E-7EB6-4F5C-80CD-BB57600AF53A}">
      <dsp:nvSpPr>
        <dsp:cNvPr id="0" name=""/>
        <dsp:cNvSpPr/>
      </dsp:nvSpPr>
      <dsp:spPr>
        <a:xfrm>
          <a:off x="476639" y="3567445"/>
          <a:ext cx="566087" cy="56608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48C1CA-C2A8-4387-ADF7-8B022AD71845}">
      <dsp:nvSpPr>
        <dsp:cNvPr id="0" name=""/>
        <dsp:cNvSpPr/>
      </dsp:nvSpPr>
      <dsp:spPr>
        <a:xfrm>
          <a:off x="349568" y="4303757"/>
          <a:ext cx="9870907" cy="4528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9465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 err="1">
              <a:latin typeface="Century" panose="02040604050505020304" pitchFamily="18" charset="0"/>
            </a:rPr>
            <a:t>Науқастарды</a:t>
          </a:r>
          <a:r>
            <a:rPr lang="ru-RU" sz="2100" kern="1200" dirty="0">
              <a:latin typeface="Century" panose="02040604050505020304" pitchFamily="18" charset="0"/>
            </a:rPr>
            <a:t> </a:t>
          </a:r>
          <a:r>
            <a:rPr lang="ru-RU" sz="2100" kern="1200" dirty="0" err="1">
              <a:latin typeface="Century" panose="02040604050505020304" pitchFamily="18" charset="0"/>
            </a:rPr>
            <a:t>қолдау</a:t>
          </a:r>
          <a:r>
            <a:rPr lang="ru-RU" sz="2100" kern="1200" dirty="0">
              <a:latin typeface="Century" panose="02040604050505020304" pitchFamily="18" charset="0"/>
            </a:rPr>
            <a:t> </a:t>
          </a:r>
          <a:r>
            <a:rPr lang="ru-RU" sz="2100" kern="1200" dirty="0" err="1">
              <a:latin typeface="Century" panose="02040604050505020304" pitchFamily="18" charset="0"/>
            </a:rPr>
            <a:t>қызметі</a:t>
          </a:r>
          <a:endParaRPr lang="ru-RU" sz="2100" kern="1200" dirty="0">
            <a:latin typeface="Century" panose="02040604050505020304" pitchFamily="18" charset="0"/>
          </a:endParaRPr>
        </a:p>
      </dsp:txBody>
      <dsp:txXfrm>
        <a:off x="349568" y="4303757"/>
        <a:ext cx="9870907" cy="452869"/>
      </dsp:txXfrm>
    </dsp:sp>
    <dsp:sp modelId="{6630EA43-B166-4DD7-A821-281888E4766A}">
      <dsp:nvSpPr>
        <dsp:cNvPr id="0" name=""/>
        <dsp:cNvSpPr/>
      </dsp:nvSpPr>
      <dsp:spPr>
        <a:xfrm>
          <a:off x="66525" y="4247148"/>
          <a:ext cx="566087" cy="56608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F9C699-0CC5-4853-A65E-98D768BB63B4}">
      <dsp:nvSpPr>
        <dsp:cNvPr id="0" name=""/>
        <dsp:cNvSpPr/>
      </dsp:nvSpPr>
      <dsp:spPr>
        <a:xfrm>
          <a:off x="5599787" y="3777476"/>
          <a:ext cx="1006031" cy="5864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503015" y="0"/>
              </a:lnTo>
              <a:lnTo>
                <a:pt x="503015" y="586494"/>
              </a:lnTo>
              <a:lnTo>
                <a:pt x="1006031" y="58649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500" b="1" kern="1200">
            <a:latin typeface="Times New Roman" pitchFamily="18" charset="0"/>
            <a:cs typeface="Times New Roman" pitchFamily="18" charset="0"/>
          </a:endParaRPr>
        </a:p>
      </dsp:txBody>
      <dsp:txXfrm>
        <a:off x="6073690" y="4041610"/>
        <a:ext cx="58225" cy="58225"/>
      </dsp:txXfrm>
    </dsp:sp>
    <dsp:sp modelId="{296855D7-948B-4CD8-8322-6ED5CDD1B147}">
      <dsp:nvSpPr>
        <dsp:cNvPr id="0" name=""/>
        <dsp:cNvSpPr/>
      </dsp:nvSpPr>
      <dsp:spPr>
        <a:xfrm>
          <a:off x="5599787" y="3153526"/>
          <a:ext cx="1006031" cy="623950"/>
        </a:xfrm>
        <a:custGeom>
          <a:avLst/>
          <a:gdLst/>
          <a:ahLst/>
          <a:cxnLst/>
          <a:rect l="0" t="0" r="0" b="0"/>
          <a:pathLst>
            <a:path>
              <a:moveTo>
                <a:pt x="0" y="623950"/>
              </a:moveTo>
              <a:lnTo>
                <a:pt x="503015" y="623950"/>
              </a:lnTo>
              <a:lnTo>
                <a:pt x="503015" y="0"/>
              </a:lnTo>
              <a:lnTo>
                <a:pt x="1006031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500" b="1" kern="1200">
            <a:latin typeface="Times New Roman" pitchFamily="18" charset="0"/>
            <a:cs typeface="Times New Roman" pitchFamily="18" charset="0"/>
          </a:endParaRPr>
        </a:p>
      </dsp:txBody>
      <dsp:txXfrm>
        <a:off x="6073207" y="3435905"/>
        <a:ext cx="59190" cy="59190"/>
      </dsp:txXfrm>
    </dsp:sp>
    <dsp:sp modelId="{AB55C79D-C9A8-4655-8FE4-E90A749A82B0}">
      <dsp:nvSpPr>
        <dsp:cNvPr id="0" name=""/>
        <dsp:cNvSpPr/>
      </dsp:nvSpPr>
      <dsp:spPr>
        <a:xfrm>
          <a:off x="1276232" y="2548304"/>
          <a:ext cx="1147349" cy="12291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573674" y="0"/>
              </a:lnTo>
              <a:lnTo>
                <a:pt x="573674" y="1229172"/>
              </a:lnTo>
              <a:lnTo>
                <a:pt x="1147349" y="122917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600" b="1" kern="1200">
            <a:latin typeface="Times New Roman" pitchFamily="18" charset="0"/>
            <a:cs typeface="Times New Roman" pitchFamily="18" charset="0"/>
          </a:endParaRPr>
        </a:p>
      </dsp:txBody>
      <dsp:txXfrm>
        <a:off x="1807870" y="3120853"/>
        <a:ext cx="84072" cy="84072"/>
      </dsp:txXfrm>
    </dsp:sp>
    <dsp:sp modelId="{F3A18C95-8932-43D2-918E-5591A10A7921}">
      <dsp:nvSpPr>
        <dsp:cNvPr id="0" name=""/>
        <dsp:cNvSpPr/>
      </dsp:nvSpPr>
      <dsp:spPr>
        <a:xfrm>
          <a:off x="5599787" y="1323256"/>
          <a:ext cx="1006031" cy="6198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503015" y="0"/>
              </a:lnTo>
              <a:lnTo>
                <a:pt x="503015" y="619825"/>
              </a:lnTo>
              <a:lnTo>
                <a:pt x="1006031" y="61982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500" b="1" kern="1200">
            <a:latin typeface="Times New Roman" pitchFamily="18" charset="0"/>
            <a:cs typeface="Times New Roman" pitchFamily="18" charset="0"/>
          </a:endParaRPr>
        </a:p>
      </dsp:txBody>
      <dsp:txXfrm>
        <a:off x="6073262" y="1603628"/>
        <a:ext cx="59082" cy="59082"/>
      </dsp:txXfrm>
    </dsp:sp>
    <dsp:sp modelId="{73C55A95-9F6D-4698-A111-6E04A030ECB7}">
      <dsp:nvSpPr>
        <dsp:cNvPr id="0" name=""/>
        <dsp:cNvSpPr/>
      </dsp:nvSpPr>
      <dsp:spPr>
        <a:xfrm>
          <a:off x="5599787" y="732637"/>
          <a:ext cx="1006031" cy="590619"/>
        </a:xfrm>
        <a:custGeom>
          <a:avLst/>
          <a:gdLst/>
          <a:ahLst/>
          <a:cxnLst/>
          <a:rect l="0" t="0" r="0" b="0"/>
          <a:pathLst>
            <a:path>
              <a:moveTo>
                <a:pt x="0" y="590619"/>
              </a:moveTo>
              <a:lnTo>
                <a:pt x="503015" y="590619"/>
              </a:lnTo>
              <a:lnTo>
                <a:pt x="503015" y="0"/>
              </a:lnTo>
              <a:lnTo>
                <a:pt x="1006031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500" b="1" kern="1200">
            <a:latin typeface="Times New Roman" pitchFamily="18" charset="0"/>
            <a:cs typeface="Times New Roman" pitchFamily="18" charset="0"/>
          </a:endParaRPr>
        </a:p>
      </dsp:txBody>
      <dsp:txXfrm>
        <a:off x="6073638" y="998782"/>
        <a:ext cx="58329" cy="58329"/>
      </dsp:txXfrm>
    </dsp:sp>
    <dsp:sp modelId="{D0C2A674-9816-4799-9423-1FAF13438AEE}">
      <dsp:nvSpPr>
        <dsp:cNvPr id="0" name=""/>
        <dsp:cNvSpPr/>
      </dsp:nvSpPr>
      <dsp:spPr>
        <a:xfrm>
          <a:off x="1276232" y="1323256"/>
          <a:ext cx="1147349" cy="1225047"/>
        </a:xfrm>
        <a:custGeom>
          <a:avLst/>
          <a:gdLst/>
          <a:ahLst/>
          <a:cxnLst/>
          <a:rect l="0" t="0" r="0" b="0"/>
          <a:pathLst>
            <a:path>
              <a:moveTo>
                <a:pt x="0" y="1225047"/>
              </a:moveTo>
              <a:lnTo>
                <a:pt x="573674" y="1225047"/>
              </a:lnTo>
              <a:lnTo>
                <a:pt x="573674" y="0"/>
              </a:lnTo>
              <a:lnTo>
                <a:pt x="1147349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600" b="1" kern="1200">
            <a:latin typeface="Times New Roman" pitchFamily="18" charset="0"/>
            <a:cs typeface="Times New Roman" pitchFamily="18" charset="0"/>
          </a:endParaRPr>
        </a:p>
      </dsp:txBody>
      <dsp:txXfrm>
        <a:off x="1807945" y="1893819"/>
        <a:ext cx="83921" cy="83921"/>
      </dsp:txXfrm>
    </dsp:sp>
    <dsp:sp modelId="{2CA31658-D62D-4BDD-8693-4095292494B2}">
      <dsp:nvSpPr>
        <dsp:cNvPr id="0" name=""/>
        <dsp:cNvSpPr/>
      </dsp:nvSpPr>
      <dsp:spPr>
        <a:xfrm rot="16200000">
          <a:off x="-1756249" y="2064126"/>
          <a:ext cx="5096608" cy="96835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9845" tIns="29845" rIns="29845" bIns="29845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700" b="1" kern="1200" dirty="0" err="1">
              <a:latin typeface="Times New Roman" pitchFamily="18" charset="0"/>
              <a:cs typeface="Times New Roman" pitchFamily="18" charset="0"/>
            </a:rPr>
            <a:t>Аумақтық</a:t>
          </a:r>
          <a:r>
            <a:rPr lang="ru-RU" sz="4700" b="1" kern="1200" dirty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4700" b="1" kern="1200" dirty="0" err="1">
              <a:latin typeface="Times New Roman" pitchFamily="18" charset="0"/>
              <a:cs typeface="Times New Roman" pitchFamily="18" charset="0"/>
            </a:rPr>
            <a:t>қызмет</a:t>
          </a:r>
          <a:endParaRPr lang="ru-RU" sz="4700" b="1" kern="1200" dirty="0">
            <a:latin typeface="Times New Roman" pitchFamily="18" charset="0"/>
            <a:cs typeface="Times New Roman" pitchFamily="18" charset="0"/>
          </a:endParaRPr>
        </a:p>
      </dsp:txBody>
      <dsp:txXfrm>
        <a:off x="-1756249" y="2064126"/>
        <a:ext cx="5096608" cy="968355"/>
      </dsp:txXfrm>
    </dsp:sp>
    <dsp:sp modelId="{846F01D2-3E4C-4502-B5EC-6B82AACFBAE0}">
      <dsp:nvSpPr>
        <dsp:cNvPr id="0" name=""/>
        <dsp:cNvSpPr/>
      </dsp:nvSpPr>
      <dsp:spPr>
        <a:xfrm>
          <a:off x="2423581" y="839079"/>
          <a:ext cx="3176206" cy="968355"/>
        </a:xfrm>
        <a:prstGeom prst="rect">
          <a:avLst/>
        </a:prstGeom>
        <a:gradFill rotWithShape="1">
          <a:gsLst>
            <a:gs pos="0">
              <a:schemeClr val="accent5">
                <a:lumMod val="110000"/>
                <a:satMod val="105000"/>
                <a:tint val="67000"/>
              </a:schemeClr>
            </a:gs>
            <a:gs pos="50000">
              <a:schemeClr val="accent5">
                <a:lumMod val="105000"/>
                <a:satMod val="103000"/>
                <a:tint val="73000"/>
              </a:schemeClr>
            </a:gs>
            <a:gs pos="100000">
              <a:schemeClr val="accent5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5"/>
          </a:solidFill>
          <a:prstDash val="solid"/>
          <a:miter lim="800000"/>
        </a:ln>
        <a:effectLst/>
        <a:scene3d>
          <a:camera prst="orthographicFront"/>
          <a:lightRig rig="flat" dir="t"/>
        </a:scene3d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29845" tIns="29845" rIns="29845" bIns="29845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700" b="1" kern="1200" dirty="0">
              <a:latin typeface="Times New Roman" pitchFamily="18" charset="0"/>
              <a:cs typeface="Times New Roman" pitchFamily="18" charset="0"/>
            </a:rPr>
            <a:t>ВОП</a:t>
          </a:r>
        </a:p>
      </dsp:txBody>
      <dsp:txXfrm>
        <a:off x="2423581" y="839079"/>
        <a:ext cx="3176206" cy="968355"/>
      </dsp:txXfrm>
    </dsp:sp>
    <dsp:sp modelId="{1A6E9B93-DFA8-4DEA-82DD-036FA23AD8BA}">
      <dsp:nvSpPr>
        <dsp:cNvPr id="0" name=""/>
        <dsp:cNvSpPr/>
      </dsp:nvSpPr>
      <dsp:spPr>
        <a:xfrm>
          <a:off x="6605818" y="248459"/>
          <a:ext cx="3176206" cy="968355"/>
        </a:xfrm>
        <a:prstGeom prst="rect">
          <a:avLst/>
        </a:prstGeom>
        <a:gradFill rotWithShape="1">
          <a:gsLst>
            <a:gs pos="0">
              <a:schemeClr val="accent5">
                <a:lumMod val="110000"/>
                <a:satMod val="105000"/>
                <a:tint val="67000"/>
              </a:schemeClr>
            </a:gs>
            <a:gs pos="50000">
              <a:schemeClr val="accent5">
                <a:lumMod val="105000"/>
                <a:satMod val="103000"/>
                <a:tint val="73000"/>
              </a:schemeClr>
            </a:gs>
            <a:gs pos="100000">
              <a:schemeClr val="accent5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5"/>
          </a:solidFill>
          <a:prstDash val="solid"/>
          <a:miter lim="800000"/>
        </a:ln>
        <a:effectLst/>
        <a:scene3d>
          <a:camera prst="orthographicFront"/>
          <a:lightRig rig="flat" dir="t"/>
        </a:scene3d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29845" tIns="29845" rIns="29845" bIns="29845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700" b="1" kern="1200" dirty="0">
              <a:latin typeface="Times New Roman" pitchFamily="18" charset="0"/>
              <a:cs typeface="Times New Roman" pitchFamily="18" charset="0"/>
            </a:rPr>
            <a:t>9</a:t>
          </a:r>
        </a:p>
      </dsp:txBody>
      <dsp:txXfrm>
        <a:off x="6605818" y="248459"/>
        <a:ext cx="3176206" cy="968355"/>
      </dsp:txXfrm>
    </dsp:sp>
    <dsp:sp modelId="{6F311096-1FEE-4C95-AB4F-F07D4DCE6727}">
      <dsp:nvSpPr>
        <dsp:cNvPr id="0" name=""/>
        <dsp:cNvSpPr/>
      </dsp:nvSpPr>
      <dsp:spPr>
        <a:xfrm>
          <a:off x="6605818" y="1458904"/>
          <a:ext cx="3176206" cy="968355"/>
        </a:xfrm>
        <a:prstGeom prst="rect">
          <a:avLst/>
        </a:prstGeom>
        <a:gradFill rotWithShape="1">
          <a:gsLst>
            <a:gs pos="0">
              <a:schemeClr val="accent5">
                <a:lumMod val="110000"/>
                <a:satMod val="105000"/>
                <a:tint val="67000"/>
              </a:schemeClr>
            </a:gs>
            <a:gs pos="50000">
              <a:schemeClr val="accent5">
                <a:lumMod val="105000"/>
                <a:satMod val="103000"/>
                <a:tint val="73000"/>
              </a:schemeClr>
            </a:gs>
            <a:gs pos="100000">
              <a:schemeClr val="accent5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5"/>
          </a:solidFill>
          <a:prstDash val="solid"/>
          <a:miter lim="800000"/>
        </a:ln>
        <a:effectLst/>
        <a:scene3d>
          <a:camera prst="orthographicFront"/>
          <a:lightRig rig="flat" dir="t"/>
        </a:scene3d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29845" tIns="29845" rIns="29845" bIns="29845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700" b="1" kern="1200" dirty="0">
              <a:latin typeface="Times New Roman" pitchFamily="18" charset="0"/>
              <a:cs typeface="Times New Roman" pitchFamily="18" charset="0"/>
            </a:rPr>
            <a:t>81,8%</a:t>
          </a:r>
        </a:p>
      </dsp:txBody>
      <dsp:txXfrm>
        <a:off x="6605818" y="1458904"/>
        <a:ext cx="3176206" cy="968355"/>
      </dsp:txXfrm>
    </dsp:sp>
    <dsp:sp modelId="{62F4B74D-8E3F-4D37-921B-59DBC69932F7}">
      <dsp:nvSpPr>
        <dsp:cNvPr id="0" name=""/>
        <dsp:cNvSpPr/>
      </dsp:nvSpPr>
      <dsp:spPr>
        <a:xfrm>
          <a:off x="2423581" y="3293298"/>
          <a:ext cx="3176206" cy="968355"/>
        </a:xfrm>
        <a:prstGeom prst="rect">
          <a:avLst/>
        </a:prstGeom>
        <a:gradFill rotWithShape="1">
          <a:gsLst>
            <a:gs pos="0">
              <a:schemeClr val="accent3">
                <a:lumMod val="110000"/>
                <a:satMod val="105000"/>
                <a:tint val="67000"/>
              </a:schemeClr>
            </a:gs>
            <a:gs pos="50000">
              <a:schemeClr val="accent3">
                <a:lumMod val="105000"/>
                <a:satMod val="103000"/>
                <a:tint val="73000"/>
              </a:schemeClr>
            </a:gs>
            <a:gs pos="100000">
              <a:schemeClr val="accent3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3"/>
          </a:solidFill>
          <a:prstDash val="solid"/>
          <a:miter lim="800000"/>
        </a:ln>
        <a:effectLst/>
        <a:scene3d>
          <a:camera prst="orthographicFront"/>
          <a:lightRig rig="flat" dir="t"/>
        </a:scene3d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  <dsp:txBody>
        <a:bodyPr spcFirstLastPara="0" vert="horz" wrap="square" lIns="29845" tIns="29845" rIns="29845" bIns="29845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700" b="1" kern="1200" dirty="0">
              <a:latin typeface="Times New Roman" pitchFamily="18" charset="0"/>
              <a:cs typeface="Times New Roman" pitchFamily="18" charset="0"/>
            </a:rPr>
            <a:t>Педиатрия</a:t>
          </a:r>
        </a:p>
      </dsp:txBody>
      <dsp:txXfrm>
        <a:off x="2423581" y="3293298"/>
        <a:ext cx="3176206" cy="968355"/>
      </dsp:txXfrm>
    </dsp:sp>
    <dsp:sp modelId="{E090AE48-8828-4DB4-A048-59FC650EC894}">
      <dsp:nvSpPr>
        <dsp:cNvPr id="0" name=""/>
        <dsp:cNvSpPr/>
      </dsp:nvSpPr>
      <dsp:spPr>
        <a:xfrm>
          <a:off x="6605818" y="2669348"/>
          <a:ext cx="3176206" cy="968355"/>
        </a:xfrm>
        <a:prstGeom prst="rect">
          <a:avLst/>
        </a:prstGeom>
        <a:gradFill rotWithShape="1">
          <a:gsLst>
            <a:gs pos="0">
              <a:schemeClr val="accent3">
                <a:lumMod val="110000"/>
                <a:satMod val="105000"/>
                <a:tint val="67000"/>
              </a:schemeClr>
            </a:gs>
            <a:gs pos="50000">
              <a:schemeClr val="accent3">
                <a:lumMod val="105000"/>
                <a:satMod val="103000"/>
                <a:tint val="73000"/>
              </a:schemeClr>
            </a:gs>
            <a:gs pos="100000">
              <a:schemeClr val="accent3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3"/>
          </a:solidFill>
          <a:prstDash val="solid"/>
          <a:miter lim="800000"/>
        </a:ln>
        <a:effectLst/>
        <a:scene3d>
          <a:camera prst="orthographicFront"/>
          <a:lightRig rig="flat" dir="t"/>
        </a:scene3d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  <dsp:txBody>
        <a:bodyPr spcFirstLastPara="0" vert="horz" wrap="square" lIns="29845" tIns="29845" rIns="29845" bIns="29845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700" b="1" kern="1200" dirty="0">
              <a:latin typeface="Times New Roman" pitchFamily="18" charset="0"/>
              <a:cs typeface="Times New Roman" pitchFamily="18" charset="0"/>
            </a:rPr>
            <a:t>2</a:t>
          </a:r>
        </a:p>
      </dsp:txBody>
      <dsp:txXfrm>
        <a:off x="6605818" y="2669348"/>
        <a:ext cx="3176206" cy="968355"/>
      </dsp:txXfrm>
    </dsp:sp>
    <dsp:sp modelId="{486169FE-31A5-4D39-9265-2329D257A6E7}">
      <dsp:nvSpPr>
        <dsp:cNvPr id="0" name=""/>
        <dsp:cNvSpPr/>
      </dsp:nvSpPr>
      <dsp:spPr>
        <a:xfrm>
          <a:off x="6605818" y="3879792"/>
          <a:ext cx="3176206" cy="968355"/>
        </a:xfrm>
        <a:prstGeom prst="rect">
          <a:avLst/>
        </a:prstGeom>
        <a:gradFill rotWithShape="1">
          <a:gsLst>
            <a:gs pos="0">
              <a:schemeClr val="accent3">
                <a:lumMod val="110000"/>
                <a:satMod val="105000"/>
                <a:tint val="67000"/>
              </a:schemeClr>
            </a:gs>
            <a:gs pos="50000">
              <a:schemeClr val="accent3">
                <a:lumMod val="105000"/>
                <a:satMod val="103000"/>
                <a:tint val="73000"/>
              </a:schemeClr>
            </a:gs>
            <a:gs pos="100000">
              <a:schemeClr val="accent3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3"/>
          </a:solidFill>
          <a:prstDash val="solid"/>
          <a:miter lim="800000"/>
        </a:ln>
        <a:effectLst/>
        <a:scene3d>
          <a:camera prst="orthographicFront"/>
          <a:lightRig rig="flat" dir="t"/>
        </a:scene3d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  <dsp:txBody>
        <a:bodyPr spcFirstLastPara="0" vert="horz" wrap="square" lIns="29845" tIns="29845" rIns="29845" bIns="29845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700" b="1" kern="1200" dirty="0">
              <a:latin typeface="Times New Roman" pitchFamily="18" charset="0"/>
              <a:cs typeface="Times New Roman" pitchFamily="18" charset="0"/>
            </a:rPr>
            <a:t>18,2%</a:t>
          </a:r>
        </a:p>
      </dsp:txBody>
      <dsp:txXfrm>
        <a:off x="6605818" y="3879792"/>
        <a:ext cx="3176206" cy="96835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792203-288E-4697-9418-B40E6BBD6C4E}">
      <dsp:nvSpPr>
        <dsp:cNvPr id="0" name=""/>
        <dsp:cNvSpPr/>
      </dsp:nvSpPr>
      <dsp:spPr>
        <a:xfrm>
          <a:off x="2009" y="1193"/>
          <a:ext cx="4110780" cy="1230052"/>
        </a:xfrm>
        <a:prstGeom prst="ellipse">
          <a:avLst/>
        </a:prstGeom>
        <a:gradFill rotWithShape="1">
          <a:gsLst>
            <a:gs pos="0">
              <a:schemeClr val="accent2">
                <a:satMod val="103000"/>
                <a:lumMod val="102000"/>
                <a:tint val="94000"/>
              </a:schemeClr>
            </a:gs>
            <a:gs pos="50000">
              <a:schemeClr val="accent2">
                <a:satMod val="110000"/>
                <a:lumMod val="100000"/>
                <a:shade val="100000"/>
              </a:schemeClr>
            </a:gs>
            <a:gs pos="100000">
              <a:schemeClr val="accent2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1" i="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Сауығу</a:t>
          </a:r>
          <a:r>
            <a:rPr lang="ru-RU" sz="2800" b="1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2800" b="1" kern="1200" dirty="0">
              <a:latin typeface="Times New Roman" pitchFamily="18" charset="0"/>
              <a:cs typeface="Times New Roman" pitchFamily="18" charset="0"/>
            </a:rPr>
            <a:t>– 21%</a:t>
          </a:r>
        </a:p>
      </dsp:txBody>
      <dsp:txXfrm>
        <a:off x="604019" y="181330"/>
        <a:ext cx="2906760" cy="869778"/>
      </dsp:txXfrm>
    </dsp:sp>
    <dsp:sp modelId="{803474A6-622E-4357-BE6D-23E14A897D7C}">
      <dsp:nvSpPr>
        <dsp:cNvPr id="0" name=""/>
        <dsp:cNvSpPr/>
      </dsp:nvSpPr>
      <dsp:spPr>
        <a:xfrm>
          <a:off x="2009" y="1305055"/>
          <a:ext cx="4110780" cy="1230052"/>
        </a:xfrm>
        <a:prstGeom prst="ellipse">
          <a:avLst/>
        </a:prstGeom>
        <a:gradFill rotWithShape="1">
          <a:gsLst>
            <a:gs pos="0">
              <a:schemeClr val="accent3">
                <a:satMod val="103000"/>
                <a:lumMod val="102000"/>
                <a:tint val="94000"/>
              </a:schemeClr>
            </a:gs>
            <a:gs pos="50000">
              <a:schemeClr val="accent3">
                <a:satMod val="110000"/>
                <a:lumMod val="100000"/>
                <a:shade val="100000"/>
              </a:schemeClr>
            </a:gs>
            <a:gs pos="100000">
              <a:schemeClr val="accent3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0">
          <a:schemeClr val="accent3"/>
        </a:lnRef>
        <a:fillRef idx="3">
          <a:schemeClr val="accent3"/>
        </a:fillRef>
        <a:effectRef idx="3">
          <a:schemeClr val="accent3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1" kern="1200" dirty="0" err="1">
              <a:latin typeface="Times New Roman" pitchFamily="18" charset="0"/>
              <a:cs typeface="Times New Roman" pitchFamily="18" charset="0"/>
            </a:rPr>
            <a:t>Жақсару</a:t>
          </a:r>
          <a:r>
            <a:rPr lang="ru-RU" sz="2800" b="1" kern="1200" dirty="0">
              <a:latin typeface="Times New Roman" pitchFamily="18" charset="0"/>
              <a:cs typeface="Times New Roman" pitchFamily="18" charset="0"/>
            </a:rPr>
            <a:t> – 79%</a:t>
          </a:r>
        </a:p>
      </dsp:txBody>
      <dsp:txXfrm>
        <a:off x="604019" y="1485192"/>
        <a:ext cx="2906760" cy="869778"/>
      </dsp:txXfrm>
    </dsp:sp>
    <dsp:sp modelId="{83B63233-6E0F-4F00-8CD0-4F3BA8C4559E}">
      <dsp:nvSpPr>
        <dsp:cNvPr id="0" name=""/>
        <dsp:cNvSpPr/>
      </dsp:nvSpPr>
      <dsp:spPr>
        <a:xfrm>
          <a:off x="4018" y="2610110"/>
          <a:ext cx="4110780" cy="1230052"/>
        </a:xfrm>
        <a:prstGeom prst="ellipse">
          <a:avLst/>
        </a:prstGeom>
        <a:gradFill rotWithShape="1">
          <a:gsLst>
            <a:gs pos="0">
              <a:schemeClr val="accent4">
                <a:satMod val="103000"/>
                <a:lumMod val="102000"/>
                <a:tint val="94000"/>
              </a:schemeClr>
            </a:gs>
            <a:gs pos="50000">
              <a:schemeClr val="accent4">
                <a:satMod val="110000"/>
                <a:lumMod val="100000"/>
                <a:shade val="100000"/>
              </a:schemeClr>
            </a:gs>
            <a:gs pos="100000">
              <a:schemeClr val="accent4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0">
          <a:schemeClr val="accent4"/>
        </a:lnRef>
        <a:fillRef idx="3">
          <a:schemeClr val="accent4"/>
        </a:fillRef>
        <a:effectRef idx="3">
          <a:schemeClr val="accent4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1" kern="1200" dirty="0" err="1">
              <a:latin typeface="Times New Roman" pitchFamily="18" charset="0"/>
              <a:cs typeface="Times New Roman" pitchFamily="18" charset="0"/>
            </a:rPr>
            <a:t>Өзгеріссіз</a:t>
          </a:r>
          <a:r>
            <a:rPr lang="ru-RU" sz="2800" b="1" kern="1200" dirty="0">
              <a:latin typeface="Times New Roman" pitchFamily="18" charset="0"/>
              <a:cs typeface="Times New Roman" pitchFamily="18" charset="0"/>
            </a:rPr>
            <a:t> – 0%</a:t>
          </a:r>
        </a:p>
      </dsp:txBody>
      <dsp:txXfrm>
        <a:off x="606028" y="2790247"/>
        <a:ext cx="2906760" cy="8697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2.png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0.40911</cdr:x>
      <cdr:y>0.45212</cdr:y>
    </cdr:from>
    <cdr:to>
      <cdr:x>0.55069</cdr:x>
      <cdr:y>0.5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2B03B972-9AEA-4BB0-8C5F-662DF7E24000}"/>
            </a:ext>
          </a:extLst>
        </cdr:cNvPr>
        <cdr:cNvSpPr txBox="1"/>
      </cdr:nvSpPr>
      <cdr:spPr>
        <a:xfrm xmlns:a="http://schemas.openxmlformats.org/drawingml/2006/main">
          <a:off x="2201761" y="2078645"/>
          <a:ext cx="762000" cy="220133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ru-RU" sz="1100" b="1" dirty="0"/>
            <a:t>4020</a:t>
          </a:r>
          <a:endParaRPr lang="ru-KZ" sz="1100" b="1" dirty="0"/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0.13468</cdr:x>
      <cdr:y>0.84157</cdr:y>
    </cdr:from>
    <cdr:to>
      <cdr:x>0.21175</cdr:x>
      <cdr:y>1</cdr:y>
    </cdr:to>
    <cdr:sp macro="" textlink="">
      <cdr:nvSpPr>
        <cdr:cNvPr id="2" name="Прямоугольник 1"/>
        <cdr:cNvSpPr/>
      </cdr:nvSpPr>
      <cdr:spPr>
        <a:xfrm xmlns:a="http://schemas.openxmlformats.org/drawingml/2006/main">
          <a:off x="1506605" y="2896468"/>
          <a:ext cx="862148" cy="54527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vert="horz" wrap="square" lIns="45720" tIns="45720" rIns="45720" bIns="45720" rtlCol="0" anchor="t" anchorCtr="0">
          <a:normAutofit/>
        </a:bodyPr>
        <a:lstStyle xmlns:a="http://schemas.openxmlformats.org/drawingml/2006/main"/>
        <a:p xmlns:a="http://schemas.openxmlformats.org/drawingml/2006/main">
          <a:pPr algn="ctr"/>
          <a:r>
            <a: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ҚАЖ аурулары </a:t>
          </a:r>
          <a:endParaRPr lang="ru-RU" sz="12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cdr:txBody>
    </cdr:sp>
  </cdr:relSizeAnchor>
  <cdr:relSizeAnchor xmlns:cdr="http://schemas.openxmlformats.org/drawingml/2006/chartDrawing">
    <cdr:from>
      <cdr:x>0.24965</cdr:x>
      <cdr:y>0.84927</cdr:y>
    </cdr:from>
    <cdr:to>
      <cdr:x>0.35357</cdr:x>
      <cdr:y>1</cdr:y>
    </cdr:to>
    <cdr:sp macro="" textlink="">
      <cdr:nvSpPr>
        <cdr:cNvPr id="3" name="Прямоугольник 2"/>
        <cdr:cNvSpPr/>
      </cdr:nvSpPr>
      <cdr:spPr>
        <a:xfrm xmlns:a="http://schemas.openxmlformats.org/drawingml/2006/main">
          <a:off x="2792680" y="2723288"/>
          <a:ext cx="1162596" cy="483325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vert="horz" wrap="square" lIns="45720" tIns="45720" rIns="45720" bIns="45720" rtlCol="0" anchor="t" anchorCtr="0">
          <a:normAutofit/>
        </a:bodyPr>
        <a:lstStyle xmlns:a="http://schemas.openxmlformats.org/drawingml/2006/main"/>
        <a:p xmlns:a="http://schemas.openxmlformats.org/drawingml/2006/main">
          <a:pPr algn="ctr"/>
          <a:r>
            <a:rPr lang="ru-RU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ГЛАУКОМА</a:t>
          </a:r>
        </a:p>
      </cdr:txBody>
    </cdr:sp>
  </cdr:relSizeAnchor>
  <cdr:relSizeAnchor xmlns:cdr="http://schemas.openxmlformats.org/drawingml/2006/chartDrawing">
    <cdr:from>
      <cdr:x>0.36759</cdr:x>
      <cdr:y>0.83538</cdr:y>
    </cdr:from>
    <cdr:to>
      <cdr:x>0.48266</cdr:x>
      <cdr:y>1</cdr:y>
    </cdr:to>
    <cdr:sp macro="" textlink="">
      <cdr:nvSpPr>
        <cdr:cNvPr id="4" name="Прямоугольник 3"/>
        <cdr:cNvSpPr/>
      </cdr:nvSpPr>
      <cdr:spPr>
        <a:xfrm xmlns:a="http://schemas.openxmlformats.org/drawingml/2006/main">
          <a:off x="4112066" y="2875164"/>
          <a:ext cx="1287237" cy="56658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vert="horz" wrap="square" lIns="45720" tIns="45720" rIns="45720" bIns="45720" rtlCol="0" anchor="t" anchorCtr="0">
          <a:normAutofit/>
        </a:bodyPr>
        <a:lstStyle xmlns:a="http://schemas.openxmlformats.org/drawingml/2006/main"/>
        <a:p xmlns:a="http://schemas.openxmlformats.org/drawingml/2006/main">
          <a:pPr algn="ctr"/>
          <a:r>
            <a: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Қант </a:t>
          </a:r>
        </a:p>
        <a:p xmlns:a="http://schemas.openxmlformats.org/drawingml/2006/main">
          <a:pPr algn="ctr"/>
          <a:r>
            <a: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диабеті </a:t>
          </a:r>
        </a:p>
        <a:p xmlns:a="http://schemas.openxmlformats.org/drawingml/2006/main">
          <a:pPr algn="ctr"/>
          <a:endParaRPr lang="ru-RU" sz="12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cdr:txBody>
    </cdr:sp>
  </cdr:relSizeAnchor>
  <cdr:relSizeAnchor xmlns:cdr="http://schemas.openxmlformats.org/drawingml/2006/chartDrawing">
    <cdr:from>
      <cdr:x>0.49602</cdr:x>
      <cdr:y>0.84086</cdr:y>
    </cdr:from>
    <cdr:to>
      <cdr:x>0.57309</cdr:x>
      <cdr:y>0.9521</cdr:y>
    </cdr:to>
    <cdr:sp macro="" textlink="">
      <cdr:nvSpPr>
        <cdr:cNvPr id="5" name="Прямоугольник 4"/>
        <cdr:cNvSpPr/>
      </cdr:nvSpPr>
      <cdr:spPr>
        <a:xfrm xmlns:a="http://schemas.openxmlformats.org/drawingml/2006/main">
          <a:off x="5548745" y="2696313"/>
          <a:ext cx="862149" cy="356715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="horz" wrap="square" lIns="45720" tIns="45720" rIns="45720" bIns="45720" rtlCol="0" anchor="t" anchorCtr="0">
          <a:norm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ҚАЖ </a:t>
          </a:r>
        </a:p>
        <a:p xmlns:a="http://schemas.openxmlformats.org/drawingml/2006/main">
          <a:pPr algn="ctr"/>
          <a:r>
            <a: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аурулары</a:t>
          </a:r>
          <a:endParaRPr lang="ru-RU" sz="12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cdr:txBody>
    </cdr:sp>
  </cdr:relSizeAnchor>
  <cdr:relSizeAnchor xmlns:cdr="http://schemas.openxmlformats.org/drawingml/2006/chartDrawing">
    <cdr:from>
      <cdr:x>0.62006</cdr:x>
      <cdr:y>0.82703</cdr:y>
    </cdr:from>
    <cdr:to>
      <cdr:x>0.71816</cdr:x>
      <cdr:y>0.94297</cdr:y>
    </cdr:to>
    <cdr:pic>
      <cdr:nvPicPr>
        <cdr:cNvPr id="6" name="Изображение 5">
          <a:extLst xmlns:a="http://schemas.openxmlformats.org/drawingml/2006/main">
            <a:ext uri="{FF2B5EF4-FFF2-40B4-BE49-F238E27FC236}">
              <a16:creationId xmlns:a16="http://schemas.microsoft.com/office/drawing/2014/main" id="{2C4CED08-FF9D-4BA2-A198-58666C57D098}"/>
            </a:ext>
          </a:extLst>
        </cdr:cNvPr>
        <cdr:cNvPicPr/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6936377" y="2651959"/>
          <a:ext cx="1097375" cy="371775"/>
        </a:xfrm>
        <a:prstGeom xmlns:a="http://schemas.openxmlformats.org/drawingml/2006/main" prst="rect">
          <a:avLst/>
        </a:prstGeom>
      </cdr:spPr>
    </cdr:pic>
  </cdr:relSizeAnchor>
  <cdr:relSizeAnchor xmlns:cdr="http://schemas.openxmlformats.org/drawingml/2006/chartDrawing">
    <cdr:from>
      <cdr:x>0.73763</cdr:x>
      <cdr:y>0.83679</cdr:y>
    </cdr:from>
    <cdr:to>
      <cdr:x>0.8527</cdr:x>
      <cdr:y>0.94803</cdr:y>
    </cdr:to>
    <cdr:sp macro="" textlink="">
      <cdr:nvSpPr>
        <cdr:cNvPr id="7" name="Прямоугольник 6"/>
        <cdr:cNvSpPr/>
      </cdr:nvSpPr>
      <cdr:spPr>
        <a:xfrm xmlns:a="http://schemas.openxmlformats.org/drawingml/2006/main">
          <a:off x="8251504" y="2683250"/>
          <a:ext cx="1287285" cy="35671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="horz" wrap="square" lIns="45720" tIns="45720" rIns="45720" bIns="45720" rtlCol="0" anchor="t" anchorCtr="0">
          <a:norm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Қант </a:t>
          </a:r>
        </a:p>
        <a:p xmlns:a="http://schemas.openxmlformats.org/drawingml/2006/main">
          <a:pPr algn="ctr"/>
          <a:r>
            <a: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дибеті </a:t>
          </a:r>
          <a:endParaRPr lang="ru-RU" sz="12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0.08407</cdr:x>
      <cdr:y>0.85919</cdr:y>
    </cdr:from>
    <cdr:to>
      <cdr:x>0.9178</cdr:x>
      <cdr:y>0.92533</cdr:y>
    </cdr:to>
    <cdr:sp macro="" textlink="">
      <cdr:nvSpPr>
        <cdr:cNvPr id="2" name="Прямоугольник 1"/>
        <cdr:cNvSpPr/>
      </cdr:nvSpPr>
      <cdr:spPr>
        <a:xfrm xmlns:a="http://schemas.openxmlformats.org/drawingml/2006/main">
          <a:off x="800741" y="3736229"/>
          <a:ext cx="7941304" cy="287628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vert="horz" wrap="square" lIns="45720" tIns="45720" rIns="45720" bIns="45720" rtlCol="0" anchor="t" anchorCtr="0">
          <a:normAutofit/>
        </a:bodyPr>
        <a:lstStyle xmlns:a="http://schemas.openxmlformats.org/drawingml/2006/main"/>
        <a:p xmlns:a="http://schemas.openxmlformats.org/drawingml/2006/main">
          <a:r>
            <a:rPr lang="ru-RU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                 2024 ж                                                                 2025г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3D0486D4-4563-05E5-D617-557CA293032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97F4CBC-1461-2A9B-4FC3-3FB3A8B854A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2CA541E3-DDF1-4824-942C-1D385D8DA97B}" type="datetimeFigureOut">
              <a:rPr lang="en-US"/>
              <a:pPr>
                <a:defRPr/>
              </a:pPr>
              <a:t>2/4/2026</a:t>
            </a:fld>
            <a:endParaRPr lang="en-US"/>
          </a:p>
        </p:txBody>
      </p:sp>
      <p:sp>
        <p:nvSpPr>
          <p:cNvPr id="4" name="Образ слайда 3">
            <a:extLst>
              <a:ext uri="{FF2B5EF4-FFF2-40B4-BE49-F238E27FC236}">
                <a16:creationId xmlns:a16="http://schemas.microsoft.com/office/drawing/2014/main" id="{FE6EB595-FACA-F409-6E19-51E5585DDE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Заметки 4">
            <a:extLst>
              <a:ext uri="{FF2B5EF4-FFF2-40B4-BE49-F238E27FC236}">
                <a16:creationId xmlns:a16="http://schemas.microsoft.com/office/drawing/2014/main" id="{D5F488E0-9D74-0877-A657-5A0A55CAAB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  <a:endParaRPr lang="en-US" noProof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9B536E0-FF0F-DC2B-0D1E-3D27F3564E4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762DDB9-9FB9-9EF6-1113-3ABDE79751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F206E883-E644-436E-8A13-5DFE91AE0B33}" type="slidenum">
              <a:rPr lang="en-US" altLang="ru-RU"/>
              <a:pPr/>
              <a:t>‹#›</a:t>
            </a:fld>
            <a:endParaRPr lang="en-US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Образ слайда 1">
            <a:extLst>
              <a:ext uri="{FF2B5EF4-FFF2-40B4-BE49-F238E27FC236}">
                <a16:creationId xmlns:a16="http://schemas.microsoft.com/office/drawing/2014/main" id="{995842B1-5E38-E36E-DE09-CCB09A267D2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Заметки 2">
            <a:extLst>
              <a:ext uri="{FF2B5EF4-FFF2-40B4-BE49-F238E27FC236}">
                <a16:creationId xmlns:a16="http://schemas.microsoft.com/office/drawing/2014/main" id="{8099C514-3734-FBA8-818A-91E1A2B50E0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ru-RU" alt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60655D2-5494-54F8-C01B-4831296152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6ECAC213-8E3F-40CD-B57D-522A49E5CE7A}" type="slidenum">
              <a:rPr lang="ru-RU" altLang="ru-RU"/>
              <a:pPr/>
              <a:t>1</a:t>
            </a:fld>
            <a:endParaRPr lang="ru-RU" alt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Образ слайда 1">
            <a:extLst>
              <a:ext uri="{FF2B5EF4-FFF2-40B4-BE49-F238E27FC236}">
                <a16:creationId xmlns:a16="http://schemas.microsoft.com/office/drawing/2014/main" id="{23219A8F-703B-69F8-7721-6C18BB98E9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Заметки 2">
            <a:extLst>
              <a:ext uri="{FF2B5EF4-FFF2-40B4-BE49-F238E27FC236}">
                <a16:creationId xmlns:a16="http://schemas.microsoft.com/office/drawing/2014/main" id="{D510396A-14B3-B6F8-7FE0-0ADB85B2B76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en-US"/>
          </a:p>
        </p:txBody>
      </p:sp>
      <p:sp>
        <p:nvSpPr>
          <p:cNvPr id="11268" name="Номер слайда 3">
            <a:extLst>
              <a:ext uri="{FF2B5EF4-FFF2-40B4-BE49-F238E27FC236}">
                <a16:creationId xmlns:a16="http://schemas.microsoft.com/office/drawing/2014/main" id="{5BCBF088-BFB4-3FC7-3AEF-581EFFAFFE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D30EB4FB-822E-49A8-B98E-ADE495EB39CA}" type="slidenum">
              <a:rPr lang="ru-RU" altLang="en-US"/>
              <a:pPr/>
              <a:t>10</a:t>
            </a:fld>
            <a:endParaRPr lang="ru-RU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Образ слайда 1">
            <a:extLst>
              <a:ext uri="{FF2B5EF4-FFF2-40B4-BE49-F238E27FC236}">
                <a16:creationId xmlns:a16="http://schemas.microsoft.com/office/drawing/2014/main" id="{DA033EE3-F9AC-2BB7-7D84-3E3D9988EE1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Заметки 2">
            <a:extLst>
              <a:ext uri="{FF2B5EF4-FFF2-40B4-BE49-F238E27FC236}">
                <a16:creationId xmlns:a16="http://schemas.microsoft.com/office/drawing/2014/main" id="{7390224D-D578-52F1-1C8A-88013CA5A5B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en-US"/>
          </a:p>
        </p:txBody>
      </p:sp>
      <p:sp>
        <p:nvSpPr>
          <p:cNvPr id="16388" name="Номер слайда 3">
            <a:extLst>
              <a:ext uri="{FF2B5EF4-FFF2-40B4-BE49-F238E27FC236}">
                <a16:creationId xmlns:a16="http://schemas.microsoft.com/office/drawing/2014/main" id="{C9DBE227-7C3F-3501-618A-CE292D0EF0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157A1BEE-344E-4659-8A89-856FF839BBE8}" type="slidenum">
              <a:rPr lang="ru-RU" altLang="en-US"/>
              <a:pPr/>
              <a:t>13</a:t>
            </a:fld>
            <a:endParaRPr lang="ru-RU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Образ слайда 1">
            <a:extLst>
              <a:ext uri="{FF2B5EF4-FFF2-40B4-BE49-F238E27FC236}">
                <a16:creationId xmlns:a16="http://schemas.microsoft.com/office/drawing/2014/main" id="{B3B4F609-7F5F-765E-E858-F28F9C1BF76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Заметки 2">
            <a:extLst>
              <a:ext uri="{FF2B5EF4-FFF2-40B4-BE49-F238E27FC236}">
                <a16:creationId xmlns:a16="http://schemas.microsoft.com/office/drawing/2014/main" id="{798DA4BD-79AC-7561-F573-69889D7E544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ru-RU" altLang="en-US"/>
              <a:t>Айбаршын М поменять цифры и тип диаграммы </a:t>
            </a:r>
          </a:p>
        </p:txBody>
      </p:sp>
      <p:sp>
        <p:nvSpPr>
          <p:cNvPr id="30724" name="Номер слайда 3">
            <a:extLst>
              <a:ext uri="{FF2B5EF4-FFF2-40B4-BE49-F238E27FC236}">
                <a16:creationId xmlns:a16="http://schemas.microsoft.com/office/drawing/2014/main" id="{2C80B97E-F683-85A3-2BCC-EA014A6BE4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647CBD7C-24F8-4678-A4E1-7CAC41977F6D}" type="slidenum">
              <a:rPr lang="ru-RU" altLang="en-US"/>
              <a:pPr/>
              <a:t>26</a:t>
            </a:fld>
            <a:endParaRPr lang="ru-RU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Образ слайда 1">
            <a:extLst>
              <a:ext uri="{FF2B5EF4-FFF2-40B4-BE49-F238E27FC236}">
                <a16:creationId xmlns:a16="http://schemas.microsoft.com/office/drawing/2014/main" id="{685A9E6A-32A2-E000-B882-7DE4D82E9ED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Заметки 2">
            <a:extLst>
              <a:ext uri="{FF2B5EF4-FFF2-40B4-BE49-F238E27FC236}">
                <a16:creationId xmlns:a16="http://schemas.microsoft.com/office/drawing/2014/main" id="{730BE4A2-1370-026C-E6DE-B2CB094D55A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en-US"/>
          </a:p>
        </p:txBody>
      </p:sp>
      <p:sp>
        <p:nvSpPr>
          <p:cNvPr id="40964" name="Номер слайда 3">
            <a:extLst>
              <a:ext uri="{FF2B5EF4-FFF2-40B4-BE49-F238E27FC236}">
                <a16:creationId xmlns:a16="http://schemas.microsoft.com/office/drawing/2014/main" id="{D89175A1-11B9-F753-FE96-CB1720B884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FC6E1345-6F0D-4881-BA5E-D00E4AD2241B}" type="slidenum">
              <a:rPr lang="ru-RU" altLang="en-US"/>
              <a:pPr/>
              <a:t>35</a:t>
            </a:fld>
            <a:endParaRPr lang="ru-RU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F7F22A3-498E-ED62-7511-E2935128D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E3C394-3B90-4E58-9866-2BA43B44D3E6}" type="datetimeFigureOut">
              <a:rPr lang="en-US"/>
              <a:pPr>
                <a:defRPr/>
              </a:pPr>
              <a:t>2/4/2026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44AD0E-F71A-E3C2-73B7-5720DB318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1E6C9A-2CD1-73FA-FBE0-A8DF806E5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C99CAA-3841-4C99-AF4B-726719530134}" type="slidenum">
              <a:rPr lang="en-US" altLang="ru-RU"/>
              <a:pPr/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2819288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3B198BF-EFD9-F357-3C77-A83FA7495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A98D91-173E-4EB2-AE2D-C8B94F6E7293}" type="datetimeFigureOut">
              <a:rPr lang="en-US"/>
              <a:pPr>
                <a:defRPr/>
              </a:pPr>
              <a:t>2/4/2026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4F44EA6-708B-6EE9-BD27-F24D5AD85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DD134C4-6BC4-60C3-D9A3-FFE642280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F14D2E-D5DF-4D58-9385-A1B6E8A4FC7D}" type="slidenum">
              <a:rPr lang="en-US" altLang="ru-RU"/>
              <a:pPr/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1185831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30A31DE-4006-4847-F5CF-E2487D59E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3F4DB8-07A2-4585-8A68-9298E62C3F4B}" type="datetimeFigureOut">
              <a:rPr lang="en-US"/>
              <a:pPr>
                <a:defRPr/>
              </a:pPr>
              <a:t>2/4/2026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917F6A-2C08-26E1-26D9-8A68E0121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FF50920-E853-B093-4AB3-ACF1E701E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AE7AAB-A2BD-4C60-BFB0-75E649D06DB4}" type="slidenum">
              <a:rPr lang="en-US" altLang="ru-RU"/>
              <a:pPr/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4077960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6621CD2B-0BCF-215D-E213-E67C85131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9D9B2B-3646-4FAB-BED1-6AEA4634D109}" type="datetimeFigureOut">
              <a:rPr lang="en-US"/>
              <a:pPr>
                <a:defRPr/>
              </a:pPr>
              <a:t>2/4/2026</a:t>
            </a:fld>
            <a:endParaRPr lang="en-US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7CCC393D-2B25-20F6-72BD-AB6D4F980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596D336B-CC93-7A2E-B666-BFD3BBAE3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FB89BE-879B-467C-9D01-DD7A3413DCBE}" type="slidenum">
              <a:rPr lang="en-US" altLang="ru-RU"/>
              <a:pPr/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741625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3">
            <a:extLst>
              <a:ext uri="{FF2B5EF4-FFF2-40B4-BE49-F238E27FC236}">
                <a16:creationId xmlns:a16="http://schemas.microsoft.com/office/drawing/2014/main" id="{448DDE2E-2FEF-B52B-0D9C-446A39734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968B8B-A505-4BB6-A9C2-40FCC1B61F08}" type="datetimeFigureOut">
              <a:rPr lang="en-US"/>
              <a:pPr>
                <a:defRPr/>
              </a:pPr>
              <a:t>2/4/2026</a:t>
            </a:fld>
            <a:endParaRPr lang="en-US"/>
          </a:p>
        </p:txBody>
      </p:sp>
      <p:sp>
        <p:nvSpPr>
          <p:cNvPr id="8" name="Нижний колонтитул 4">
            <a:extLst>
              <a:ext uri="{FF2B5EF4-FFF2-40B4-BE49-F238E27FC236}">
                <a16:creationId xmlns:a16="http://schemas.microsoft.com/office/drawing/2014/main" id="{1AA5CC12-3247-DC45-1AD5-A5503DD9E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EEF81249-768C-F10A-6FD7-D3B2482AF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0E46FD-7369-4628-98D5-90762480B996}" type="slidenum">
              <a:rPr lang="en-US" altLang="ru-RU"/>
              <a:pPr/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983404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3">
            <a:extLst>
              <a:ext uri="{FF2B5EF4-FFF2-40B4-BE49-F238E27FC236}">
                <a16:creationId xmlns:a16="http://schemas.microsoft.com/office/drawing/2014/main" id="{14D1B7EB-741F-D00A-86B2-AA26EC1E6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83C4D2-E6B4-4BCF-B246-BB1C499C6B5E}" type="datetimeFigureOut">
              <a:rPr lang="en-US"/>
              <a:pPr>
                <a:defRPr/>
              </a:pPr>
              <a:t>2/4/2026</a:t>
            </a:fld>
            <a:endParaRPr lang="en-US"/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C715FC97-935D-DC89-76EA-E29739707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6409463F-D780-31C6-8235-1AED76D12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6D7BBA-0D33-4AC3-AFB5-4B7C3673B831}" type="slidenum">
              <a:rPr lang="en-US" altLang="ru-RU"/>
              <a:pPr/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163875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3">
            <a:extLst>
              <a:ext uri="{FF2B5EF4-FFF2-40B4-BE49-F238E27FC236}">
                <a16:creationId xmlns:a16="http://schemas.microsoft.com/office/drawing/2014/main" id="{E97F3CCB-B3BE-FA69-047A-7D1E757A5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E2BBAF-455E-44CE-BFE3-1194F3642136}" type="datetimeFigureOut">
              <a:rPr lang="en-US"/>
              <a:pPr>
                <a:defRPr/>
              </a:pPr>
              <a:t>2/4/2026</a:t>
            </a:fld>
            <a:endParaRPr lang="en-US"/>
          </a:p>
        </p:txBody>
      </p:sp>
      <p:sp>
        <p:nvSpPr>
          <p:cNvPr id="3" name="Нижний колонтитул 4">
            <a:extLst>
              <a:ext uri="{FF2B5EF4-FFF2-40B4-BE49-F238E27FC236}">
                <a16:creationId xmlns:a16="http://schemas.microsoft.com/office/drawing/2014/main" id="{AE9890B2-0666-C0B2-6203-E40D54FAD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49906CC7-396A-78E6-89C7-1CDB1C291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ABC0BE-0DE1-489D-B557-4BC14962C39F}" type="slidenum">
              <a:rPr lang="en-US" altLang="ru-RU"/>
              <a:pPr/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2363675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576C116B-D944-EBD1-856E-2367C5554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8C303C-3BBC-49FD-94C6-929F4435AFD5}" type="datetimeFigureOut">
              <a:rPr lang="en-US"/>
              <a:pPr>
                <a:defRPr/>
              </a:pPr>
              <a:t>2/4/2026</a:t>
            </a:fld>
            <a:endParaRPr lang="en-US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7D9078D7-88E8-676C-5CB3-4220DFD7E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75E11718-2085-3370-E30A-74F1F06D6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A2715E-30A6-4B87-923F-EDDC55846059}" type="slidenum">
              <a:rPr lang="en-US" altLang="ru-RU"/>
              <a:pPr/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3579980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C665ADEC-13F4-D516-60DE-1B193D49C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276F67-DCF3-4F57-96A6-BE7B121E4B0D}" type="datetimeFigureOut">
              <a:rPr lang="en-US"/>
              <a:pPr>
                <a:defRPr/>
              </a:pPr>
              <a:t>2/4/2026</a:t>
            </a:fld>
            <a:endParaRPr lang="en-US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B85C64A-FAA9-B64B-07A3-E98498D3A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4C5B58CA-B6C2-C398-A0DE-DEC513023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667887-3D46-49E4-ACFB-2AEDCADBA5B6}" type="slidenum">
              <a:rPr lang="en-US" altLang="ru-RU"/>
              <a:pPr/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3783237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B3348ED-4CC4-3A0F-7C13-C4B09FEE9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8C83C7-C8B1-42AC-B23D-4C9EA878E6DA}" type="datetimeFigureOut">
              <a:rPr lang="en-US"/>
              <a:pPr>
                <a:defRPr/>
              </a:pPr>
              <a:t>2/4/2026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0AE3B51-BBD9-3224-4B36-3A33F1BFF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3484931-A1C6-7DFF-26A7-82A2C02AE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763801-C7A0-46CD-8614-9BA61026AB58}" type="slidenum">
              <a:rPr lang="en-US" altLang="ru-RU"/>
              <a:pPr/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2889258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D7B38F3-7E54-80BD-47A3-95BAE5170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920AAC-774B-41F2-9B77-5FDB26FFB741}" type="datetimeFigureOut">
              <a:rPr lang="en-US"/>
              <a:pPr>
                <a:defRPr/>
              </a:pPr>
              <a:t>2/4/2026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B7C5D4-F24E-24B5-9427-67E330E3A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6BCC75-4554-A911-0C4A-D7E48E8B7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6B695C-6F49-4556-9CA5-74D0CF596138}" type="slidenum">
              <a:rPr lang="en-US" altLang="ru-RU"/>
              <a:pPr/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27034720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B63B5EC-B92E-08F0-331E-E437455E05A9}"/>
              </a:ext>
            </a:extLst>
          </p:cNvPr>
          <p:cNvSpPr txBox="1">
            <a:spLocks/>
          </p:cNvSpPr>
          <p:nvPr userDrawn="1"/>
        </p:nvSpPr>
        <p:spPr>
          <a:xfrm>
            <a:off x="11385550" y="234950"/>
            <a:ext cx="649288" cy="328613"/>
          </a:xfrm>
          <a:prstGeom prst="rect">
            <a:avLst/>
          </a:prstGeom>
        </p:spPr>
        <p:txBody>
          <a:bodyPr wrap="none" lIns="121920" tIns="60960" rIns="121920" bIns="6096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fld id="{BDA64A0F-061E-4D31-88C9-D22B8B48DB46}" type="slidenum">
              <a:rPr lang="en-US" altLang="ru-RU" sz="1200" b="1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pPr algn="ctr" eaLnBrk="1" hangingPunct="1"/>
              <a:t>‹#›</a:t>
            </a:fld>
            <a:endParaRPr lang="en-US" altLang="ru-RU" sz="1200" b="1">
              <a:solidFill>
                <a:srgbClr val="000000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ource Sans Pro" panose="020B0503030403020204" pitchFamily="34" charset="0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724525" y="126586"/>
            <a:ext cx="5709547" cy="2358197"/>
          </a:xfrm>
        </p:spPr>
        <p:txBody>
          <a:bodyPr anchor="t">
            <a:normAutofit/>
          </a:bodyPr>
          <a:lstStyle>
            <a:lvl1pPr>
              <a:defRPr sz="3400" b="1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29155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>
            <a:extLst>
              <a:ext uri="{FF2B5EF4-FFF2-40B4-BE49-F238E27FC236}">
                <a16:creationId xmlns:a16="http://schemas.microsoft.com/office/drawing/2014/main" id="{8F84E23A-769C-1B59-6371-A185138CB297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en-US"/>
              <a:t>Образец заголовка</a:t>
            </a:r>
            <a:endParaRPr lang="en-US" altLang="en-US"/>
          </a:p>
        </p:txBody>
      </p:sp>
      <p:sp>
        <p:nvSpPr>
          <p:cNvPr id="1027" name="Текст 2">
            <a:extLst>
              <a:ext uri="{FF2B5EF4-FFF2-40B4-BE49-F238E27FC236}">
                <a16:creationId xmlns:a16="http://schemas.microsoft.com/office/drawing/2014/main" id="{E633D499-AB3F-063A-DDBF-75C62C9D323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en-US"/>
              <a:t>Образец текста</a:t>
            </a:r>
          </a:p>
          <a:p>
            <a:pPr lvl="1"/>
            <a:r>
              <a:rPr lang="ru-RU" altLang="en-US"/>
              <a:t>Второй уровень</a:t>
            </a:r>
          </a:p>
          <a:p>
            <a:pPr lvl="2"/>
            <a:r>
              <a:rPr lang="ru-RU" altLang="en-US"/>
              <a:t>Третий уровень</a:t>
            </a:r>
          </a:p>
          <a:p>
            <a:pPr lvl="3"/>
            <a:r>
              <a:rPr lang="ru-RU" altLang="en-US"/>
              <a:t>Четвертый уровень</a:t>
            </a:r>
          </a:p>
          <a:p>
            <a:pPr lvl="4"/>
            <a:r>
              <a:rPr lang="ru-RU" altLang="en-US"/>
              <a:t>Пятый уровень</a:t>
            </a:r>
            <a:endParaRPr lang="en-US" alt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29D7421-F483-6DD7-8955-5A0C09DD83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6FC4BFD3-5AC1-40E7-9481-F43322AA0495}" type="datetimeFigureOut">
              <a:rPr lang="en-US"/>
              <a:pPr>
                <a:defRPr/>
              </a:pPr>
              <a:t>2/4/2026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1D1BE2A-DFB0-DC65-7868-DEED92EEAD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72C323-2722-F2CB-F059-B4568AEFBD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15C1614D-E413-47E1-93F7-BA860253A1C0}" type="slidenum">
              <a:rPr lang="en-US" altLang="ru-RU"/>
              <a:pPr/>
              <a:t>‹#›</a:t>
            </a:fld>
            <a:endParaRPr lang="en-US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priemnaya_gp33@mail.ru" TargetMode="External"/><Relationship Id="rId2" Type="http://schemas.openxmlformats.org/officeDocument/2006/relationships/hyperlink" Target="http://almgp33.kz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5" Type="http://schemas.openxmlformats.org/officeDocument/2006/relationships/oleObject" Target="../embeddings/oleObject2.bin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chart" Target="../charts/chart12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chart" Target="../charts/chart15.xml"/><Relationship Id="rId5" Type="http://schemas.openxmlformats.org/officeDocument/2006/relationships/image" Target="../media/image17.png"/><Relationship Id="rId10" Type="http://schemas.openxmlformats.org/officeDocument/2006/relationships/chart" Target="../charts/chart14.xml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1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1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3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5.xml"/><Relationship Id="rId2" Type="http://schemas.openxmlformats.org/officeDocument/2006/relationships/chart" Target="../charts/chart24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7.xml"/><Relationship Id="rId2" Type="http://schemas.openxmlformats.org/officeDocument/2006/relationships/chart" Target="../charts/chart26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6188E20-8945-AC98-BC76-AF98A8AA35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 eaLnBrk="1" hangingPunct="1">
              <a:defRPr/>
            </a:pPr>
            <a:br>
              <a:rPr lang="ru-RU" sz="3400" cap="all" dirty="0">
                <a:ln w="0">
                  <a:solidFill>
                    <a:schemeClr val="accent5">
                      <a:lumMod val="75000"/>
                      <a:lumOff val="25000"/>
                    </a:schemeClr>
                  </a:solidFill>
                </a:ln>
                <a:solidFill>
                  <a:schemeClr val="accent5">
                    <a:lumMod val="90000"/>
                    <a:lumOff val="10000"/>
                  </a:schemeClr>
                </a:solidFill>
                <a:effectLst>
                  <a:reflection blurRad="12700" stA="50000" endPos="50000" dist="5000" dir="5400000" sy="-100000" rotWithShape="0"/>
                </a:effectLst>
                <a:latin typeface="Times New Roman" pitchFamily="18" charset="0"/>
                <a:cs typeface="Times New Roman" pitchFamily="18" charset="0"/>
              </a:rPr>
            </a:br>
            <a:br>
              <a:rPr lang="ru-RU" sz="3400" cap="all" dirty="0">
                <a:ln w="0">
                  <a:solidFill>
                    <a:schemeClr val="accent5">
                      <a:lumMod val="75000"/>
                      <a:lumOff val="25000"/>
                    </a:schemeClr>
                  </a:solidFill>
                </a:ln>
                <a:solidFill>
                  <a:schemeClr val="accent5">
                    <a:lumMod val="90000"/>
                    <a:lumOff val="10000"/>
                  </a:schemeClr>
                </a:solidFill>
                <a:effectLst>
                  <a:reflection blurRad="12700" stA="50000" endPos="50000" dist="5000" dir="5400000" sy="-100000" rotWithShape="0"/>
                </a:effectLst>
                <a:latin typeface="Times New Roman" pitchFamily="18" charset="0"/>
                <a:cs typeface="Times New Roman" pitchFamily="18" charset="0"/>
              </a:rPr>
            </a:br>
            <a:br>
              <a:rPr lang="ru-RU" sz="2800" b="1" cap="all" dirty="0">
                <a:ln w="0">
                  <a:solidFill>
                    <a:schemeClr val="accent5">
                      <a:lumMod val="75000"/>
                      <a:lumOff val="25000"/>
                    </a:schemeClr>
                  </a:solidFill>
                </a:ln>
                <a:solidFill>
                  <a:schemeClr val="accent5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50000" endPos="50000" dist="5000" dir="5400000" sy="-100000" rotWithShape="0"/>
                </a:effectLst>
                <a:latin typeface="Times New Roman" pitchFamily="18" charset="0"/>
                <a:cs typeface="Times New Roman" pitchFamily="18" charset="0"/>
              </a:rPr>
            </a:br>
            <a:br>
              <a:rPr lang="ru-RU" sz="1600" cap="all" dirty="0">
                <a:ln w="0">
                  <a:solidFill>
                    <a:schemeClr val="accent5">
                      <a:lumMod val="75000"/>
                      <a:lumOff val="25000"/>
                    </a:schemeClr>
                  </a:solidFill>
                </a:ln>
                <a:solidFill>
                  <a:schemeClr val="accent5">
                    <a:lumMod val="90000"/>
                    <a:lumOff val="10000"/>
                  </a:schemeClr>
                </a:solidFill>
                <a:effectLst>
                  <a:reflection blurRad="12700" stA="50000" endPos="50000" dist="5000" dir="5400000" sy="-100000" rotWithShape="0"/>
                </a:effectLst>
                <a:latin typeface="Times New Roman" pitchFamily="18" charset="0"/>
                <a:cs typeface="Times New Roman" pitchFamily="18" charset="0"/>
              </a:rPr>
            </a:br>
            <a:br>
              <a:rPr lang="ru-RU" sz="1600" cap="all" dirty="0">
                <a:ln w="0">
                  <a:solidFill>
                    <a:schemeClr val="accent5">
                      <a:lumMod val="75000"/>
                      <a:lumOff val="25000"/>
                    </a:schemeClr>
                  </a:solidFill>
                </a:ln>
                <a:solidFill>
                  <a:schemeClr val="accent5">
                    <a:lumMod val="90000"/>
                    <a:lumOff val="10000"/>
                  </a:schemeClr>
                </a:solidFill>
                <a:effectLst>
                  <a:reflection blurRad="12700" stA="50000" endPos="50000" dist="5000" dir="5400000" sy="-100000" rotWithShape="0"/>
                </a:effectLst>
                <a:latin typeface="Times New Roman" pitchFamily="18" charset="0"/>
                <a:cs typeface="Times New Roman" pitchFamily="18" charset="0"/>
              </a:rPr>
            </a:br>
            <a:br>
              <a:rPr lang="ru-RU" sz="1600" cap="all" dirty="0">
                <a:ln w="0">
                  <a:solidFill>
                    <a:schemeClr val="accent5">
                      <a:lumMod val="75000"/>
                      <a:lumOff val="25000"/>
                    </a:schemeClr>
                  </a:solidFill>
                </a:ln>
                <a:solidFill>
                  <a:schemeClr val="accent5">
                    <a:lumMod val="90000"/>
                    <a:lumOff val="10000"/>
                  </a:schemeClr>
                </a:solidFill>
                <a:effectLst>
                  <a:reflection blurRad="12700" stA="50000" endPos="50000" dist="5000" dir="5400000" sy="-100000" rotWithShape="0"/>
                </a:effectLst>
                <a:latin typeface="Times New Roman" pitchFamily="18" charset="0"/>
                <a:cs typeface="Times New Roman" pitchFamily="18" charset="0"/>
              </a:rPr>
            </a:br>
            <a:br>
              <a:rPr lang="ru-RU" sz="1600" cap="all" dirty="0">
                <a:ln w="0">
                  <a:solidFill>
                    <a:schemeClr val="accent5">
                      <a:lumMod val="75000"/>
                      <a:lumOff val="25000"/>
                    </a:schemeClr>
                  </a:solidFill>
                </a:ln>
                <a:solidFill>
                  <a:schemeClr val="accent5">
                    <a:lumMod val="90000"/>
                    <a:lumOff val="10000"/>
                  </a:schemeClr>
                </a:solidFill>
                <a:effectLst>
                  <a:reflection blurRad="12700" stA="50000" endPos="50000" dist="5000" dir="5400000" sy="-100000" rotWithShape="0"/>
                </a:effectLst>
                <a:latin typeface="Times New Roman" pitchFamily="18" charset="0"/>
                <a:cs typeface="Times New Roman" pitchFamily="18" charset="0"/>
              </a:rPr>
            </a:br>
            <a:br>
              <a:rPr lang="ru-RU" sz="1600" cap="all" dirty="0">
                <a:ln w="0">
                  <a:solidFill>
                    <a:schemeClr val="accent5">
                      <a:lumMod val="75000"/>
                      <a:lumOff val="25000"/>
                    </a:schemeClr>
                  </a:solidFill>
                </a:ln>
                <a:solidFill>
                  <a:schemeClr val="accent5">
                    <a:lumMod val="90000"/>
                    <a:lumOff val="10000"/>
                  </a:schemeClr>
                </a:solidFill>
                <a:effectLst>
                  <a:reflection blurRad="12700" stA="50000" endPos="50000" dist="5000" dir="5400000" sy="-100000" rotWithShape="0"/>
                </a:effectLst>
                <a:latin typeface="Times New Roman" pitchFamily="18" charset="0"/>
                <a:cs typeface="Times New Roman" pitchFamily="18" charset="0"/>
              </a:rPr>
            </a:br>
            <a:br>
              <a:rPr lang="ru-RU" sz="1600" cap="all" dirty="0">
                <a:ln w="0">
                  <a:solidFill>
                    <a:schemeClr val="accent5">
                      <a:lumMod val="75000"/>
                      <a:lumOff val="25000"/>
                    </a:schemeClr>
                  </a:solidFill>
                </a:ln>
                <a:solidFill>
                  <a:schemeClr val="accent5">
                    <a:lumMod val="90000"/>
                    <a:lumOff val="10000"/>
                  </a:schemeClr>
                </a:solidFill>
                <a:effectLst>
                  <a:reflection blurRad="12700" stA="50000" endPos="50000" dist="5000" dir="5400000" sy="-100000" rotWithShape="0"/>
                </a:effectLst>
                <a:latin typeface="Times New Roman" pitchFamily="18" charset="0"/>
                <a:cs typeface="Times New Roman" pitchFamily="18" charset="0"/>
              </a:rPr>
            </a:br>
            <a:br>
              <a:rPr lang="ru-RU" sz="1600" cap="all" dirty="0">
                <a:ln w="0">
                  <a:solidFill>
                    <a:schemeClr val="accent5">
                      <a:lumMod val="75000"/>
                      <a:lumOff val="25000"/>
                    </a:schemeClr>
                  </a:solidFill>
                </a:ln>
                <a:solidFill>
                  <a:schemeClr val="accent5">
                    <a:lumMod val="90000"/>
                    <a:lumOff val="10000"/>
                  </a:schemeClr>
                </a:solidFill>
                <a:effectLst>
                  <a:reflection blurRad="12700" stA="50000" endPos="50000" dist="5000" dir="5400000" sy="-100000" rotWithShape="0"/>
                </a:effectLst>
                <a:latin typeface="Times New Roman" pitchFamily="18" charset="0"/>
                <a:cs typeface="Times New Roman" pitchFamily="18" charset="0"/>
              </a:rPr>
            </a:br>
            <a:endParaRPr lang="ru-RU" sz="2400" cap="all" dirty="0">
              <a:ln w="0">
                <a:solidFill>
                  <a:schemeClr val="accent5">
                    <a:lumMod val="75000"/>
                    <a:lumOff val="25000"/>
                  </a:schemeClr>
                </a:solidFill>
              </a:ln>
              <a:solidFill>
                <a:schemeClr val="accent5">
                  <a:lumMod val="90000"/>
                  <a:lumOff val="10000"/>
                </a:schemeClr>
              </a:solidFill>
              <a:effectLst>
                <a:reflection blurRad="12700" stA="50000" endPos="50000" dist="5000" dir="5400000" sy="-100000" rotWithShape="0"/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DACFCBB-57C0-44CE-35E9-FD9E646B73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1277" y="2621434"/>
            <a:ext cx="10435281" cy="2504602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ru-RU" sz="3600" b="1" dirty="0">
                <a:solidFill>
                  <a:srgbClr val="0000CC"/>
                </a:solidFill>
                <a:latin typeface="Times New Roman"/>
                <a:cs typeface="Times New Roman"/>
              </a:rPr>
              <a:t>ШЖҚ МКК Алматы қаласы Қоғамдық денсаулық сақтау басқармасының</a:t>
            </a:r>
          </a:p>
          <a:p>
            <a:pPr algn="ctr" eaLnBrk="1" hangingPunct="1">
              <a:defRPr/>
            </a:pPr>
            <a:r>
              <a:rPr lang="ru-RU" sz="3600" b="1" dirty="0">
                <a:solidFill>
                  <a:srgbClr val="0000CC"/>
                </a:solidFill>
                <a:latin typeface="Times New Roman"/>
                <a:cs typeface="Times New Roman"/>
              </a:rPr>
              <a:t>« №33 қалалық емхана» </a:t>
            </a:r>
          </a:p>
          <a:p>
            <a:pPr algn="ctr" eaLnBrk="1" hangingPunct="1">
              <a:defRPr/>
            </a:pPr>
            <a:r>
              <a:rPr lang="ru-RU" sz="3600" b="1" dirty="0">
                <a:solidFill>
                  <a:srgbClr val="0000CC"/>
                </a:solidFill>
                <a:latin typeface="Times New Roman"/>
                <a:cs typeface="Times New Roman"/>
              </a:rPr>
              <a:t> 2025 </a:t>
            </a:r>
            <a:r>
              <a:rPr lang="ru-RU" sz="3600" b="1" dirty="0" err="1">
                <a:solidFill>
                  <a:srgbClr val="0000CC"/>
                </a:solidFill>
                <a:latin typeface="Times New Roman"/>
                <a:cs typeface="Times New Roman"/>
              </a:rPr>
              <a:t>жылдың</a:t>
            </a:r>
            <a:r>
              <a:rPr lang="ru-RU" sz="3600" b="1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lang="ru-RU" sz="3600" b="1" dirty="0" err="1">
                <a:solidFill>
                  <a:srgbClr val="0000CC"/>
                </a:solidFill>
                <a:latin typeface="Times New Roman"/>
                <a:cs typeface="Times New Roman"/>
              </a:rPr>
              <a:t>көрсеткіші</a:t>
            </a:r>
            <a:endParaRPr lang="ru-RU" sz="3600" b="1" spc="-5" dirty="0">
              <a:solidFill>
                <a:srgbClr val="0000CC"/>
              </a:solidFill>
              <a:latin typeface="Times New Roman"/>
              <a:cs typeface="Times New Roman"/>
            </a:endParaRPr>
          </a:p>
        </p:txBody>
      </p:sp>
      <p:pic>
        <p:nvPicPr>
          <p:cNvPr id="4101" name="object 6">
            <a:extLst>
              <a:ext uri="{FF2B5EF4-FFF2-40B4-BE49-F238E27FC236}">
                <a16:creationId xmlns:a16="http://schemas.microsoft.com/office/drawing/2014/main" id="{E3AB156C-6731-3CC8-831D-BFC165347A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245" y="171450"/>
            <a:ext cx="1943614" cy="1929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object 9">
            <a:extLst>
              <a:ext uri="{FF2B5EF4-FFF2-40B4-BE49-F238E27FC236}">
                <a16:creationId xmlns:a16="http://schemas.microsoft.com/office/drawing/2014/main" id="{7F8E9731-5FDE-3FC6-03BE-D79ADA59676C}"/>
              </a:ext>
            </a:extLst>
          </p:cNvPr>
          <p:cNvSpPr txBox="1">
            <a:spLocks/>
          </p:cNvSpPr>
          <p:nvPr/>
        </p:nvSpPr>
        <p:spPr>
          <a:xfrm>
            <a:off x="3215910" y="1534278"/>
            <a:ext cx="5752974" cy="566822"/>
          </a:xfrm>
          <a:prstGeom prst="rect">
            <a:avLst/>
          </a:prstGeom>
        </p:spPr>
        <p:txBody>
          <a:bodyPr lIns="0" tIns="12700" rIns="0" bIns="0" anchor="b">
            <a:sp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/>
          <a:p>
            <a:pPr marL="12700" algn="ctr" eaLnBrk="1" fontAlgn="auto" hangingPunct="1">
              <a:spcBef>
                <a:spcPts val="100"/>
              </a:spcBef>
              <a:spcAft>
                <a:spcPts val="0"/>
              </a:spcAft>
              <a:defRPr/>
            </a:pPr>
            <a:r>
              <a:rPr lang="ru-RU" sz="3600" b="1" spc="-10" err="1">
                <a:solidFill>
                  <a:srgbClr val="0000CC"/>
                </a:solidFill>
                <a:latin typeface="Times New Roman"/>
                <a:ea typeface="+mj-ea"/>
                <a:cs typeface="Times New Roman"/>
              </a:rPr>
              <a:t>Қызмет</a:t>
            </a:r>
            <a:r>
              <a:rPr lang="ru-RU" sz="3600" b="1" spc="-10" dirty="0">
                <a:solidFill>
                  <a:srgbClr val="0000CC"/>
                </a:solidFill>
                <a:latin typeface="Times New Roman"/>
                <a:ea typeface="+mj-ea"/>
                <a:cs typeface="Times New Roman"/>
              </a:rPr>
              <a:t> </a:t>
            </a:r>
            <a:r>
              <a:rPr lang="ru-RU" sz="3600" b="1" spc="-10" err="1">
                <a:solidFill>
                  <a:srgbClr val="0000CC"/>
                </a:solidFill>
                <a:latin typeface="Times New Roman"/>
                <a:ea typeface="+mj-ea"/>
                <a:cs typeface="Times New Roman"/>
              </a:rPr>
              <a:t>бойынша</a:t>
            </a:r>
            <a:r>
              <a:rPr lang="ru-RU" sz="3600" b="1" spc="-10" dirty="0">
                <a:solidFill>
                  <a:srgbClr val="0000CC"/>
                </a:solidFill>
                <a:latin typeface="Times New Roman"/>
                <a:ea typeface="+mj-ea"/>
                <a:cs typeface="Times New Roman"/>
              </a:rPr>
              <a:t> </a:t>
            </a:r>
            <a:r>
              <a:rPr lang="ru-RU" sz="3600" b="1" spc="-10" err="1">
                <a:solidFill>
                  <a:srgbClr val="0000CC"/>
                </a:solidFill>
                <a:latin typeface="Times New Roman"/>
                <a:ea typeface="+mj-ea"/>
                <a:cs typeface="Times New Roman"/>
              </a:rPr>
              <a:t>есеп</a:t>
            </a:r>
            <a:r>
              <a:rPr lang="ru-RU" sz="3600" b="1" spc="-10" dirty="0">
                <a:solidFill>
                  <a:srgbClr val="0000CC"/>
                </a:solidFill>
                <a:latin typeface="Times New Roman"/>
                <a:ea typeface="+mj-ea"/>
                <a:cs typeface="Times New Roman"/>
              </a:rPr>
              <a:t> беру</a:t>
            </a:r>
            <a:endParaRPr lang="ru-RU" sz="3600" b="1" spc="-5">
              <a:solidFill>
                <a:srgbClr val="0000CC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103" name="TextBox 1">
            <a:extLst>
              <a:ext uri="{FF2B5EF4-FFF2-40B4-BE49-F238E27FC236}">
                <a16:creationId xmlns:a16="http://schemas.microsoft.com/office/drawing/2014/main" id="{CD06EDD0-9AA8-BF06-BC98-EFE5529D76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12200" y="6153150"/>
            <a:ext cx="31908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Директор     Абдрасилов Г.Б.</a:t>
            </a:r>
            <a:endParaRPr lang="ru-RU" altLang="en-US" sz="1800"/>
          </a:p>
        </p:txBody>
      </p:sp>
      <p:pic>
        <p:nvPicPr>
          <p:cNvPr id="4104" name="Рисунок 8" descr="Изображение выглядит как эмблема, логотип, Торговая марка, символ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592D253-A490-3D91-B03D-48BE455F1C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2675" y="171450"/>
            <a:ext cx="1930400" cy="193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5">
            <a:extLst>
              <a:ext uri="{FF2B5EF4-FFF2-40B4-BE49-F238E27FC236}">
                <a16:creationId xmlns:a16="http://schemas.microsoft.com/office/drawing/2014/main" id="{486BF711-5858-4693-92A5-5FF4B3DB74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8164557"/>
              </p:ext>
            </p:extLst>
          </p:nvPr>
        </p:nvGraphicFramePr>
        <p:xfrm>
          <a:off x="672021" y="851046"/>
          <a:ext cx="10847958" cy="5824427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2280774">
                  <a:extLst>
                    <a:ext uri="{9D8B030D-6E8A-4147-A177-3AD203B41FA5}">
                      <a16:colId xmlns:a16="http://schemas.microsoft.com/office/drawing/2014/main" val="702459145"/>
                    </a:ext>
                  </a:extLst>
                </a:gridCol>
                <a:gridCol w="8567184">
                  <a:extLst>
                    <a:ext uri="{9D8B030D-6E8A-4147-A177-3AD203B41FA5}">
                      <a16:colId xmlns:a16="http://schemas.microsoft.com/office/drawing/2014/main" val="2252540072"/>
                    </a:ext>
                  </a:extLst>
                </a:gridCol>
              </a:tblGrid>
              <a:tr h="879377">
                <a:tc>
                  <a:txBody>
                    <a:bodyPr/>
                    <a:lstStyle/>
                    <a:p>
                      <a:pPr algn="l"/>
                      <a:r>
                        <a:rPr lang="ru-RU" sz="1800" dirty="0" err="1"/>
                        <a:t>Ұйымның</a:t>
                      </a:r>
                      <a:r>
                        <a:rPr lang="ru-RU" sz="1800" dirty="0"/>
                        <a:t> </a:t>
                      </a:r>
                      <a:r>
                        <a:rPr lang="ru-RU" sz="1800" dirty="0" err="1"/>
                        <a:t>қуаты</a:t>
                      </a:r>
                      <a:endParaRPr lang="ru-RU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dirty="0" err="1"/>
                        <a:t>Қаралып</a:t>
                      </a:r>
                      <a:r>
                        <a:rPr lang="ru-RU" sz="1800" baseline="0" dirty="0"/>
                        <a:t> </a:t>
                      </a:r>
                      <a:r>
                        <a:rPr lang="ru-RU" sz="1800" baseline="0" dirty="0" err="1"/>
                        <a:t>тексеру</a:t>
                      </a:r>
                      <a:r>
                        <a:rPr lang="ru-RU" sz="1800" dirty="0"/>
                        <a:t> саны (</a:t>
                      </a:r>
                      <a:r>
                        <a:rPr lang="ru-RU" sz="1800" dirty="0" err="1"/>
                        <a:t>амбулаториялық-емханалық</a:t>
                      </a:r>
                      <a:r>
                        <a:rPr lang="ru-RU" sz="1800" dirty="0"/>
                        <a:t> </a:t>
                      </a:r>
                      <a:r>
                        <a:rPr lang="ru-RU" sz="1800" dirty="0" err="1"/>
                        <a:t>көмек</a:t>
                      </a:r>
                      <a:r>
                        <a:rPr lang="ru-RU" sz="1800" dirty="0"/>
                        <a:t> (АЕК) </a:t>
                      </a:r>
                      <a:r>
                        <a:rPr lang="ru-RU" sz="1800" dirty="0" err="1"/>
                        <a:t>үшін</a:t>
                      </a:r>
                      <a:r>
                        <a:rPr lang="ru-RU" sz="1800" dirty="0"/>
                        <a:t>): </a:t>
                      </a:r>
                      <a:r>
                        <a:rPr lang="ru-RU" sz="1800" dirty="0" err="1"/>
                        <a:t>Емхананың</a:t>
                      </a:r>
                      <a:r>
                        <a:rPr lang="ru-RU" sz="1800" dirty="0"/>
                        <a:t> </a:t>
                      </a:r>
                      <a:r>
                        <a:rPr lang="ru-RU" sz="1800" dirty="0" err="1"/>
                        <a:t>сыйымдылығы</a:t>
                      </a:r>
                      <a:r>
                        <a:rPr lang="ru-RU" sz="1800" dirty="0"/>
                        <a:t> </a:t>
                      </a:r>
                      <a:r>
                        <a:rPr lang="ru-RU" sz="1800" dirty="0" err="1"/>
                        <a:t>ауысымына</a:t>
                      </a:r>
                      <a:r>
                        <a:rPr lang="ru-RU" sz="1800" dirty="0"/>
                        <a:t> 250 </a:t>
                      </a:r>
                      <a:r>
                        <a:rPr lang="ru-RU" sz="1800" dirty="0" err="1"/>
                        <a:t>келушіні</a:t>
                      </a:r>
                      <a:r>
                        <a:rPr lang="ru-RU" sz="1800" dirty="0"/>
                        <a:t> </a:t>
                      </a:r>
                      <a:r>
                        <a:rPr lang="ru-RU" sz="1800" dirty="0" err="1"/>
                        <a:t>құрайды</a:t>
                      </a:r>
                      <a:r>
                        <a:rPr lang="ru-RU" sz="1800" dirty="0"/>
                        <a:t>.</a:t>
                      </a:r>
                    </a:p>
                    <a:p>
                      <a:pPr algn="l"/>
                      <a:r>
                        <a:rPr lang="kk-KZ" sz="1800" dirty="0"/>
                        <a:t>Тіркелген</a:t>
                      </a:r>
                      <a:r>
                        <a:rPr lang="ru-RU" sz="1800" dirty="0"/>
                        <a:t> </a:t>
                      </a:r>
                      <a:r>
                        <a:rPr lang="ru-RU" sz="1800" dirty="0" err="1"/>
                        <a:t>халық</a:t>
                      </a:r>
                      <a:r>
                        <a:rPr lang="ru-RU" sz="1800" dirty="0"/>
                        <a:t> саны (АӨК </a:t>
                      </a:r>
                      <a:r>
                        <a:rPr lang="ru-RU" sz="1800" dirty="0" err="1"/>
                        <a:t>үшін</a:t>
                      </a:r>
                      <a:r>
                        <a:rPr lang="ru-RU" sz="1800" dirty="0"/>
                        <a:t>): 15 800</a:t>
                      </a:r>
                      <a:endParaRPr lang="ru-RU" sz="1800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5794692"/>
                  </a:ext>
                </a:extLst>
              </a:tr>
              <a:tr h="879377">
                <a:tc>
                  <a:txBody>
                    <a:bodyPr/>
                    <a:lstStyle/>
                    <a:p>
                      <a:pPr algn="l"/>
                      <a:r>
                        <a:rPr lang="ru-RU" sz="1800" dirty="0" err="1"/>
                        <a:t>Аккредиттеу</a:t>
                      </a:r>
                      <a:endParaRPr lang="ru-RU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dirty="0"/>
                        <a:t>Алматы </a:t>
                      </a:r>
                      <a:r>
                        <a:rPr lang="ru-RU" sz="1800" dirty="0" err="1"/>
                        <a:t>қаласы</a:t>
                      </a:r>
                      <a:r>
                        <a:rPr lang="ru-RU" sz="1800" dirty="0"/>
                        <a:t> </a:t>
                      </a:r>
                      <a:r>
                        <a:rPr lang="ru-RU" sz="1800" dirty="0" err="1"/>
                        <a:t>Қоғамдық</a:t>
                      </a:r>
                      <a:r>
                        <a:rPr lang="ru-RU" sz="1800" dirty="0"/>
                        <a:t> </a:t>
                      </a:r>
                      <a:r>
                        <a:rPr lang="ru-RU" sz="1800" dirty="0" err="1"/>
                        <a:t>денсаулық</a:t>
                      </a:r>
                      <a:r>
                        <a:rPr lang="ru-RU" sz="1800" dirty="0"/>
                        <a:t> </a:t>
                      </a:r>
                      <a:r>
                        <a:rPr lang="ru-RU" sz="1800" dirty="0" err="1"/>
                        <a:t>сақтау</a:t>
                      </a:r>
                      <a:r>
                        <a:rPr lang="ru-RU" sz="1800" dirty="0"/>
                        <a:t> </a:t>
                      </a:r>
                      <a:r>
                        <a:rPr lang="ru-RU" sz="1800" dirty="0" err="1"/>
                        <a:t>басқармасының</a:t>
                      </a:r>
                      <a:endParaRPr lang="ru-RU" sz="1800" dirty="0"/>
                    </a:p>
                    <a:p>
                      <a:pPr algn="l"/>
                      <a:r>
                        <a:rPr lang="ru-RU" sz="1800" dirty="0"/>
                        <a:t>ШЖҚ « №33 </a:t>
                      </a:r>
                      <a:r>
                        <a:rPr lang="ru-RU" sz="1800" dirty="0" err="1"/>
                        <a:t>қалалық</a:t>
                      </a:r>
                      <a:r>
                        <a:rPr lang="ru-RU" sz="1800" dirty="0"/>
                        <a:t> </a:t>
                      </a:r>
                      <a:r>
                        <a:rPr lang="ru-RU" sz="1800" dirty="0" err="1"/>
                        <a:t>емхана</a:t>
                      </a:r>
                      <a:r>
                        <a:rPr lang="ru-RU" sz="1800" dirty="0"/>
                        <a:t>» МКК 2024 </a:t>
                      </a:r>
                      <a:r>
                        <a:rPr lang="ru-RU" sz="1800" dirty="0" err="1"/>
                        <a:t>жылдың</a:t>
                      </a:r>
                      <a:r>
                        <a:rPr lang="ru-RU" sz="1800" dirty="0"/>
                        <a:t> </a:t>
                      </a:r>
                      <a:r>
                        <a:rPr lang="ru-RU" sz="1800" dirty="0" err="1"/>
                        <a:t>қазан</a:t>
                      </a:r>
                      <a:r>
                        <a:rPr lang="ru-RU" sz="1800" dirty="0"/>
                        <a:t> </a:t>
                      </a:r>
                      <a:r>
                        <a:rPr lang="ru-RU" sz="1800" dirty="0" err="1"/>
                        <a:t>айының</a:t>
                      </a:r>
                      <a:r>
                        <a:rPr lang="ru-RU" sz="1800" dirty="0"/>
                        <a:t> 15-нен </a:t>
                      </a:r>
                      <a:r>
                        <a:rPr lang="ru-RU" sz="1800" dirty="0" err="1"/>
                        <a:t>жұмысын</a:t>
                      </a:r>
                      <a:r>
                        <a:rPr lang="ru-RU" sz="1800" dirty="0"/>
                        <a:t> </a:t>
                      </a:r>
                      <a:r>
                        <a:rPr lang="ru-RU" sz="1800" dirty="0" err="1"/>
                        <a:t>бастады</a:t>
                      </a:r>
                      <a:r>
                        <a:rPr lang="ru-RU" sz="1800" dirty="0"/>
                        <a:t> (3 </a:t>
                      </a:r>
                      <a:r>
                        <a:rPr lang="ru-RU" sz="1800" dirty="0" err="1"/>
                        <a:t>жылды</a:t>
                      </a:r>
                      <a:r>
                        <a:rPr lang="kk-KZ" sz="1800" dirty="0"/>
                        <a:t>ң ішінде акритация өту жоспарлануда)</a:t>
                      </a:r>
                      <a:endParaRPr lang="ru-RU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3247666"/>
                  </a:ext>
                </a:extLst>
              </a:tr>
              <a:tr h="879377">
                <a:tc>
                  <a:txBody>
                    <a:bodyPr/>
                    <a:lstStyle/>
                    <a:p>
                      <a:pPr algn="l"/>
                      <a:r>
                        <a:rPr lang="ru-RU" sz="1800" dirty="0" err="1"/>
                        <a:t>Заңды</a:t>
                      </a:r>
                      <a:r>
                        <a:rPr lang="ru-RU" sz="1800" dirty="0"/>
                        <a:t> </a:t>
                      </a:r>
                      <a:r>
                        <a:rPr lang="ru-RU" sz="1800" dirty="0" err="1"/>
                        <a:t>мекенжайы</a:t>
                      </a:r>
                      <a:r>
                        <a:rPr lang="ru-RU" sz="1800" dirty="0"/>
                        <a:t> </a:t>
                      </a:r>
                      <a:r>
                        <a:rPr lang="ru-RU" sz="1800" dirty="0" err="1"/>
                        <a:t>және</a:t>
                      </a:r>
                      <a:r>
                        <a:rPr lang="ru-RU" sz="1800" dirty="0"/>
                        <a:t> </a:t>
                      </a:r>
                      <a:r>
                        <a:rPr lang="ru-RU" sz="1800" dirty="0" err="1"/>
                        <a:t>орналасқан</a:t>
                      </a:r>
                      <a:r>
                        <a:rPr lang="ru-RU" sz="1800" dirty="0"/>
                        <a:t> </a:t>
                      </a:r>
                      <a:r>
                        <a:rPr lang="ru-RU" sz="1800" dirty="0" err="1"/>
                        <a:t>жері</a:t>
                      </a:r>
                      <a:endParaRPr lang="ru-RU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dirty="0"/>
                        <a:t>Алматы </a:t>
                      </a:r>
                      <a:r>
                        <a:rPr lang="ru-RU" sz="1800" dirty="0" err="1"/>
                        <a:t>қаласы</a:t>
                      </a:r>
                      <a:r>
                        <a:rPr lang="ru-RU" sz="1800" dirty="0"/>
                        <a:t>, </a:t>
                      </a:r>
                      <a:r>
                        <a:rPr lang="ru-RU" sz="1800" dirty="0" err="1"/>
                        <a:t>Жетісу</a:t>
                      </a:r>
                      <a:r>
                        <a:rPr lang="ru-RU" sz="1800" baseline="0" dirty="0"/>
                        <a:t> </a:t>
                      </a:r>
                      <a:r>
                        <a:rPr lang="ru-RU" sz="1800" baseline="0" dirty="0" err="1"/>
                        <a:t>ауданы</a:t>
                      </a:r>
                      <a:r>
                        <a:rPr lang="ru-RU" sz="1800" baseline="0" dirty="0"/>
                        <a:t>, </a:t>
                      </a:r>
                      <a:r>
                        <a:rPr lang="ru-RU" sz="1800" baseline="0" dirty="0" err="1"/>
                        <a:t>Райымбек</a:t>
                      </a:r>
                      <a:r>
                        <a:rPr lang="ru-RU" sz="1800" baseline="0" dirty="0"/>
                        <a:t> </a:t>
                      </a:r>
                      <a:r>
                        <a:rPr lang="ru-RU" sz="1800" baseline="0" dirty="0" err="1"/>
                        <a:t>даңғылы</a:t>
                      </a:r>
                      <a:r>
                        <a:rPr lang="ru-RU" sz="1800" baseline="0" dirty="0"/>
                        <a:t> 263/2</a:t>
                      </a:r>
                      <a:endParaRPr lang="ru-RU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2193719"/>
                  </a:ext>
                </a:extLst>
              </a:tr>
              <a:tr h="6155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solidFill>
                            <a:srgbClr val="000000"/>
                          </a:solidFill>
                        </a:rPr>
                        <a:t>МҰ </a:t>
                      </a:r>
                      <a:r>
                        <a:rPr lang="ru-RU" sz="1800" err="1">
                          <a:solidFill>
                            <a:srgbClr val="000000"/>
                          </a:solidFill>
                        </a:rPr>
                        <a:t>жасалған</a:t>
                      </a:r>
                      <a:r>
                        <a:rPr lang="ru-RU" sz="180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ru-RU" sz="1800" err="1">
                          <a:solidFill>
                            <a:srgbClr val="000000"/>
                          </a:solidFill>
                        </a:rPr>
                        <a:t>құрылыс</a:t>
                      </a:r>
                      <a:r>
                        <a:rPr lang="ru-RU" sz="180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ru-RU" sz="1800" err="1">
                          <a:solidFill>
                            <a:srgbClr val="000000"/>
                          </a:solidFill>
                        </a:rPr>
                        <a:t>жылы</a:t>
                      </a:r>
                      <a:endParaRPr lang="ru-RU" sz="1800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dirty="0"/>
                        <a:t>2024 </a:t>
                      </a:r>
                      <a:r>
                        <a:rPr lang="ru-RU" sz="1800" dirty="0" err="1"/>
                        <a:t>жыл</a:t>
                      </a:r>
                      <a:endParaRPr lang="ru-RU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9840417"/>
                  </a:ext>
                </a:extLst>
              </a:tr>
              <a:tr h="879377">
                <a:tc>
                  <a:txBody>
                    <a:bodyPr/>
                    <a:lstStyle/>
                    <a:p>
                      <a:pPr algn="l"/>
                      <a:r>
                        <a:rPr lang="ru-RU" sz="1800" dirty="0" err="1"/>
                        <a:t>Жабдықталуы</a:t>
                      </a:r>
                      <a:r>
                        <a:rPr lang="ru-RU" sz="1800" dirty="0"/>
                        <a:t>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dirty="0" err="1"/>
                        <a:t>Ең</a:t>
                      </a:r>
                      <a:r>
                        <a:rPr lang="ru-RU" sz="1800" dirty="0"/>
                        <a:t> </a:t>
                      </a:r>
                      <a:r>
                        <a:rPr lang="ru-RU" sz="1800" dirty="0" err="1"/>
                        <a:t>төменгі</a:t>
                      </a:r>
                      <a:r>
                        <a:rPr lang="ru-RU" sz="1800" dirty="0"/>
                        <a:t> </a:t>
                      </a:r>
                      <a:r>
                        <a:rPr lang="ru-RU" sz="1800" dirty="0" err="1"/>
                        <a:t>стандарттарға</a:t>
                      </a:r>
                      <a:r>
                        <a:rPr lang="ru-RU" sz="1800" dirty="0"/>
                        <a:t> </a:t>
                      </a:r>
                      <a:r>
                        <a:rPr lang="ru-RU" sz="1800" dirty="0" err="1"/>
                        <a:t>сәйкес</a:t>
                      </a:r>
                      <a:r>
                        <a:rPr lang="ru-RU" sz="1800" dirty="0"/>
                        <a:t> </a:t>
                      </a:r>
                      <a:r>
                        <a:rPr lang="ru-RU" sz="1800" dirty="0" err="1"/>
                        <a:t>медициналық</a:t>
                      </a:r>
                      <a:r>
                        <a:rPr lang="ru-RU" sz="1800" dirty="0"/>
                        <a:t> техника мен керек-</a:t>
                      </a:r>
                      <a:r>
                        <a:rPr lang="ru-RU" sz="1800" dirty="0" err="1"/>
                        <a:t>жарақтардың</a:t>
                      </a:r>
                      <a:r>
                        <a:rPr lang="ru-RU" sz="1800" dirty="0"/>
                        <a:t> </a:t>
                      </a:r>
                      <a:r>
                        <a:rPr lang="ru-RU" sz="1800" dirty="0" err="1"/>
                        <a:t>нақты</a:t>
                      </a:r>
                      <a:r>
                        <a:rPr lang="ru-RU" sz="1800" dirty="0"/>
                        <a:t> </a:t>
                      </a:r>
                      <a:r>
                        <a:rPr lang="ru-RU" sz="1800" dirty="0" err="1"/>
                        <a:t>қолжетімділігі</a:t>
                      </a:r>
                      <a:r>
                        <a:rPr lang="ru-RU" sz="1800" dirty="0"/>
                        <a:t> 78% </a:t>
                      </a:r>
                      <a:r>
                        <a:rPr lang="ru-RU" sz="1800" dirty="0" err="1"/>
                        <a:t>құрайды</a:t>
                      </a:r>
                      <a:r>
                        <a:rPr lang="ru-RU" sz="1800" dirty="0"/>
                        <a:t>, осы </a:t>
                      </a:r>
                      <a:r>
                        <a:rPr lang="ru-RU" sz="1800" dirty="0" err="1"/>
                        <a:t>кезеңмен</a:t>
                      </a:r>
                      <a:r>
                        <a:rPr lang="ru-RU" sz="1800" dirty="0"/>
                        <a:t> </a:t>
                      </a:r>
                      <a:r>
                        <a:rPr lang="ru-RU" sz="1800" dirty="0" err="1"/>
                        <a:t>салыстырғанда</a:t>
                      </a:r>
                      <a:r>
                        <a:rPr lang="ru-RU" sz="1800" dirty="0"/>
                        <a:t> 18% </a:t>
                      </a:r>
                      <a:r>
                        <a:rPr lang="ru-RU" sz="1800" dirty="0" err="1"/>
                        <a:t>өсті</a:t>
                      </a:r>
                      <a:r>
                        <a:rPr lang="ru-RU" sz="1800" dirty="0"/>
                        <a:t> (2024 ж.: 60%). </a:t>
                      </a:r>
                      <a:r>
                        <a:rPr lang="ru-RU" sz="1800" dirty="0" err="1"/>
                        <a:t>Жабдықтардың</a:t>
                      </a:r>
                      <a:r>
                        <a:rPr lang="ru-RU" sz="1800" dirty="0"/>
                        <a:t> </a:t>
                      </a:r>
                      <a:r>
                        <a:rPr lang="ru-RU" sz="1800" dirty="0" err="1"/>
                        <a:t>тозғаны</a:t>
                      </a:r>
                      <a:r>
                        <a:rPr lang="ru-RU" sz="1800" dirty="0"/>
                        <a:t> </a:t>
                      </a:r>
                      <a:r>
                        <a:rPr lang="ru-RU" sz="1800" dirty="0" err="1"/>
                        <a:t>жоқ</a:t>
                      </a:r>
                      <a:r>
                        <a:rPr lang="ru-RU" sz="1800" dirty="0"/>
                        <a:t>.  </a:t>
                      </a:r>
                      <a:endParaRPr lang="ru-RU" sz="1800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8950092"/>
                  </a:ext>
                </a:extLst>
              </a:tr>
              <a:tr h="467815">
                <a:tc>
                  <a:txBody>
                    <a:bodyPr/>
                    <a:lstStyle/>
                    <a:p>
                      <a:pPr algn="l"/>
                      <a:r>
                        <a:rPr lang="ru-RU" sz="1800" dirty="0" err="1"/>
                        <a:t>Қызмет</a:t>
                      </a:r>
                      <a:r>
                        <a:rPr lang="ru-RU" sz="1800" baseline="0" dirty="0"/>
                        <a:t> </a:t>
                      </a:r>
                      <a:r>
                        <a:rPr lang="ru-RU" sz="1800" baseline="0" dirty="0" err="1"/>
                        <a:t>түрлері</a:t>
                      </a:r>
                      <a:r>
                        <a:rPr lang="ru-RU" sz="1800" baseline="0" dirty="0"/>
                        <a:t> </a:t>
                      </a:r>
                      <a:endParaRPr lang="ru-RU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dirty="0" err="1"/>
                        <a:t>Алғашқы</a:t>
                      </a:r>
                      <a:r>
                        <a:rPr lang="ru-RU" sz="1800" dirty="0"/>
                        <a:t> </a:t>
                      </a:r>
                      <a:r>
                        <a:rPr lang="ru-RU" sz="1800" dirty="0" err="1"/>
                        <a:t>медициналық</a:t>
                      </a:r>
                      <a:r>
                        <a:rPr lang="ru-RU" sz="1800" dirty="0"/>
                        <a:t> </a:t>
                      </a:r>
                      <a:r>
                        <a:rPr lang="ru-RU" sz="1800" dirty="0" err="1"/>
                        <a:t>санитарлық</a:t>
                      </a:r>
                      <a:r>
                        <a:rPr lang="ru-RU" sz="1800" dirty="0"/>
                        <a:t> </a:t>
                      </a:r>
                      <a:r>
                        <a:rPr lang="ru-RU" sz="1800" dirty="0" err="1"/>
                        <a:t>көмек</a:t>
                      </a:r>
                      <a:r>
                        <a:rPr lang="ru-RU" sz="1800" dirty="0"/>
                        <a:t>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8668401"/>
                  </a:ext>
                </a:extLst>
              </a:tr>
              <a:tr h="1058932">
                <a:tc>
                  <a:txBody>
                    <a:bodyPr/>
                    <a:lstStyle/>
                    <a:p>
                      <a:pPr algn="l"/>
                      <a:r>
                        <a:rPr lang="ru-RU" sz="1800" dirty="0" err="1"/>
                        <a:t>Еркерту</a:t>
                      </a:r>
                      <a:endParaRPr lang="ru-RU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ru-RU" sz="1800" dirty="0"/>
                        <a:t>Сайт МО: </a:t>
                      </a:r>
                      <a:r>
                        <a:rPr lang="en-US" sz="1800" dirty="0">
                          <a:hlinkClick r:id="rId2"/>
                        </a:rPr>
                        <a:t>http://almgp</a:t>
                      </a:r>
                      <a:r>
                        <a:rPr lang="kk-KZ" sz="1800" dirty="0">
                          <a:hlinkClick r:id="rId2"/>
                        </a:rPr>
                        <a:t>33</a:t>
                      </a:r>
                      <a:r>
                        <a:rPr lang="en-US" sz="1800" dirty="0">
                          <a:hlinkClick r:id="rId2"/>
                        </a:rPr>
                        <a:t>.kz/</a:t>
                      </a:r>
                      <a:r>
                        <a:rPr lang="kk-KZ" sz="1800" dirty="0"/>
                        <a:t> </a:t>
                      </a:r>
                      <a:endParaRPr lang="ru-RU" sz="1800" dirty="0"/>
                    </a:p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en-US" sz="1800" dirty="0"/>
                        <a:t>E-mail:</a:t>
                      </a:r>
                      <a:r>
                        <a:rPr lang="ru-RU" sz="1800" dirty="0"/>
                        <a:t> </a:t>
                      </a:r>
                      <a:r>
                        <a:rPr lang="en-US" sz="1800" dirty="0">
                          <a:solidFill>
                            <a:srgbClr val="3B3838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priemnaya_gp33@mail.ru</a:t>
                      </a:r>
                      <a:r>
                        <a:rPr lang="kk-KZ" sz="1800" dirty="0">
                          <a:solidFill>
                            <a:srgbClr val="3B3838"/>
                          </a:solidFill>
                        </a:rPr>
                        <a:t> </a:t>
                      </a:r>
                      <a:endParaRPr lang="en-US" sz="1800" dirty="0">
                        <a:solidFill>
                          <a:srgbClr val="3B3838"/>
                        </a:solidFill>
                      </a:endParaRPr>
                    </a:p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en-US" sz="1800" dirty="0"/>
                        <a:t>Instagram:</a:t>
                      </a:r>
                      <a:r>
                        <a:rPr lang="ru-RU" sz="1800" dirty="0"/>
                        <a:t> </a:t>
                      </a:r>
                      <a:r>
                        <a:rPr lang="en-US" sz="1800" dirty="0"/>
                        <a:t>emhana33_almaty</a:t>
                      </a:r>
                      <a:r>
                        <a:rPr lang="kk-KZ" sz="1800" dirty="0"/>
                        <a:t>  </a:t>
                      </a:r>
                      <a:endParaRPr lang="ru-RU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973474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FDCBEE0-5D4D-83AA-1E61-5F9E6D8B0EEB}"/>
              </a:ext>
            </a:extLst>
          </p:cNvPr>
          <p:cNvSpPr txBox="1"/>
          <p:nvPr/>
        </p:nvSpPr>
        <p:spPr>
          <a:xfrm>
            <a:off x="2627313" y="130175"/>
            <a:ext cx="6937375" cy="584200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rgbClr val="00225E"/>
                </a:solidFill>
                <a:latin typeface="Times New Roman"/>
                <a:cs typeface="Times New Roman"/>
              </a:rPr>
              <a:t>I</a:t>
            </a:r>
            <a:r>
              <a:rPr lang="en-US" sz="3200" b="1" dirty="0">
                <a:solidFill>
                  <a:srgbClr val="00225E"/>
                </a:solidFill>
                <a:latin typeface="Times New Roman"/>
                <a:cs typeface="Times New Roman"/>
              </a:rPr>
              <a:t>. </a:t>
            </a:r>
            <a:r>
              <a:rPr lang="ru-RU" sz="2400" b="1" dirty="0">
                <a:solidFill>
                  <a:srgbClr val="00225E"/>
                </a:solidFill>
                <a:latin typeface="Times New Roman"/>
                <a:cs typeface="Times New Roman"/>
              </a:rPr>
              <a:t>ЕМХАНА ТУРАЛЫ ЖАЛПЫ МӘЛІМЕТТЕР</a:t>
            </a:r>
            <a:endParaRPr lang="ru-RU" sz="2000">
              <a:solidFill>
                <a:srgbClr val="00225E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A4C1205-E7F1-D93E-9F0E-54F1DE701B82}"/>
              </a:ext>
            </a:extLst>
          </p:cNvPr>
          <p:cNvCxnSpPr/>
          <p:nvPr/>
        </p:nvCxnSpPr>
        <p:spPr>
          <a:xfrm>
            <a:off x="6572250" y="2819400"/>
            <a:ext cx="849313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83E39C2-DA75-B0B6-FE97-9020F263315E}"/>
              </a:ext>
            </a:extLst>
          </p:cNvPr>
          <p:cNvCxnSpPr/>
          <p:nvPr/>
        </p:nvCxnSpPr>
        <p:spPr>
          <a:xfrm>
            <a:off x="7570788" y="4471988"/>
            <a:ext cx="658812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DB9E325-95D4-E455-7A81-3AE2BC25C48C}"/>
              </a:ext>
            </a:extLst>
          </p:cNvPr>
          <p:cNvCxnSpPr/>
          <p:nvPr/>
        </p:nvCxnSpPr>
        <p:spPr>
          <a:xfrm>
            <a:off x="3511550" y="5173663"/>
            <a:ext cx="66040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73" name="Title 1">
            <a:extLst>
              <a:ext uri="{FF2B5EF4-FFF2-40B4-BE49-F238E27FC236}">
                <a16:creationId xmlns:a16="http://schemas.microsoft.com/office/drawing/2014/main" id="{6F07FB3A-0B2C-ABD7-46AB-A81F6AFD8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9577" y="479554"/>
            <a:ext cx="4622800" cy="571500"/>
          </a:xfrm>
        </p:spPr>
        <p:txBody>
          <a:bodyPr/>
          <a:lstStyle/>
          <a:p>
            <a:pPr algn="ctr" eaLnBrk="1" hangingPunct="1"/>
            <a:r>
              <a:rPr lang="ru-RU" altLang="en-US" sz="3200" dirty="0">
                <a:solidFill>
                  <a:srgbClr val="00225E"/>
                </a:solidFill>
                <a:latin typeface="Times New Roman"/>
                <a:ea typeface="Source Sans Pro"/>
                <a:cs typeface="Times New Roman"/>
              </a:rPr>
              <a:t>Миссия </a:t>
            </a:r>
            <a:r>
              <a:rPr lang="ru-RU" altLang="en-US" sz="3200" err="1">
                <a:solidFill>
                  <a:srgbClr val="00225E"/>
                </a:solidFill>
                <a:latin typeface="Times New Roman"/>
                <a:ea typeface="Source Sans Pro"/>
                <a:cs typeface="Times New Roman"/>
              </a:rPr>
              <a:t>және</a:t>
            </a:r>
            <a:r>
              <a:rPr lang="ru-RU" altLang="en-US" sz="3200" dirty="0">
                <a:solidFill>
                  <a:srgbClr val="00225E"/>
                </a:solidFill>
                <a:latin typeface="Times New Roman"/>
                <a:ea typeface="Source Sans Pro"/>
                <a:cs typeface="Times New Roman"/>
              </a:rPr>
              <a:t> </a:t>
            </a:r>
            <a:r>
              <a:rPr lang="ru-RU" altLang="en-US" sz="3200" err="1">
                <a:solidFill>
                  <a:srgbClr val="00225E"/>
                </a:solidFill>
                <a:latin typeface="Times New Roman"/>
                <a:ea typeface="Source Sans Pro"/>
                <a:cs typeface="Times New Roman"/>
              </a:rPr>
              <a:t>пайымдау</a:t>
            </a:r>
            <a:endParaRPr lang="ru-RU"/>
          </a:p>
        </p:txBody>
      </p:sp>
      <p:sp>
        <p:nvSpPr>
          <p:cNvPr id="4" name="Freeform 5">
            <a:extLst>
              <a:ext uri="{FF2B5EF4-FFF2-40B4-BE49-F238E27FC236}">
                <a16:creationId xmlns:a16="http://schemas.microsoft.com/office/drawing/2014/main" id="{A218A0DC-840D-B16B-8AB2-601A11010DA5}"/>
              </a:ext>
            </a:extLst>
          </p:cNvPr>
          <p:cNvSpPr>
            <a:spLocks/>
          </p:cNvSpPr>
          <p:nvPr/>
        </p:nvSpPr>
        <p:spPr bwMode="auto">
          <a:xfrm>
            <a:off x="4772025" y="2068513"/>
            <a:ext cx="2649538" cy="2195512"/>
          </a:xfrm>
          <a:custGeom>
            <a:avLst/>
            <a:gdLst>
              <a:gd name="T0" fmla="*/ 834 w 1669"/>
              <a:gd name="T1" fmla="*/ 0 h 1383"/>
              <a:gd name="T2" fmla="*/ 1669 w 1669"/>
              <a:gd name="T3" fmla="*/ 1250 h 1383"/>
              <a:gd name="T4" fmla="*/ 1403 w 1669"/>
              <a:gd name="T5" fmla="*/ 1383 h 1383"/>
              <a:gd name="T6" fmla="*/ 266 w 1669"/>
              <a:gd name="T7" fmla="*/ 1383 h 1383"/>
              <a:gd name="T8" fmla="*/ 0 w 1669"/>
              <a:gd name="T9" fmla="*/ 1250 h 1383"/>
              <a:gd name="T10" fmla="*/ 834 w 1669"/>
              <a:gd name="T11" fmla="*/ 0 h 13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69" h="1383">
                <a:moveTo>
                  <a:pt x="834" y="0"/>
                </a:moveTo>
                <a:lnTo>
                  <a:pt x="1669" y="1250"/>
                </a:lnTo>
                <a:lnTo>
                  <a:pt x="1403" y="1383"/>
                </a:lnTo>
                <a:lnTo>
                  <a:pt x="266" y="1383"/>
                </a:lnTo>
                <a:lnTo>
                  <a:pt x="0" y="1250"/>
                </a:lnTo>
                <a:lnTo>
                  <a:pt x="834" y="0"/>
                </a:lnTo>
                <a:close/>
              </a:path>
            </a:pathLst>
          </a:custGeom>
          <a:pattFill prst="wdUpDiag">
            <a:fgClr>
              <a:schemeClr val="bg1">
                <a:lumMod val="65000"/>
              </a:schemeClr>
            </a:fgClr>
            <a:bgClr>
              <a:schemeClr val="bg1"/>
            </a:bgClr>
          </a:pattFill>
          <a:ln w="25400">
            <a:solidFill>
              <a:schemeClr val="accent1"/>
            </a:solidFill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prstClr val="black"/>
              </a:solidFill>
              <a:latin typeface="+mn-lt"/>
            </a:endParaRPr>
          </a:p>
        </p:txBody>
      </p:sp>
      <p:sp>
        <p:nvSpPr>
          <p:cNvPr id="7175" name="Freeform 6">
            <a:extLst>
              <a:ext uri="{FF2B5EF4-FFF2-40B4-BE49-F238E27FC236}">
                <a16:creationId xmlns:a16="http://schemas.microsoft.com/office/drawing/2014/main" id="{CE641D4E-67B1-298D-6113-76DB3E563FB5}"/>
              </a:ext>
            </a:extLst>
          </p:cNvPr>
          <p:cNvSpPr>
            <a:spLocks/>
          </p:cNvSpPr>
          <p:nvPr/>
        </p:nvSpPr>
        <p:spPr bwMode="auto">
          <a:xfrm>
            <a:off x="4772025" y="2068513"/>
            <a:ext cx="2649538" cy="1984375"/>
          </a:xfrm>
          <a:custGeom>
            <a:avLst/>
            <a:gdLst>
              <a:gd name="T0" fmla="*/ 2147483646 w 1669"/>
              <a:gd name="T1" fmla="*/ 0 h 1250"/>
              <a:gd name="T2" fmla="*/ 2147483646 w 1669"/>
              <a:gd name="T3" fmla="*/ 2147483646 h 1250"/>
              <a:gd name="T4" fmla="*/ 0 w 1669"/>
              <a:gd name="T5" fmla="*/ 2147483646 h 1250"/>
              <a:gd name="T6" fmla="*/ 2147483646 w 1669"/>
              <a:gd name="T7" fmla="*/ 0 h 125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69" h="1250">
                <a:moveTo>
                  <a:pt x="834" y="0"/>
                </a:moveTo>
                <a:lnTo>
                  <a:pt x="1669" y="1250"/>
                </a:lnTo>
                <a:lnTo>
                  <a:pt x="0" y="1250"/>
                </a:lnTo>
                <a:lnTo>
                  <a:pt x="834" y="0"/>
                </a:lnTo>
                <a:close/>
              </a:path>
            </a:pathLst>
          </a:custGeom>
          <a:solidFill>
            <a:srgbClr val="0070C0"/>
          </a:solidFill>
          <a:ln w="25400">
            <a:solidFill>
              <a:schemeClr val="accent1"/>
            </a:solidFill>
            <a:round/>
            <a:headEnd/>
            <a:tailEnd/>
          </a:ln>
        </p:spPr>
        <p:txBody>
          <a:bodyPr bIns="182880" anchor="b"/>
          <a:lstStyle/>
          <a:p>
            <a:endParaRPr lang="ru-RU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38E14100-4C25-A141-A66C-90441E90EFAB}"/>
              </a:ext>
            </a:extLst>
          </p:cNvPr>
          <p:cNvSpPr>
            <a:spLocks/>
          </p:cNvSpPr>
          <p:nvPr/>
        </p:nvSpPr>
        <p:spPr bwMode="auto">
          <a:xfrm>
            <a:off x="4368800" y="4264025"/>
            <a:ext cx="3455988" cy="617538"/>
          </a:xfrm>
          <a:custGeom>
            <a:avLst/>
            <a:gdLst>
              <a:gd name="T0" fmla="*/ 1088 w 2177"/>
              <a:gd name="T1" fmla="*/ 0 h 389"/>
              <a:gd name="T2" fmla="*/ 1995 w 2177"/>
              <a:gd name="T3" fmla="*/ 0 h 389"/>
              <a:gd name="T4" fmla="*/ 2177 w 2177"/>
              <a:gd name="T5" fmla="*/ 267 h 389"/>
              <a:gd name="T6" fmla="*/ 1935 w 2177"/>
              <a:gd name="T7" fmla="*/ 389 h 389"/>
              <a:gd name="T8" fmla="*/ 1088 w 2177"/>
              <a:gd name="T9" fmla="*/ 389 h 389"/>
              <a:gd name="T10" fmla="*/ 241 w 2177"/>
              <a:gd name="T11" fmla="*/ 389 h 389"/>
              <a:gd name="T12" fmla="*/ 0 w 2177"/>
              <a:gd name="T13" fmla="*/ 267 h 389"/>
              <a:gd name="T14" fmla="*/ 181 w 2177"/>
              <a:gd name="T15" fmla="*/ 0 h 389"/>
              <a:gd name="T16" fmla="*/ 1088 w 2177"/>
              <a:gd name="T17" fmla="*/ 0 h 3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177" h="389">
                <a:moveTo>
                  <a:pt x="1088" y="0"/>
                </a:moveTo>
                <a:lnTo>
                  <a:pt x="1995" y="0"/>
                </a:lnTo>
                <a:lnTo>
                  <a:pt x="2177" y="267"/>
                </a:lnTo>
                <a:lnTo>
                  <a:pt x="1935" y="389"/>
                </a:lnTo>
                <a:lnTo>
                  <a:pt x="1088" y="389"/>
                </a:lnTo>
                <a:lnTo>
                  <a:pt x="241" y="389"/>
                </a:lnTo>
                <a:lnTo>
                  <a:pt x="0" y="267"/>
                </a:lnTo>
                <a:lnTo>
                  <a:pt x="181" y="0"/>
                </a:lnTo>
                <a:lnTo>
                  <a:pt x="1088" y="0"/>
                </a:lnTo>
                <a:close/>
              </a:path>
            </a:pathLst>
          </a:custGeom>
          <a:pattFill prst="wdUpDiag">
            <a:fgClr>
              <a:schemeClr val="bg1">
                <a:lumMod val="65000"/>
              </a:schemeClr>
            </a:fgClr>
            <a:bgClr>
              <a:schemeClr val="bg1"/>
            </a:bgClr>
          </a:pattFill>
          <a:ln w="25400">
            <a:solidFill>
              <a:schemeClr val="accent2"/>
            </a:solidFill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prstClr val="black"/>
              </a:solidFill>
              <a:latin typeface="+mn-lt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9AAC18D1-7842-01B6-29DB-9EF6088E701B}"/>
              </a:ext>
            </a:extLst>
          </p:cNvPr>
          <p:cNvSpPr>
            <a:spLocks/>
          </p:cNvSpPr>
          <p:nvPr/>
        </p:nvSpPr>
        <p:spPr bwMode="auto">
          <a:xfrm>
            <a:off x="4368800" y="4265613"/>
            <a:ext cx="3455988" cy="423862"/>
          </a:xfrm>
          <a:custGeom>
            <a:avLst/>
            <a:gdLst>
              <a:gd name="T0" fmla="*/ 1088 w 2177"/>
              <a:gd name="T1" fmla="*/ 0 h 267"/>
              <a:gd name="T2" fmla="*/ 1995 w 2177"/>
              <a:gd name="T3" fmla="*/ 0 h 267"/>
              <a:gd name="T4" fmla="*/ 2177 w 2177"/>
              <a:gd name="T5" fmla="*/ 267 h 267"/>
              <a:gd name="T6" fmla="*/ 1088 w 2177"/>
              <a:gd name="T7" fmla="*/ 267 h 267"/>
              <a:gd name="T8" fmla="*/ 0 w 2177"/>
              <a:gd name="T9" fmla="*/ 267 h 267"/>
              <a:gd name="T10" fmla="*/ 181 w 2177"/>
              <a:gd name="T11" fmla="*/ 0 h 267"/>
              <a:gd name="T12" fmla="*/ 1088 w 2177"/>
              <a:gd name="T13" fmla="*/ 0 h 2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177" h="267">
                <a:moveTo>
                  <a:pt x="1088" y="0"/>
                </a:moveTo>
                <a:lnTo>
                  <a:pt x="1995" y="0"/>
                </a:lnTo>
                <a:lnTo>
                  <a:pt x="2177" y="267"/>
                </a:lnTo>
                <a:lnTo>
                  <a:pt x="1088" y="267"/>
                </a:lnTo>
                <a:lnTo>
                  <a:pt x="0" y="267"/>
                </a:lnTo>
                <a:lnTo>
                  <a:pt x="181" y="0"/>
                </a:lnTo>
                <a:lnTo>
                  <a:pt x="1088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accent2"/>
            </a:solidFill>
          </a:ln>
        </p:spPr>
        <p:txBody>
          <a:bodyPr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C7A84298-1519-494E-E48B-5D9EBD8074DA}"/>
              </a:ext>
            </a:extLst>
          </p:cNvPr>
          <p:cNvSpPr>
            <a:spLocks/>
          </p:cNvSpPr>
          <p:nvPr/>
        </p:nvSpPr>
        <p:spPr bwMode="auto">
          <a:xfrm>
            <a:off x="3906838" y="4881563"/>
            <a:ext cx="4378325" cy="731837"/>
          </a:xfrm>
          <a:custGeom>
            <a:avLst/>
            <a:gdLst>
              <a:gd name="T0" fmla="*/ 1379 w 2758"/>
              <a:gd name="T1" fmla="*/ 0 h 461"/>
              <a:gd name="T2" fmla="*/ 2553 w 2758"/>
              <a:gd name="T3" fmla="*/ 0 h 461"/>
              <a:gd name="T4" fmla="*/ 2758 w 2758"/>
              <a:gd name="T5" fmla="*/ 315 h 461"/>
              <a:gd name="T6" fmla="*/ 2468 w 2758"/>
              <a:gd name="T7" fmla="*/ 461 h 461"/>
              <a:gd name="T8" fmla="*/ 1379 w 2758"/>
              <a:gd name="T9" fmla="*/ 461 h 461"/>
              <a:gd name="T10" fmla="*/ 291 w 2758"/>
              <a:gd name="T11" fmla="*/ 461 h 461"/>
              <a:gd name="T12" fmla="*/ 0 w 2758"/>
              <a:gd name="T13" fmla="*/ 315 h 461"/>
              <a:gd name="T14" fmla="*/ 206 w 2758"/>
              <a:gd name="T15" fmla="*/ 0 h 461"/>
              <a:gd name="T16" fmla="*/ 1379 w 2758"/>
              <a:gd name="T17" fmla="*/ 0 h 4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58" h="461">
                <a:moveTo>
                  <a:pt x="1379" y="0"/>
                </a:moveTo>
                <a:lnTo>
                  <a:pt x="2553" y="0"/>
                </a:lnTo>
                <a:lnTo>
                  <a:pt x="2758" y="315"/>
                </a:lnTo>
                <a:lnTo>
                  <a:pt x="2468" y="461"/>
                </a:lnTo>
                <a:lnTo>
                  <a:pt x="1379" y="461"/>
                </a:lnTo>
                <a:lnTo>
                  <a:pt x="291" y="461"/>
                </a:lnTo>
                <a:lnTo>
                  <a:pt x="0" y="315"/>
                </a:lnTo>
                <a:lnTo>
                  <a:pt x="206" y="0"/>
                </a:lnTo>
                <a:lnTo>
                  <a:pt x="1379" y="0"/>
                </a:lnTo>
                <a:close/>
              </a:path>
            </a:pathLst>
          </a:custGeom>
          <a:pattFill prst="wdUpDiag">
            <a:fgClr>
              <a:schemeClr val="bg1">
                <a:lumMod val="65000"/>
              </a:schemeClr>
            </a:fgClr>
            <a:bgClr>
              <a:schemeClr val="bg1"/>
            </a:bgClr>
          </a:pattFill>
          <a:ln w="25400">
            <a:solidFill>
              <a:schemeClr val="accent3"/>
            </a:solidFill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prstClr val="black"/>
              </a:solidFill>
              <a:latin typeface="+mn-lt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60B72AA2-BD85-E646-9D0E-7A8290DB9001}"/>
              </a:ext>
            </a:extLst>
          </p:cNvPr>
          <p:cNvSpPr>
            <a:spLocks/>
          </p:cNvSpPr>
          <p:nvPr/>
        </p:nvSpPr>
        <p:spPr bwMode="auto">
          <a:xfrm>
            <a:off x="3906838" y="4881563"/>
            <a:ext cx="4378325" cy="501650"/>
          </a:xfrm>
          <a:custGeom>
            <a:avLst/>
            <a:gdLst>
              <a:gd name="T0" fmla="*/ 1379 w 2758"/>
              <a:gd name="T1" fmla="*/ 0 h 315"/>
              <a:gd name="T2" fmla="*/ 2553 w 2758"/>
              <a:gd name="T3" fmla="*/ 0 h 315"/>
              <a:gd name="T4" fmla="*/ 2758 w 2758"/>
              <a:gd name="T5" fmla="*/ 315 h 315"/>
              <a:gd name="T6" fmla="*/ 1379 w 2758"/>
              <a:gd name="T7" fmla="*/ 315 h 315"/>
              <a:gd name="T8" fmla="*/ 0 w 2758"/>
              <a:gd name="T9" fmla="*/ 315 h 315"/>
              <a:gd name="T10" fmla="*/ 206 w 2758"/>
              <a:gd name="T11" fmla="*/ 0 h 315"/>
              <a:gd name="T12" fmla="*/ 1379 w 2758"/>
              <a:gd name="T13" fmla="*/ 0 h 3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758" h="315">
                <a:moveTo>
                  <a:pt x="1379" y="0"/>
                </a:moveTo>
                <a:lnTo>
                  <a:pt x="2553" y="0"/>
                </a:lnTo>
                <a:lnTo>
                  <a:pt x="2758" y="315"/>
                </a:lnTo>
                <a:lnTo>
                  <a:pt x="1379" y="315"/>
                </a:lnTo>
                <a:lnTo>
                  <a:pt x="0" y="315"/>
                </a:lnTo>
                <a:lnTo>
                  <a:pt x="206" y="0"/>
                </a:lnTo>
                <a:lnTo>
                  <a:pt x="1379" y="0"/>
                </a:lnTo>
                <a:close/>
              </a:path>
            </a:pathLst>
          </a:custGeom>
          <a:solidFill>
            <a:srgbClr val="A9E26F"/>
          </a:solidFill>
          <a:ln w="25400">
            <a:solidFill>
              <a:schemeClr val="accent3"/>
            </a:solidFill>
          </a:ln>
        </p:spPr>
        <p:txBody>
          <a:bodyPr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1939719-F8D8-A988-714B-FE9BF7543CB3}"/>
              </a:ext>
            </a:extLst>
          </p:cNvPr>
          <p:cNvSpPr/>
          <p:nvPr/>
        </p:nvSpPr>
        <p:spPr>
          <a:xfrm>
            <a:off x="5167313" y="3060700"/>
            <a:ext cx="1828800" cy="801688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400" b="1" dirty="0">
                <a:solidFill>
                  <a:srgbClr val="E805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</a:t>
            </a:r>
            <a:r>
              <a:rPr lang="kk-KZ" sz="2400" b="1" dirty="0">
                <a:solidFill>
                  <a:srgbClr val="E805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ҚСАТЫ</a:t>
            </a:r>
            <a:endParaRPr lang="en-US" sz="2400" b="1" dirty="0">
              <a:solidFill>
                <a:srgbClr val="E8055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81" name="TextBox 26">
            <a:extLst>
              <a:ext uri="{FF2B5EF4-FFF2-40B4-BE49-F238E27FC236}">
                <a16:creationId xmlns:a16="http://schemas.microsoft.com/office/drawing/2014/main" id="{FED0F7FE-55DC-7EBC-9AE2-17D0164394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0788" y="2228850"/>
            <a:ext cx="3921125" cy="1089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600"/>
              </a:spcBef>
              <a:buFontTx/>
              <a:buNone/>
            </a:pPr>
            <a:r>
              <a:rPr lang="ru-RU" altLang="en-US" sz="1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Пациенттердің сапалы медициналық  көмекке деген қажеттіліктерін қанағаттандыру.</a:t>
            </a:r>
          </a:p>
        </p:txBody>
      </p:sp>
      <p:sp>
        <p:nvSpPr>
          <p:cNvPr id="7182" name="TextBox 27">
            <a:extLst>
              <a:ext uri="{FF2B5EF4-FFF2-40B4-BE49-F238E27FC236}">
                <a16:creationId xmlns:a16="http://schemas.microsoft.com/office/drawing/2014/main" id="{147F33B1-8AC0-1B24-AC8F-B406D9F998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325" y="2892425"/>
            <a:ext cx="3222625" cy="272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lnSpc>
                <a:spcPct val="120000"/>
              </a:lnSpc>
              <a:spcBef>
                <a:spcPts val="600"/>
              </a:spcBef>
              <a:buFontTx/>
              <a:buNone/>
            </a:pPr>
            <a:r>
              <a:rPr lang="ru-RU" altLang="en-US" sz="1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Мемлекет пен азаматтардың өз денсаулығы үшін ортақ жауапкершілікт</a:t>
            </a:r>
            <a:r>
              <a:rPr lang="kk-KZ" altLang="en-US" sz="1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 </a:t>
            </a:r>
            <a:r>
              <a:rPr lang="ru-RU" altLang="en-US" sz="1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қағидаттарына негізделген</a:t>
            </a:r>
            <a:r>
              <a:rPr lang="kk-KZ" altLang="en-US" sz="1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altLang="en-US" sz="1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халықтың денсаулығын қорғаудың тиімді және тұрақты әлеуметтік бағдарланған жүйесін құру .</a:t>
            </a:r>
          </a:p>
        </p:txBody>
      </p:sp>
      <p:sp>
        <p:nvSpPr>
          <p:cNvPr id="7183" name="TextBox 28">
            <a:extLst>
              <a:ext uri="{FF2B5EF4-FFF2-40B4-BE49-F238E27FC236}">
                <a16:creationId xmlns:a16="http://schemas.microsoft.com/office/drawing/2014/main" id="{6069A96A-284B-10EB-E591-00FA553F13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2950" y="4052888"/>
            <a:ext cx="3387725" cy="239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600"/>
              </a:spcBef>
              <a:buFontTx/>
              <a:buNone/>
            </a:pPr>
            <a:r>
              <a:rPr lang="ru-RU" altLang="en-US" sz="1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Аурулардың алдын алу, салауатты өмір салтын насихаттау және сапалы медициналық қызметтер көрсету арқылы, халықтың денсаулығын нығайту және қорғау.</a:t>
            </a:r>
          </a:p>
        </p:txBody>
      </p:sp>
      <p:sp>
        <p:nvSpPr>
          <p:cNvPr id="18" name="Oval 20">
            <a:extLst>
              <a:ext uri="{FF2B5EF4-FFF2-40B4-BE49-F238E27FC236}">
                <a16:creationId xmlns:a16="http://schemas.microsoft.com/office/drawing/2014/main" id="{9C62298E-3F0F-5F6C-35DB-2C05D0C84F9A}"/>
              </a:ext>
            </a:extLst>
          </p:cNvPr>
          <p:cNvSpPr/>
          <p:nvPr/>
        </p:nvSpPr>
        <p:spPr>
          <a:xfrm>
            <a:off x="5310188" y="4300538"/>
            <a:ext cx="1570037" cy="342900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МИССИЯ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0BEF024C-2FB8-7CBF-EE4E-3AD59B8A2CE8}"/>
              </a:ext>
            </a:extLst>
          </p:cNvPr>
          <p:cNvSpPr/>
          <p:nvPr/>
        </p:nvSpPr>
        <p:spPr>
          <a:xfrm>
            <a:off x="5310188" y="5002213"/>
            <a:ext cx="1570037" cy="342900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k-KZ" sz="2400" b="1" dirty="0">
                <a:solidFill>
                  <a:srgbClr val="EE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КӨРІНУІ</a:t>
            </a:r>
            <a:endParaRPr lang="ru-RU" sz="2400" b="1" dirty="0">
              <a:solidFill>
                <a:srgbClr val="EE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77EC3FAE-0FA4-5CB6-055D-B1325104BECB}"/>
              </a:ext>
            </a:extLst>
          </p:cNvPr>
          <p:cNvSpPr/>
          <p:nvPr/>
        </p:nvSpPr>
        <p:spPr>
          <a:xfrm>
            <a:off x="-2543175" y="-53975"/>
            <a:ext cx="3543300" cy="3371850"/>
          </a:xfrm>
          <a:prstGeom prst="ellipse">
            <a:avLst/>
          </a:prstGeom>
          <a:solidFill>
            <a:schemeClr val="accent5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>
              <a:solidFill>
                <a:srgbClr val="FFFFFF"/>
              </a:solidFill>
            </a:endParaRPr>
          </a:p>
        </p:txBody>
      </p:sp>
      <p:sp>
        <p:nvSpPr>
          <p:cNvPr id="7187" name="TextBox 29">
            <a:extLst>
              <a:ext uri="{FF2B5EF4-FFF2-40B4-BE49-F238E27FC236}">
                <a16:creationId xmlns:a16="http://schemas.microsoft.com/office/drawing/2014/main" id="{44137725-CBA7-67BD-0AC3-E6DFABD2E714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-874712" y="1057275"/>
            <a:ext cx="245745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600" b="1">
                <a:solidFill>
                  <a:srgbClr val="FFFFFF"/>
                </a:solidFill>
              </a:rPr>
              <a:t>MISSION</a:t>
            </a:r>
            <a:endParaRPr lang="ru-RU" altLang="en-US" sz="4000" b="1">
              <a:solidFill>
                <a:srgbClr val="FFFFFF"/>
              </a:solidFill>
            </a:endParaRPr>
          </a:p>
        </p:txBody>
      </p:sp>
      <p:sp>
        <p:nvSpPr>
          <p:cNvPr id="7188" name="TextBox 5">
            <a:extLst>
              <a:ext uri="{FF2B5EF4-FFF2-40B4-BE49-F238E27FC236}">
                <a16:creationId xmlns:a16="http://schemas.microsoft.com/office/drawing/2014/main" id="{33799DFE-CD3B-FB4C-B9DC-0190B59560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91913" y="295275"/>
            <a:ext cx="366712" cy="3683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en-US"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5417D8-4C81-46E6-98EB-7B5D30041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8882"/>
            <a:ext cx="10505303" cy="1006347"/>
          </a:xfrm>
        </p:spPr>
        <p:txBody>
          <a:bodyPr rtlCol="0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ru-RU" b="1" err="1">
                <a:ln w="0"/>
                <a:solidFill>
                  <a:srgbClr val="00225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/>
                <a:cs typeface="Times New Roman"/>
              </a:rPr>
              <a:t>Емханада</a:t>
            </a:r>
            <a:r>
              <a:rPr lang="ru-RU" b="1" dirty="0">
                <a:ln w="0"/>
                <a:solidFill>
                  <a:srgbClr val="00225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/>
                <a:cs typeface="Times New Roman"/>
              </a:rPr>
              <a:t> </a:t>
            </a:r>
            <a:r>
              <a:rPr lang="ru-RU" b="1" err="1">
                <a:ln w="0"/>
                <a:solidFill>
                  <a:srgbClr val="00225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/>
                <a:cs typeface="Times New Roman"/>
              </a:rPr>
              <a:t>жұмыс</a:t>
            </a:r>
            <a:r>
              <a:rPr lang="ru-RU" b="1" dirty="0">
                <a:ln w="0"/>
                <a:solidFill>
                  <a:srgbClr val="00225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/>
                <a:cs typeface="Times New Roman"/>
              </a:rPr>
              <a:t> </a:t>
            </a:r>
            <a:r>
              <a:rPr lang="ru-RU" b="1" err="1">
                <a:ln w="0"/>
                <a:solidFill>
                  <a:srgbClr val="00225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/>
                <a:cs typeface="Times New Roman"/>
              </a:rPr>
              <a:t>жасайды</a:t>
            </a:r>
            <a:r>
              <a:rPr lang="ru-RU" b="1" dirty="0">
                <a:ln w="0"/>
                <a:solidFill>
                  <a:srgbClr val="00225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/>
                <a:cs typeface="Times New Roman"/>
              </a:rPr>
              <a:t>:</a:t>
            </a:r>
            <a:endParaRPr lang="ru-RU" b="1">
              <a:solidFill>
                <a:srgbClr val="00225E"/>
              </a:solidFill>
              <a:latin typeface="Times New Roman"/>
              <a:cs typeface="Times New Roman"/>
            </a:endParaRP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67604899-D0C5-4FA8-AABC-507476E239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7051436"/>
              </p:ext>
            </p:extLst>
          </p:nvPr>
        </p:nvGraphicFramePr>
        <p:xfrm>
          <a:off x="1066799" y="1159934"/>
          <a:ext cx="10287002" cy="49831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Рисунок 3" descr="Изображение выглядит как Графика, синий, Цвет электрик, бел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7CB8F8C-C64F-039C-5C42-EC859D09B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CD6988-841B-DA17-A1D8-90FEF176D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pPr marL="685800" indent="-685800">
              <a:buFont typeface="Arial"/>
              <a:buChar char="•"/>
            </a:pPr>
            <a:r>
              <a:rPr lang="ru-RU" sz="4800" b="1" dirty="0" err="1">
                <a:solidFill>
                  <a:srgbClr val="00225E"/>
                </a:solidFill>
                <a:latin typeface="Times New Roman"/>
                <a:ea typeface="+mj-lt"/>
                <a:cs typeface="+mj-lt"/>
              </a:rPr>
              <a:t>Лицензиялық</a:t>
            </a:r>
            <a:r>
              <a:rPr lang="ru-RU" sz="4800" b="1" dirty="0">
                <a:solidFill>
                  <a:srgbClr val="00225E"/>
                </a:solidFill>
                <a:latin typeface="Times New Roman"/>
                <a:ea typeface="+mj-lt"/>
                <a:cs typeface="+mj-lt"/>
              </a:rPr>
              <a:t> </a:t>
            </a:r>
            <a:r>
              <a:rPr lang="ru-RU" sz="4800" b="1" dirty="0" err="1">
                <a:solidFill>
                  <a:srgbClr val="00225E"/>
                </a:solidFill>
                <a:latin typeface="Times New Roman"/>
                <a:ea typeface="+mj-lt"/>
                <a:cs typeface="+mj-lt"/>
              </a:rPr>
              <a:t>қызметті</a:t>
            </a:r>
            <a:r>
              <a:rPr lang="ru-RU" sz="4800" b="1" dirty="0">
                <a:solidFill>
                  <a:srgbClr val="00225E"/>
                </a:solidFill>
                <a:latin typeface="Times New Roman"/>
                <a:ea typeface="+mj-lt"/>
                <a:cs typeface="+mj-lt"/>
              </a:rPr>
              <a:t> </a:t>
            </a:r>
            <a:r>
              <a:rPr lang="ru-RU" sz="4800" b="1" dirty="0" err="1">
                <a:solidFill>
                  <a:srgbClr val="00225E"/>
                </a:solidFill>
                <a:latin typeface="Times New Roman"/>
                <a:ea typeface="+mj-lt"/>
                <a:cs typeface="+mj-lt"/>
              </a:rPr>
              <a:t>кеңейту</a:t>
            </a:r>
            <a:endParaRPr lang="ru-RU" sz="4800" b="1" dirty="0">
              <a:solidFill>
                <a:srgbClr val="00225E"/>
              </a:solidFill>
              <a:latin typeface="Times New Roman"/>
              <a:ea typeface="Calibri Light"/>
              <a:cs typeface="Calibri Ligh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7EAC9E-21CF-32BE-02B9-569EBF02F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>
              <a:buNone/>
            </a:pPr>
            <a:r>
              <a:rPr lang="ru-RU" sz="1900" dirty="0" err="1">
                <a:latin typeface="Times New Roman"/>
                <a:ea typeface="+mn-lt"/>
                <a:cs typeface="+mn-lt"/>
              </a:rPr>
              <a:t>Мекеме</a:t>
            </a:r>
            <a:r>
              <a:rPr lang="ru-RU" sz="1900" dirty="0">
                <a:latin typeface="Times New Roman"/>
                <a:ea typeface="+mn-lt"/>
                <a:cs typeface="+mn-lt"/>
              </a:rPr>
              <a:t> </a:t>
            </a:r>
            <a:r>
              <a:rPr lang="ru-RU" sz="1900" dirty="0" err="1">
                <a:latin typeface="Times New Roman"/>
                <a:ea typeface="+mn-lt"/>
                <a:cs typeface="+mn-lt"/>
              </a:rPr>
              <a:t>қызметі</a:t>
            </a:r>
            <a:r>
              <a:rPr lang="ru-RU" sz="1900" dirty="0">
                <a:latin typeface="Times New Roman"/>
                <a:ea typeface="+mn-lt"/>
                <a:cs typeface="+mn-lt"/>
              </a:rPr>
              <a:t> </a:t>
            </a:r>
            <a:r>
              <a:rPr lang="ru-RU" sz="1900" dirty="0" err="1">
                <a:latin typeface="Times New Roman"/>
                <a:ea typeface="+mn-lt"/>
                <a:cs typeface="+mn-lt"/>
              </a:rPr>
              <a:t>толықтай</a:t>
            </a:r>
            <a:r>
              <a:rPr lang="ru-RU" sz="1900" dirty="0">
                <a:latin typeface="Times New Roman"/>
                <a:ea typeface="+mn-lt"/>
                <a:cs typeface="+mn-lt"/>
              </a:rPr>
              <a:t> </a:t>
            </a:r>
            <a:r>
              <a:rPr lang="ru-RU" sz="1900" dirty="0" err="1">
                <a:latin typeface="Times New Roman"/>
                <a:ea typeface="+mn-lt"/>
                <a:cs typeface="+mn-lt"/>
              </a:rPr>
              <a:t>нормативтік</a:t>
            </a:r>
            <a:r>
              <a:rPr lang="ru-RU" sz="1900" dirty="0">
                <a:latin typeface="Times New Roman"/>
                <a:ea typeface="+mn-lt"/>
                <a:cs typeface="+mn-lt"/>
              </a:rPr>
              <a:t> </a:t>
            </a:r>
            <a:r>
              <a:rPr lang="ru-RU" sz="1900" dirty="0" err="1">
                <a:latin typeface="Times New Roman"/>
                <a:ea typeface="+mn-lt"/>
                <a:cs typeface="+mn-lt"/>
              </a:rPr>
              <a:t>талаптарға</a:t>
            </a:r>
            <a:r>
              <a:rPr lang="ru-RU" sz="1900" dirty="0">
                <a:latin typeface="Times New Roman"/>
                <a:ea typeface="+mn-lt"/>
                <a:cs typeface="+mn-lt"/>
              </a:rPr>
              <a:t> </a:t>
            </a:r>
            <a:r>
              <a:rPr lang="ru-RU" sz="1900" dirty="0" err="1">
                <a:latin typeface="Times New Roman"/>
                <a:ea typeface="+mn-lt"/>
                <a:cs typeface="+mn-lt"/>
              </a:rPr>
              <a:t>сәйкестендірілді</a:t>
            </a:r>
            <a:r>
              <a:rPr lang="ru-RU" sz="1900" dirty="0">
                <a:latin typeface="Times New Roman"/>
                <a:ea typeface="+mn-lt"/>
                <a:cs typeface="+mn-lt"/>
              </a:rPr>
              <a:t>:</a:t>
            </a:r>
            <a:endParaRPr lang="ru-RU" sz="1900" dirty="0">
              <a:latin typeface="Times New Roman"/>
              <a:ea typeface="Calibri"/>
              <a:cs typeface="Calibri"/>
            </a:endParaRPr>
          </a:p>
          <a:p>
            <a:pPr>
              <a:buFont typeface="Arial"/>
            </a:pPr>
            <a:r>
              <a:rPr lang="ru-RU" sz="1900" b="1" dirty="0" err="1">
                <a:latin typeface="Times New Roman"/>
                <a:ea typeface="+mn-lt"/>
                <a:cs typeface="+mn-lt"/>
              </a:rPr>
              <a:t>Негізгі</a:t>
            </a:r>
            <a:r>
              <a:rPr lang="ru-RU" sz="1900" b="1" dirty="0">
                <a:latin typeface="Times New Roman"/>
                <a:ea typeface="+mn-lt"/>
                <a:cs typeface="+mn-lt"/>
              </a:rPr>
              <a:t> </a:t>
            </a:r>
            <a:r>
              <a:rPr lang="ru-RU" sz="1900" b="1" dirty="0" err="1">
                <a:latin typeface="Times New Roman"/>
                <a:ea typeface="+mn-lt"/>
                <a:cs typeface="+mn-lt"/>
              </a:rPr>
              <a:t>лицензиялар</a:t>
            </a:r>
            <a:r>
              <a:rPr lang="ru-RU" sz="1900" b="1" dirty="0">
                <a:latin typeface="Times New Roman"/>
                <a:ea typeface="+mn-lt"/>
                <a:cs typeface="+mn-lt"/>
              </a:rPr>
              <a:t>:</a:t>
            </a:r>
            <a:r>
              <a:rPr lang="ru-RU" sz="1900" dirty="0">
                <a:latin typeface="Times New Roman"/>
                <a:ea typeface="+mn-lt"/>
                <a:cs typeface="+mn-lt"/>
              </a:rPr>
              <a:t> </a:t>
            </a:r>
            <a:r>
              <a:rPr lang="ru-RU" sz="1900" dirty="0" err="1">
                <a:latin typeface="Times New Roman"/>
                <a:ea typeface="+mn-lt"/>
                <a:cs typeface="+mn-lt"/>
              </a:rPr>
              <a:t>Медициналық</a:t>
            </a:r>
            <a:r>
              <a:rPr lang="ru-RU" sz="1900" dirty="0">
                <a:latin typeface="Times New Roman"/>
                <a:ea typeface="+mn-lt"/>
                <a:cs typeface="+mn-lt"/>
              </a:rPr>
              <a:t> </a:t>
            </a:r>
            <a:r>
              <a:rPr lang="ru-RU" sz="1900" dirty="0" err="1">
                <a:latin typeface="Times New Roman"/>
                <a:ea typeface="+mn-lt"/>
                <a:cs typeface="+mn-lt"/>
              </a:rPr>
              <a:t>және</a:t>
            </a:r>
            <a:r>
              <a:rPr lang="ru-RU" sz="1900" dirty="0">
                <a:latin typeface="Times New Roman"/>
                <a:ea typeface="+mn-lt"/>
                <a:cs typeface="+mn-lt"/>
              </a:rPr>
              <a:t> </a:t>
            </a:r>
            <a:r>
              <a:rPr lang="ru-RU" sz="1900" dirty="0" err="1">
                <a:latin typeface="Times New Roman"/>
                <a:ea typeface="+mn-lt"/>
                <a:cs typeface="+mn-lt"/>
              </a:rPr>
              <a:t>фармацевтикалық</a:t>
            </a:r>
            <a:r>
              <a:rPr lang="ru-RU" sz="1900" dirty="0">
                <a:latin typeface="Times New Roman"/>
                <a:ea typeface="+mn-lt"/>
                <a:cs typeface="+mn-lt"/>
              </a:rPr>
              <a:t> </a:t>
            </a:r>
            <a:r>
              <a:rPr lang="ru-RU" sz="1900" dirty="0" err="1">
                <a:latin typeface="Times New Roman"/>
                <a:ea typeface="+mn-lt"/>
                <a:cs typeface="+mn-lt"/>
              </a:rPr>
              <a:t>қызмет</a:t>
            </a:r>
            <a:r>
              <a:rPr lang="ru-RU" sz="1900" dirty="0">
                <a:latin typeface="Times New Roman"/>
                <a:ea typeface="+mn-lt"/>
                <a:cs typeface="+mn-lt"/>
              </a:rPr>
              <a:t>, рентгенология.</a:t>
            </a:r>
            <a:endParaRPr lang="ru-RU" sz="1900" dirty="0">
              <a:latin typeface="Times New Roman"/>
              <a:ea typeface="Calibri"/>
              <a:cs typeface="Calibri"/>
            </a:endParaRPr>
          </a:p>
          <a:p>
            <a:pPr>
              <a:buFont typeface="Arial"/>
            </a:pPr>
            <a:r>
              <a:rPr lang="ru-RU" sz="1900" b="1" dirty="0" err="1">
                <a:latin typeface="Times New Roman"/>
                <a:ea typeface="+mn-lt"/>
                <a:cs typeface="+mn-lt"/>
              </a:rPr>
              <a:t>Арнайы</a:t>
            </a:r>
            <a:r>
              <a:rPr lang="ru-RU" sz="1900" b="1" dirty="0">
                <a:latin typeface="Times New Roman"/>
                <a:ea typeface="+mn-lt"/>
                <a:cs typeface="+mn-lt"/>
              </a:rPr>
              <a:t> </a:t>
            </a:r>
            <a:r>
              <a:rPr lang="ru-RU" sz="1900" b="1" dirty="0" err="1">
                <a:latin typeface="Times New Roman"/>
                <a:ea typeface="+mn-lt"/>
                <a:cs typeface="+mn-lt"/>
              </a:rPr>
              <a:t>рұқсаттар</a:t>
            </a:r>
            <a:r>
              <a:rPr lang="ru-RU" sz="1900" b="1" dirty="0">
                <a:latin typeface="Times New Roman"/>
                <a:ea typeface="+mn-lt"/>
                <a:cs typeface="+mn-lt"/>
              </a:rPr>
              <a:t>:</a:t>
            </a:r>
            <a:r>
              <a:rPr lang="ru-RU" sz="1900" dirty="0">
                <a:latin typeface="Times New Roman"/>
                <a:ea typeface="+mn-lt"/>
                <a:cs typeface="+mn-lt"/>
              </a:rPr>
              <a:t> </a:t>
            </a:r>
            <a:r>
              <a:rPr lang="ru-RU" sz="1900" dirty="0" err="1">
                <a:latin typeface="Times New Roman"/>
                <a:ea typeface="+mn-lt"/>
                <a:cs typeface="+mn-lt"/>
              </a:rPr>
              <a:t>Есірткі</a:t>
            </a:r>
            <a:r>
              <a:rPr lang="ru-RU" sz="1900" dirty="0">
                <a:latin typeface="Times New Roman"/>
                <a:ea typeface="+mn-lt"/>
                <a:cs typeface="+mn-lt"/>
              </a:rPr>
              <a:t> </a:t>
            </a:r>
            <a:r>
              <a:rPr lang="ru-RU" sz="1900" dirty="0" err="1">
                <a:latin typeface="Times New Roman"/>
                <a:ea typeface="+mn-lt"/>
                <a:cs typeface="+mn-lt"/>
              </a:rPr>
              <a:t>және</a:t>
            </a:r>
            <a:r>
              <a:rPr lang="ru-RU" sz="1900" dirty="0">
                <a:latin typeface="Times New Roman"/>
                <a:ea typeface="+mn-lt"/>
                <a:cs typeface="+mn-lt"/>
              </a:rPr>
              <a:t> </a:t>
            </a:r>
            <a:r>
              <a:rPr lang="ru-RU" sz="1900" dirty="0" err="1">
                <a:latin typeface="Times New Roman"/>
                <a:ea typeface="+mn-lt"/>
                <a:cs typeface="+mn-lt"/>
              </a:rPr>
              <a:t>психотроптық</a:t>
            </a:r>
            <a:r>
              <a:rPr lang="ru-RU" sz="1900" dirty="0">
                <a:latin typeface="Times New Roman"/>
                <a:ea typeface="+mn-lt"/>
                <a:cs typeface="+mn-lt"/>
              </a:rPr>
              <a:t> </a:t>
            </a:r>
            <a:r>
              <a:rPr lang="ru-RU" sz="1900" dirty="0" err="1">
                <a:latin typeface="Times New Roman"/>
                <a:ea typeface="+mn-lt"/>
                <a:cs typeface="+mn-lt"/>
              </a:rPr>
              <a:t>заттармен</a:t>
            </a:r>
            <a:r>
              <a:rPr lang="ru-RU" sz="1900" dirty="0">
                <a:latin typeface="Times New Roman"/>
                <a:ea typeface="+mn-lt"/>
                <a:cs typeface="+mn-lt"/>
              </a:rPr>
              <a:t> </a:t>
            </a:r>
            <a:r>
              <a:rPr lang="ru-RU" sz="1900" dirty="0" err="1">
                <a:latin typeface="Times New Roman"/>
                <a:ea typeface="+mn-lt"/>
                <a:cs typeface="+mn-lt"/>
              </a:rPr>
              <a:t>жұмыс</a:t>
            </a:r>
            <a:r>
              <a:rPr lang="ru-RU" sz="1900" dirty="0">
                <a:latin typeface="Times New Roman"/>
                <a:ea typeface="+mn-lt"/>
                <a:cs typeface="+mn-lt"/>
              </a:rPr>
              <a:t> </a:t>
            </a:r>
            <a:r>
              <a:rPr lang="ru-RU" sz="1900" dirty="0" err="1">
                <a:latin typeface="Times New Roman"/>
                <a:ea typeface="+mn-lt"/>
                <a:cs typeface="+mn-lt"/>
              </a:rPr>
              <a:t>істеу</a:t>
            </a:r>
            <a:r>
              <a:rPr lang="ru-RU" sz="1900" dirty="0">
                <a:latin typeface="Times New Roman"/>
                <a:ea typeface="+mn-lt"/>
                <a:cs typeface="+mn-lt"/>
              </a:rPr>
              <a:t> </a:t>
            </a:r>
            <a:r>
              <a:rPr lang="ru-RU" sz="1900" dirty="0" err="1">
                <a:latin typeface="Times New Roman"/>
                <a:ea typeface="+mn-lt"/>
                <a:cs typeface="+mn-lt"/>
              </a:rPr>
              <a:t>құқығы</a:t>
            </a:r>
            <a:r>
              <a:rPr lang="ru-RU" sz="1900" dirty="0">
                <a:latin typeface="Times New Roman"/>
                <a:ea typeface="+mn-lt"/>
                <a:cs typeface="+mn-lt"/>
              </a:rPr>
              <a:t> </a:t>
            </a:r>
            <a:r>
              <a:rPr lang="ru-RU" sz="1900" dirty="0" err="1">
                <a:latin typeface="Times New Roman"/>
                <a:ea typeface="+mn-lt"/>
                <a:cs typeface="+mn-lt"/>
              </a:rPr>
              <a:t>алынды</a:t>
            </a:r>
            <a:r>
              <a:rPr lang="ru-RU" sz="1900" dirty="0">
                <a:latin typeface="Times New Roman"/>
                <a:ea typeface="+mn-lt"/>
                <a:cs typeface="+mn-lt"/>
              </a:rPr>
              <a:t>.</a:t>
            </a:r>
            <a:endParaRPr lang="ru-RU" sz="1900" dirty="0">
              <a:latin typeface="Times New Roman"/>
              <a:ea typeface="Calibri"/>
              <a:cs typeface="Calibri"/>
            </a:endParaRPr>
          </a:p>
          <a:p>
            <a:pPr>
              <a:buFont typeface="Arial"/>
            </a:pPr>
            <a:r>
              <a:rPr lang="ru-RU" sz="1900" b="1" dirty="0" err="1">
                <a:latin typeface="Times New Roman"/>
                <a:ea typeface="+mn-lt"/>
                <a:cs typeface="+mn-lt"/>
              </a:rPr>
              <a:t>Қызмет</a:t>
            </a:r>
            <a:r>
              <a:rPr lang="ru-RU" sz="1900" b="1" dirty="0">
                <a:latin typeface="Times New Roman"/>
                <a:ea typeface="+mn-lt"/>
                <a:cs typeface="+mn-lt"/>
              </a:rPr>
              <a:t> </a:t>
            </a:r>
            <a:r>
              <a:rPr lang="ru-RU" sz="1900" b="1" dirty="0" err="1">
                <a:latin typeface="Times New Roman"/>
                <a:ea typeface="+mn-lt"/>
                <a:cs typeface="+mn-lt"/>
              </a:rPr>
              <a:t>көрсету</a:t>
            </a:r>
            <a:r>
              <a:rPr lang="ru-RU" sz="1900" b="1" dirty="0">
                <a:latin typeface="Times New Roman"/>
                <a:ea typeface="+mn-lt"/>
                <a:cs typeface="+mn-lt"/>
              </a:rPr>
              <a:t> </a:t>
            </a:r>
            <a:r>
              <a:rPr lang="ru-RU" sz="1900" b="1" dirty="0" err="1">
                <a:latin typeface="Times New Roman"/>
                <a:ea typeface="+mn-lt"/>
                <a:cs typeface="+mn-lt"/>
              </a:rPr>
              <a:t>спектрі</a:t>
            </a:r>
            <a:r>
              <a:rPr lang="ru-RU" sz="1900" b="1" dirty="0">
                <a:latin typeface="Times New Roman"/>
                <a:ea typeface="+mn-lt"/>
                <a:cs typeface="+mn-lt"/>
              </a:rPr>
              <a:t>:</a:t>
            </a:r>
            <a:r>
              <a:rPr lang="ru-RU" sz="1900" dirty="0">
                <a:latin typeface="Times New Roman"/>
                <a:ea typeface="+mn-lt"/>
                <a:cs typeface="+mn-lt"/>
              </a:rPr>
              <a:t> БМСК, </a:t>
            </a:r>
            <a:r>
              <a:rPr lang="ru-RU" sz="1900" dirty="0" err="1">
                <a:latin typeface="Times New Roman"/>
                <a:ea typeface="+mn-lt"/>
                <a:cs typeface="+mn-lt"/>
              </a:rPr>
              <a:t>ересектер</a:t>
            </a:r>
            <a:r>
              <a:rPr lang="ru-RU" sz="1900" dirty="0">
                <a:latin typeface="Times New Roman"/>
                <a:ea typeface="+mn-lt"/>
                <a:cs typeface="+mn-lt"/>
              </a:rPr>
              <a:t> мен </a:t>
            </a:r>
            <a:r>
              <a:rPr lang="ru-RU" sz="1900" dirty="0" err="1">
                <a:latin typeface="Times New Roman"/>
                <a:ea typeface="+mn-lt"/>
                <a:cs typeface="+mn-lt"/>
              </a:rPr>
              <a:t>балаларға</a:t>
            </a:r>
            <a:r>
              <a:rPr lang="ru-RU" sz="1900" dirty="0">
                <a:latin typeface="Times New Roman"/>
                <a:ea typeface="+mn-lt"/>
                <a:cs typeface="+mn-lt"/>
              </a:rPr>
              <a:t> </a:t>
            </a:r>
            <a:r>
              <a:rPr lang="ru-RU" sz="1900" dirty="0" err="1">
                <a:latin typeface="Times New Roman"/>
                <a:ea typeface="+mn-lt"/>
                <a:cs typeface="+mn-lt"/>
              </a:rPr>
              <a:t>арналған</a:t>
            </a:r>
            <a:r>
              <a:rPr lang="ru-RU" sz="1900" dirty="0">
                <a:latin typeface="Times New Roman"/>
                <a:ea typeface="+mn-lt"/>
                <a:cs typeface="+mn-lt"/>
              </a:rPr>
              <a:t> </a:t>
            </a:r>
            <a:r>
              <a:rPr lang="ru-RU" sz="1900" dirty="0" err="1">
                <a:latin typeface="Times New Roman"/>
                <a:ea typeface="+mn-lt"/>
                <a:cs typeface="+mn-lt"/>
              </a:rPr>
              <a:t>амбулаториялық</a:t>
            </a:r>
            <a:r>
              <a:rPr lang="ru-RU" sz="1900" dirty="0">
                <a:latin typeface="Times New Roman"/>
                <a:ea typeface="+mn-lt"/>
                <a:cs typeface="+mn-lt"/>
              </a:rPr>
              <a:t> </a:t>
            </a:r>
            <a:r>
              <a:rPr lang="ru-RU" sz="1900" dirty="0" err="1">
                <a:latin typeface="Times New Roman"/>
                <a:ea typeface="+mn-lt"/>
                <a:cs typeface="+mn-lt"/>
              </a:rPr>
              <a:t>көмек</a:t>
            </a:r>
            <a:r>
              <a:rPr lang="ru-RU" sz="1900" dirty="0">
                <a:latin typeface="Times New Roman"/>
                <a:ea typeface="+mn-lt"/>
                <a:cs typeface="+mn-lt"/>
              </a:rPr>
              <a:t>.</a:t>
            </a:r>
            <a:endParaRPr lang="ru-RU" sz="1900" dirty="0">
              <a:latin typeface="Times New Roman"/>
              <a:ea typeface="Calibri"/>
              <a:cs typeface="Calibri"/>
            </a:endParaRPr>
          </a:p>
          <a:p>
            <a:pPr>
              <a:buFont typeface="Arial"/>
            </a:pPr>
            <a:r>
              <a:rPr lang="ru-RU" sz="1900" b="1" dirty="0" err="1">
                <a:latin typeface="Times New Roman"/>
                <a:ea typeface="+mn-lt"/>
                <a:cs typeface="+mn-lt"/>
              </a:rPr>
              <a:t>Сараптама</a:t>
            </a:r>
            <a:r>
              <a:rPr lang="ru-RU" sz="1900" b="1" dirty="0">
                <a:latin typeface="Times New Roman"/>
                <a:ea typeface="+mn-lt"/>
                <a:cs typeface="+mn-lt"/>
              </a:rPr>
              <a:t> </a:t>
            </a:r>
            <a:r>
              <a:rPr lang="ru-RU" sz="1900" b="1" dirty="0" err="1">
                <a:latin typeface="Times New Roman"/>
                <a:ea typeface="+mn-lt"/>
                <a:cs typeface="+mn-lt"/>
              </a:rPr>
              <a:t>және</a:t>
            </a:r>
            <a:r>
              <a:rPr lang="ru-RU" sz="1900" b="1" dirty="0">
                <a:latin typeface="Times New Roman"/>
                <a:ea typeface="+mn-lt"/>
                <a:cs typeface="+mn-lt"/>
              </a:rPr>
              <a:t> диагностика:</a:t>
            </a:r>
            <a:r>
              <a:rPr lang="ru-RU" sz="1900" dirty="0">
                <a:latin typeface="Times New Roman"/>
                <a:ea typeface="+mn-lt"/>
                <a:cs typeface="+mn-lt"/>
              </a:rPr>
              <a:t> </a:t>
            </a:r>
            <a:r>
              <a:rPr lang="ru-RU" sz="1900" dirty="0" err="1">
                <a:latin typeface="Times New Roman"/>
                <a:ea typeface="+mn-lt"/>
                <a:cs typeface="+mn-lt"/>
              </a:rPr>
              <a:t>Еңбекке</a:t>
            </a:r>
            <a:r>
              <a:rPr lang="ru-RU" sz="1900" dirty="0">
                <a:latin typeface="Times New Roman"/>
                <a:ea typeface="+mn-lt"/>
                <a:cs typeface="+mn-lt"/>
              </a:rPr>
              <a:t> </a:t>
            </a:r>
            <a:r>
              <a:rPr lang="ru-RU" sz="1900" dirty="0" err="1">
                <a:latin typeface="Times New Roman"/>
                <a:ea typeface="+mn-lt"/>
                <a:cs typeface="+mn-lt"/>
              </a:rPr>
              <a:t>уақытша</a:t>
            </a:r>
            <a:r>
              <a:rPr lang="ru-RU" sz="1900" dirty="0">
                <a:latin typeface="Times New Roman"/>
                <a:ea typeface="+mn-lt"/>
                <a:cs typeface="+mn-lt"/>
              </a:rPr>
              <a:t> </a:t>
            </a:r>
            <a:r>
              <a:rPr lang="ru-RU" sz="1900" dirty="0" err="1">
                <a:latin typeface="Times New Roman"/>
                <a:ea typeface="+mn-lt"/>
                <a:cs typeface="+mn-lt"/>
              </a:rPr>
              <a:t>жарамсыздық</a:t>
            </a:r>
            <a:r>
              <a:rPr lang="ru-RU" sz="1900" dirty="0">
                <a:latin typeface="Times New Roman"/>
                <a:ea typeface="+mn-lt"/>
                <a:cs typeface="+mn-lt"/>
              </a:rPr>
              <a:t> </a:t>
            </a:r>
            <a:r>
              <a:rPr lang="ru-RU" sz="1900" dirty="0" err="1">
                <a:latin typeface="Times New Roman"/>
                <a:ea typeface="+mn-lt"/>
                <a:cs typeface="+mn-lt"/>
              </a:rPr>
              <a:t>сараптамасы</a:t>
            </a:r>
            <a:r>
              <a:rPr lang="ru-RU" sz="1900" dirty="0">
                <a:latin typeface="Times New Roman"/>
                <a:ea typeface="+mn-lt"/>
                <a:cs typeface="+mn-lt"/>
              </a:rPr>
              <a:t>, </a:t>
            </a:r>
            <a:r>
              <a:rPr lang="ru-RU" sz="1900" dirty="0" err="1">
                <a:latin typeface="Times New Roman"/>
                <a:ea typeface="+mn-lt"/>
                <a:cs typeface="+mn-lt"/>
              </a:rPr>
              <a:t>профилактикалық-диагностикалық</a:t>
            </a:r>
            <a:r>
              <a:rPr lang="ru-RU" sz="1900" dirty="0">
                <a:latin typeface="Times New Roman"/>
                <a:ea typeface="+mn-lt"/>
                <a:cs typeface="+mn-lt"/>
              </a:rPr>
              <a:t> </a:t>
            </a:r>
            <a:r>
              <a:rPr lang="ru-RU" sz="1900" dirty="0" err="1">
                <a:latin typeface="Times New Roman"/>
                <a:ea typeface="+mn-lt"/>
                <a:cs typeface="+mn-lt"/>
              </a:rPr>
              <a:t>қызмет</a:t>
            </a:r>
            <a:r>
              <a:rPr lang="ru-RU" sz="1900" dirty="0">
                <a:latin typeface="Times New Roman"/>
                <a:ea typeface="+mn-lt"/>
                <a:cs typeface="+mn-lt"/>
              </a:rPr>
              <a:t>.</a:t>
            </a:r>
            <a:endParaRPr lang="ru-RU" sz="1900" dirty="0">
              <a:latin typeface="Times New Roman"/>
              <a:ea typeface="Calibri"/>
              <a:cs typeface="Calibri"/>
            </a:endParaRPr>
          </a:p>
          <a:p>
            <a:pPr>
              <a:buFont typeface="Arial"/>
            </a:pPr>
            <a:r>
              <a:rPr lang="ru-RU" sz="1900" b="1" dirty="0" err="1">
                <a:latin typeface="Times New Roman"/>
                <a:ea typeface="+mn-lt"/>
                <a:cs typeface="+mn-lt"/>
              </a:rPr>
              <a:t>Құжаттама</a:t>
            </a:r>
            <a:r>
              <a:rPr lang="ru-RU" sz="1900" b="1" dirty="0">
                <a:latin typeface="Times New Roman"/>
                <a:ea typeface="+mn-lt"/>
                <a:cs typeface="+mn-lt"/>
              </a:rPr>
              <a:t>:</a:t>
            </a:r>
            <a:r>
              <a:rPr lang="ru-RU" sz="1900" dirty="0">
                <a:latin typeface="Times New Roman"/>
                <a:ea typeface="+mn-lt"/>
                <a:cs typeface="+mn-lt"/>
              </a:rPr>
              <a:t> </a:t>
            </a:r>
            <a:r>
              <a:rPr lang="ru-RU" sz="1900" dirty="0" err="1">
                <a:latin typeface="Times New Roman"/>
                <a:ea typeface="+mn-lt"/>
                <a:cs typeface="+mn-lt"/>
              </a:rPr>
              <a:t>Барлық</a:t>
            </a:r>
            <a:r>
              <a:rPr lang="ru-RU" sz="1900" dirty="0">
                <a:latin typeface="Times New Roman"/>
                <a:ea typeface="+mn-lt"/>
                <a:cs typeface="+mn-lt"/>
              </a:rPr>
              <a:t> </a:t>
            </a:r>
            <a:r>
              <a:rPr lang="ru-RU" sz="1900" dirty="0" err="1">
                <a:latin typeface="Times New Roman"/>
                <a:ea typeface="+mn-lt"/>
                <a:cs typeface="+mn-lt"/>
              </a:rPr>
              <a:t>қосымшалар</a:t>
            </a:r>
            <a:r>
              <a:rPr lang="ru-RU" sz="1900" dirty="0">
                <a:latin typeface="Times New Roman"/>
                <a:ea typeface="+mn-lt"/>
                <a:cs typeface="+mn-lt"/>
              </a:rPr>
              <a:t> (приложение) </a:t>
            </a:r>
            <a:r>
              <a:rPr lang="ru-RU" sz="1900" dirty="0" err="1">
                <a:latin typeface="Times New Roman"/>
                <a:ea typeface="+mn-lt"/>
                <a:cs typeface="+mn-lt"/>
              </a:rPr>
              <a:t>рәсімделіп</a:t>
            </a:r>
            <a:r>
              <a:rPr lang="ru-RU" sz="1900" dirty="0">
                <a:latin typeface="Times New Roman"/>
                <a:ea typeface="+mn-lt"/>
                <a:cs typeface="+mn-lt"/>
              </a:rPr>
              <a:t>, </a:t>
            </a:r>
            <a:r>
              <a:rPr lang="ru-RU" sz="1900" dirty="0" err="1">
                <a:latin typeface="Times New Roman"/>
                <a:ea typeface="+mn-lt"/>
                <a:cs typeface="+mn-lt"/>
              </a:rPr>
              <a:t>санитариялық-эпидемиологиялық</a:t>
            </a:r>
            <a:r>
              <a:rPr lang="ru-RU" sz="1900" dirty="0">
                <a:latin typeface="Times New Roman"/>
                <a:ea typeface="+mn-lt"/>
                <a:cs typeface="+mn-lt"/>
              </a:rPr>
              <a:t> </a:t>
            </a:r>
            <a:r>
              <a:rPr lang="ru-RU" sz="1900" dirty="0" err="1">
                <a:latin typeface="Times New Roman"/>
                <a:ea typeface="+mn-lt"/>
                <a:cs typeface="+mn-lt"/>
              </a:rPr>
              <a:t>қорытынды</a:t>
            </a:r>
            <a:r>
              <a:rPr lang="ru-RU" sz="1900" dirty="0">
                <a:latin typeface="Times New Roman"/>
                <a:ea typeface="+mn-lt"/>
                <a:cs typeface="+mn-lt"/>
              </a:rPr>
              <a:t> </a:t>
            </a:r>
            <a:r>
              <a:rPr lang="ru-RU" sz="1900" dirty="0" err="1">
                <a:latin typeface="Times New Roman"/>
                <a:ea typeface="+mn-lt"/>
                <a:cs typeface="+mn-lt"/>
              </a:rPr>
              <a:t>алынды</a:t>
            </a:r>
            <a:r>
              <a:rPr lang="ru-RU" sz="1900" dirty="0">
                <a:latin typeface="Times New Roman"/>
                <a:ea typeface="+mn-lt"/>
                <a:cs typeface="+mn-lt"/>
              </a:rPr>
              <a:t>.</a:t>
            </a:r>
            <a:endParaRPr lang="ru-RU" sz="1900" dirty="0">
              <a:latin typeface="Times New Roman"/>
              <a:ea typeface="Calibri"/>
              <a:cs typeface="Calibri"/>
            </a:endParaRPr>
          </a:p>
          <a:p>
            <a:pPr marL="0" indent="0">
              <a:buNone/>
            </a:pPr>
            <a:endParaRPr lang="ru-RU" sz="1900" dirty="0">
              <a:latin typeface="Times New Roman"/>
              <a:ea typeface="Calibri"/>
              <a:cs typeface="Calibri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6213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3" name="Rectangle 17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9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0AC896-C1F9-9C22-6ACA-899217F9C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pPr marL="685800" indent="-685800">
              <a:buFont typeface="Arial"/>
              <a:buChar char="•"/>
            </a:pPr>
            <a:r>
              <a:rPr lang="ru-RU" sz="4800" b="1" dirty="0" err="1">
                <a:solidFill>
                  <a:srgbClr val="00225E"/>
                </a:solidFill>
                <a:latin typeface="Times New Roman"/>
                <a:ea typeface="+mj-lt"/>
                <a:cs typeface="+mj-lt"/>
              </a:rPr>
              <a:t>Білім</a:t>
            </a:r>
            <a:r>
              <a:rPr lang="ru-RU" sz="4800" b="1" dirty="0">
                <a:solidFill>
                  <a:srgbClr val="00225E"/>
                </a:solidFill>
                <a:latin typeface="Times New Roman"/>
                <a:ea typeface="+mj-lt"/>
                <a:cs typeface="+mj-lt"/>
              </a:rPr>
              <a:t> беру </a:t>
            </a:r>
            <a:r>
              <a:rPr lang="ru-RU" sz="4800" b="1" dirty="0" err="1">
                <a:solidFill>
                  <a:srgbClr val="00225E"/>
                </a:solidFill>
                <a:latin typeface="Times New Roman"/>
                <a:ea typeface="+mj-lt"/>
                <a:cs typeface="+mj-lt"/>
              </a:rPr>
              <a:t>мекемелерімен</a:t>
            </a:r>
            <a:r>
              <a:rPr lang="ru-RU" sz="4800" b="1" dirty="0">
                <a:solidFill>
                  <a:srgbClr val="00225E"/>
                </a:solidFill>
                <a:latin typeface="Times New Roman"/>
                <a:ea typeface="+mj-lt"/>
                <a:cs typeface="+mj-lt"/>
              </a:rPr>
              <a:t> </a:t>
            </a:r>
            <a:r>
              <a:rPr lang="ru-RU" sz="4800" b="1" dirty="0" err="1">
                <a:solidFill>
                  <a:srgbClr val="00225E"/>
                </a:solidFill>
                <a:latin typeface="Times New Roman"/>
                <a:ea typeface="+mj-lt"/>
                <a:cs typeface="+mj-lt"/>
              </a:rPr>
              <a:t>келісімшарт</a:t>
            </a:r>
            <a:r>
              <a:rPr lang="ru-RU" sz="4800" b="1" dirty="0">
                <a:solidFill>
                  <a:srgbClr val="00225E"/>
                </a:solidFill>
                <a:latin typeface="Times New Roman"/>
                <a:ea typeface="+mj-lt"/>
                <a:cs typeface="+mj-lt"/>
              </a:rPr>
              <a:t> </a:t>
            </a:r>
            <a:r>
              <a:rPr lang="ru-RU" sz="4800" b="1" dirty="0" err="1">
                <a:solidFill>
                  <a:srgbClr val="00225E"/>
                </a:solidFill>
                <a:latin typeface="Times New Roman"/>
                <a:ea typeface="+mj-lt"/>
                <a:cs typeface="+mj-lt"/>
              </a:rPr>
              <a:t>жасалды</a:t>
            </a:r>
            <a:endParaRPr lang="ru-RU" sz="4800" b="1" dirty="0">
              <a:solidFill>
                <a:srgbClr val="00225E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D8B232B-8E1D-D4DB-3420-166B48FA0B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buNone/>
            </a:pPr>
            <a:r>
              <a:rPr lang="ru-RU" err="1">
                <a:latin typeface="Times New Roman"/>
                <a:ea typeface="Calibri"/>
                <a:cs typeface="Calibri"/>
              </a:rPr>
              <a:t>Халықты</a:t>
            </a:r>
            <a:r>
              <a:rPr lang="ru-RU" dirty="0">
                <a:latin typeface="Times New Roman"/>
                <a:ea typeface="Calibri"/>
                <a:cs typeface="Calibri"/>
              </a:rPr>
              <a:t> </a:t>
            </a:r>
            <a:r>
              <a:rPr lang="ru-RU" err="1">
                <a:latin typeface="Times New Roman"/>
                <a:ea typeface="Calibri"/>
                <a:cs typeface="Calibri"/>
              </a:rPr>
              <a:t>қамтуды</a:t>
            </a:r>
            <a:r>
              <a:rPr lang="ru-RU" dirty="0">
                <a:latin typeface="Times New Roman"/>
                <a:ea typeface="Calibri"/>
                <a:cs typeface="Calibri"/>
              </a:rPr>
              <a:t> </a:t>
            </a:r>
            <a:r>
              <a:rPr lang="ru-RU" err="1">
                <a:latin typeface="Times New Roman"/>
                <a:ea typeface="Calibri"/>
                <a:cs typeface="Calibri"/>
              </a:rPr>
              <a:t>арттыру</a:t>
            </a:r>
            <a:r>
              <a:rPr lang="ru-RU" dirty="0">
                <a:latin typeface="Times New Roman"/>
                <a:ea typeface="Calibri"/>
                <a:cs typeface="Calibri"/>
              </a:rPr>
              <a:t> </a:t>
            </a:r>
            <a:r>
              <a:rPr lang="ru-RU" err="1">
                <a:latin typeface="Times New Roman"/>
                <a:ea typeface="Calibri"/>
                <a:cs typeface="Calibri"/>
              </a:rPr>
              <a:t>мақсатында</a:t>
            </a:r>
            <a:r>
              <a:rPr lang="ru-RU" dirty="0">
                <a:latin typeface="Times New Roman"/>
                <a:ea typeface="Calibri"/>
                <a:cs typeface="Calibri"/>
              </a:rPr>
              <a:t> </a:t>
            </a:r>
            <a:r>
              <a:rPr lang="ru-RU" err="1">
                <a:latin typeface="Times New Roman"/>
                <a:ea typeface="Calibri"/>
                <a:cs typeface="Calibri"/>
              </a:rPr>
              <a:t>бекітілген</a:t>
            </a:r>
            <a:r>
              <a:rPr lang="ru-RU" dirty="0">
                <a:latin typeface="Times New Roman"/>
                <a:ea typeface="Calibri"/>
                <a:cs typeface="Calibri"/>
              </a:rPr>
              <a:t> </a:t>
            </a:r>
            <a:r>
              <a:rPr lang="ru-RU" err="1">
                <a:latin typeface="Times New Roman"/>
                <a:ea typeface="Calibri"/>
                <a:cs typeface="Calibri"/>
              </a:rPr>
              <a:t>нысандар</a:t>
            </a:r>
            <a:r>
              <a:rPr lang="ru-RU" dirty="0">
                <a:latin typeface="Times New Roman"/>
                <a:ea typeface="Calibri"/>
                <a:cs typeface="Calibri"/>
              </a:rPr>
              <a:t>:</a:t>
            </a:r>
            <a:endParaRPr lang="ru-RU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ru-RU" b="1" err="1">
                <a:latin typeface="Times New Roman"/>
                <a:ea typeface="+mn-lt"/>
                <a:cs typeface="+mn-lt"/>
              </a:rPr>
              <a:t>Мектептер</a:t>
            </a:r>
            <a:r>
              <a:rPr lang="ru-RU" b="1" dirty="0">
                <a:latin typeface="Times New Roman"/>
                <a:ea typeface="+mn-lt"/>
                <a:cs typeface="+mn-lt"/>
              </a:rPr>
              <a:t>:</a:t>
            </a:r>
            <a:r>
              <a:rPr lang="ru-RU" dirty="0">
                <a:latin typeface="Times New Roman"/>
                <a:ea typeface="+mn-lt"/>
                <a:cs typeface="+mn-lt"/>
              </a:rPr>
              <a:t> 3 </a:t>
            </a:r>
            <a:r>
              <a:rPr lang="ru-RU" err="1">
                <a:latin typeface="Times New Roman"/>
                <a:ea typeface="+mn-lt"/>
                <a:cs typeface="+mn-lt"/>
              </a:rPr>
              <a:t>жалпы</a:t>
            </a:r>
            <a:r>
              <a:rPr lang="ru-RU" dirty="0">
                <a:latin typeface="Times New Roman"/>
                <a:ea typeface="+mn-lt"/>
                <a:cs typeface="+mn-lt"/>
              </a:rPr>
              <a:t> </a:t>
            </a:r>
            <a:r>
              <a:rPr lang="ru-RU" err="1">
                <a:latin typeface="Times New Roman"/>
                <a:ea typeface="+mn-lt"/>
                <a:cs typeface="+mn-lt"/>
              </a:rPr>
              <a:t>білім</a:t>
            </a:r>
            <a:r>
              <a:rPr lang="ru-RU" dirty="0">
                <a:latin typeface="Times New Roman"/>
                <a:ea typeface="+mn-lt"/>
                <a:cs typeface="+mn-lt"/>
              </a:rPr>
              <a:t> </a:t>
            </a:r>
            <a:r>
              <a:rPr lang="ru-RU" err="1">
                <a:latin typeface="Times New Roman"/>
                <a:ea typeface="+mn-lt"/>
                <a:cs typeface="+mn-lt"/>
              </a:rPr>
              <a:t>беретін</a:t>
            </a:r>
            <a:r>
              <a:rPr lang="ru-RU" dirty="0">
                <a:latin typeface="Times New Roman"/>
                <a:ea typeface="+mn-lt"/>
                <a:cs typeface="+mn-lt"/>
              </a:rPr>
              <a:t> </a:t>
            </a:r>
            <a:r>
              <a:rPr lang="ru-RU" err="1">
                <a:latin typeface="Times New Roman"/>
                <a:ea typeface="+mn-lt"/>
                <a:cs typeface="+mn-lt"/>
              </a:rPr>
              <a:t>мекеме</a:t>
            </a:r>
            <a:r>
              <a:rPr lang="ru-RU" dirty="0">
                <a:latin typeface="Times New Roman"/>
                <a:ea typeface="+mn-lt"/>
                <a:cs typeface="+mn-lt"/>
              </a:rPr>
              <a:t>.</a:t>
            </a:r>
            <a:endParaRPr lang="ru-RU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ru-RU" b="1" err="1">
                <a:latin typeface="Times New Roman"/>
                <a:ea typeface="+mn-lt"/>
                <a:cs typeface="+mn-lt"/>
              </a:rPr>
              <a:t>Колледждер</a:t>
            </a:r>
            <a:r>
              <a:rPr lang="ru-RU" b="1" dirty="0">
                <a:latin typeface="Times New Roman"/>
                <a:ea typeface="+mn-lt"/>
                <a:cs typeface="+mn-lt"/>
              </a:rPr>
              <a:t>:</a:t>
            </a:r>
            <a:r>
              <a:rPr lang="ru-RU" dirty="0">
                <a:latin typeface="Times New Roman"/>
                <a:ea typeface="+mn-lt"/>
                <a:cs typeface="+mn-lt"/>
              </a:rPr>
              <a:t> 2 </a:t>
            </a:r>
            <a:r>
              <a:rPr lang="ru-RU" err="1">
                <a:latin typeface="Times New Roman"/>
                <a:ea typeface="+mn-lt"/>
                <a:cs typeface="+mn-lt"/>
              </a:rPr>
              <a:t>кәсіптік</a:t>
            </a:r>
            <a:r>
              <a:rPr lang="ru-RU" dirty="0">
                <a:latin typeface="Times New Roman"/>
                <a:ea typeface="+mn-lt"/>
                <a:cs typeface="+mn-lt"/>
              </a:rPr>
              <a:t> </a:t>
            </a:r>
            <a:r>
              <a:rPr lang="ru-RU" err="1">
                <a:latin typeface="Times New Roman"/>
                <a:ea typeface="+mn-lt"/>
                <a:cs typeface="+mn-lt"/>
              </a:rPr>
              <a:t>оқу</a:t>
            </a:r>
            <a:r>
              <a:rPr lang="ru-RU" dirty="0">
                <a:latin typeface="Times New Roman"/>
                <a:ea typeface="+mn-lt"/>
                <a:cs typeface="+mn-lt"/>
              </a:rPr>
              <a:t> </a:t>
            </a:r>
            <a:r>
              <a:rPr lang="ru-RU" err="1">
                <a:latin typeface="Times New Roman"/>
                <a:ea typeface="+mn-lt"/>
                <a:cs typeface="+mn-lt"/>
              </a:rPr>
              <a:t>орны</a:t>
            </a:r>
            <a:r>
              <a:rPr lang="ru-RU" dirty="0">
                <a:latin typeface="Times New Roman"/>
                <a:ea typeface="+mn-lt"/>
                <a:cs typeface="+mn-lt"/>
              </a:rPr>
              <a:t>.</a:t>
            </a:r>
            <a:endParaRPr lang="ru-RU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ru-RU" b="1" err="1">
                <a:latin typeface="Times New Roman"/>
                <a:ea typeface="+mn-lt"/>
                <a:cs typeface="+mn-lt"/>
              </a:rPr>
              <a:t>Нәтиже</a:t>
            </a:r>
            <a:r>
              <a:rPr lang="ru-RU" b="1" dirty="0">
                <a:latin typeface="Times New Roman"/>
                <a:ea typeface="+mn-lt"/>
                <a:cs typeface="+mn-lt"/>
              </a:rPr>
              <a:t>:</a:t>
            </a:r>
            <a:r>
              <a:rPr lang="ru-RU" dirty="0">
                <a:latin typeface="Times New Roman"/>
                <a:ea typeface="+mn-lt"/>
                <a:cs typeface="+mn-lt"/>
              </a:rPr>
              <a:t> </a:t>
            </a:r>
            <a:r>
              <a:rPr lang="ru-RU" err="1">
                <a:latin typeface="Times New Roman"/>
                <a:ea typeface="+mn-lt"/>
                <a:cs typeface="+mn-lt"/>
              </a:rPr>
              <a:t>Оқу</a:t>
            </a:r>
            <a:r>
              <a:rPr lang="ru-RU" dirty="0">
                <a:latin typeface="Times New Roman"/>
                <a:ea typeface="+mn-lt"/>
                <a:cs typeface="+mn-lt"/>
              </a:rPr>
              <a:t> </a:t>
            </a:r>
            <a:r>
              <a:rPr lang="ru-RU" err="1">
                <a:latin typeface="Times New Roman"/>
                <a:ea typeface="+mn-lt"/>
                <a:cs typeface="+mn-lt"/>
              </a:rPr>
              <a:t>орындарымен</a:t>
            </a:r>
            <a:r>
              <a:rPr lang="ru-RU" dirty="0">
                <a:latin typeface="Times New Roman"/>
                <a:ea typeface="+mn-lt"/>
                <a:cs typeface="+mn-lt"/>
              </a:rPr>
              <a:t> </a:t>
            </a:r>
            <a:r>
              <a:rPr lang="ru-RU" err="1">
                <a:latin typeface="Times New Roman"/>
                <a:ea typeface="+mn-lt"/>
                <a:cs typeface="+mn-lt"/>
              </a:rPr>
              <a:t>байланыс</a:t>
            </a:r>
            <a:r>
              <a:rPr lang="ru-RU" dirty="0">
                <a:latin typeface="Times New Roman"/>
                <a:ea typeface="+mn-lt"/>
                <a:cs typeface="+mn-lt"/>
              </a:rPr>
              <a:t> </a:t>
            </a:r>
            <a:r>
              <a:rPr lang="ru-RU" err="1">
                <a:latin typeface="Times New Roman"/>
                <a:ea typeface="+mn-lt"/>
                <a:cs typeface="+mn-lt"/>
              </a:rPr>
              <a:t>нығайтылып</a:t>
            </a:r>
            <a:r>
              <a:rPr lang="ru-RU" dirty="0">
                <a:latin typeface="Times New Roman"/>
                <a:ea typeface="+mn-lt"/>
                <a:cs typeface="+mn-lt"/>
              </a:rPr>
              <a:t>, </a:t>
            </a:r>
            <a:r>
              <a:rPr lang="ru-RU" err="1">
                <a:latin typeface="Times New Roman"/>
                <a:ea typeface="+mn-lt"/>
                <a:cs typeface="+mn-lt"/>
              </a:rPr>
              <a:t>жасөспірімдер</a:t>
            </a:r>
            <a:r>
              <a:rPr lang="ru-RU" dirty="0">
                <a:latin typeface="Times New Roman"/>
                <a:ea typeface="+mn-lt"/>
                <a:cs typeface="+mn-lt"/>
              </a:rPr>
              <a:t> </a:t>
            </a:r>
            <a:r>
              <a:rPr lang="ru-RU" err="1">
                <a:latin typeface="Times New Roman"/>
                <a:ea typeface="+mn-lt"/>
                <a:cs typeface="+mn-lt"/>
              </a:rPr>
              <a:t>арасындағы</a:t>
            </a:r>
            <a:r>
              <a:rPr lang="ru-RU" dirty="0">
                <a:latin typeface="Times New Roman"/>
                <a:ea typeface="+mn-lt"/>
                <a:cs typeface="+mn-lt"/>
              </a:rPr>
              <a:t> </a:t>
            </a:r>
            <a:r>
              <a:rPr lang="ru-RU" err="1">
                <a:latin typeface="Times New Roman"/>
                <a:ea typeface="+mn-lt"/>
                <a:cs typeface="+mn-lt"/>
              </a:rPr>
              <a:t>профилактикалық</a:t>
            </a:r>
            <a:r>
              <a:rPr lang="ru-RU" dirty="0">
                <a:latin typeface="Times New Roman"/>
                <a:ea typeface="+mn-lt"/>
                <a:cs typeface="+mn-lt"/>
              </a:rPr>
              <a:t> </a:t>
            </a:r>
            <a:r>
              <a:rPr lang="ru-RU" err="1">
                <a:latin typeface="Times New Roman"/>
                <a:ea typeface="+mn-lt"/>
                <a:cs typeface="+mn-lt"/>
              </a:rPr>
              <a:t>жұмыс</a:t>
            </a:r>
            <a:r>
              <a:rPr lang="ru-RU" dirty="0">
                <a:latin typeface="Times New Roman"/>
                <a:ea typeface="+mn-lt"/>
                <a:cs typeface="+mn-lt"/>
              </a:rPr>
              <a:t> </a:t>
            </a:r>
            <a:r>
              <a:rPr lang="ru-RU" err="1">
                <a:latin typeface="Times New Roman"/>
                <a:ea typeface="+mn-lt"/>
                <a:cs typeface="+mn-lt"/>
              </a:rPr>
              <a:t>деңгейі</a:t>
            </a:r>
            <a:r>
              <a:rPr lang="ru-RU" dirty="0">
                <a:latin typeface="Times New Roman"/>
                <a:ea typeface="+mn-lt"/>
                <a:cs typeface="+mn-lt"/>
              </a:rPr>
              <a:t> </a:t>
            </a:r>
            <a:r>
              <a:rPr lang="ru-RU" err="1">
                <a:latin typeface="Times New Roman"/>
                <a:ea typeface="+mn-lt"/>
                <a:cs typeface="+mn-lt"/>
              </a:rPr>
              <a:t>артты</a:t>
            </a:r>
            <a:r>
              <a:rPr lang="ru-RU" dirty="0">
                <a:latin typeface="Times New Roman"/>
                <a:ea typeface="+mn-lt"/>
                <a:cs typeface="+mn-lt"/>
              </a:rPr>
              <a:t>.</a:t>
            </a:r>
            <a:endParaRPr lang="ru-RU" dirty="0">
              <a:latin typeface="Times New Roman"/>
              <a:ea typeface="Calibri"/>
              <a:cs typeface="Calibri"/>
            </a:endParaRPr>
          </a:p>
        </p:txBody>
      </p:sp>
      <p:cxnSp>
        <p:nvCxnSpPr>
          <p:cNvPr id="21" name="Straight Connector 23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7741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0E27F1-B453-AAA3-30C5-1A91296F2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pPr marL="571500" indent="-571500">
              <a:buFont typeface="Arial"/>
              <a:buChar char="•"/>
            </a:pPr>
            <a:r>
              <a:rPr lang="ru-RU" sz="3800" b="1" dirty="0" err="1">
                <a:solidFill>
                  <a:srgbClr val="00225E"/>
                </a:solidFill>
                <a:latin typeface="Source Sans Pro"/>
                <a:ea typeface="Source Sans Pro"/>
                <a:cs typeface="Calibri Light"/>
              </a:rPr>
              <a:t>Құқықтық</a:t>
            </a:r>
            <a:r>
              <a:rPr lang="ru-RU" sz="3800" b="1" dirty="0">
                <a:solidFill>
                  <a:srgbClr val="00225E"/>
                </a:solidFill>
                <a:latin typeface="Source Sans Pro"/>
                <a:ea typeface="Source Sans Pro"/>
                <a:cs typeface="Calibri Light"/>
              </a:rPr>
              <a:t> </a:t>
            </a:r>
            <a:r>
              <a:rPr lang="ru-RU" sz="3800" b="1" dirty="0" err="1">
                <a:solidFill>
                  <a:srgbClr val="00225E"/>
                </a:solidFill>
                <a:latin typeface="Source Sans Pro"/>
                <a:ea typeface="Source Sans Pro"/>
                <a:cs typeface="Calibri Light"/>
              </a:rPr>
              <a:t>және</a:t>
            </a:r>
            <a:r>
              <a:rPr lang="ru-RU" sz="3800" b="1" dirty="0">
                <a:solidFill>
                  <a:srgbClr val="00225E"/>
                </a:solidFill>
                <a:latin typeface="Source Sans Pro"/>
                <a:ea typeface="Source Sans Pro"/>
                <a:cs typeface="Calibri Light"/>
              </a:rPr>
              <a:t> </a:t>
            </a:r>
            <a:r>
              <a:rPr lang="ru-RU" sz="3800" b="1" dirty="0" err="1">
                <a:solidFill>
                  <a:srgbClr val="00225E"/>
                </a:solidFill>
                <a:latin typeface="Source Sans Pro"/>
                <a:ea typeface="Source Sans Pro"/>
                <a:cs typeface="Calibri Light"/>
              </a:rPr>
              <a:t>соттық</a:t>
            </a:r>
            <a:r>
              <a:rPr lang="ru-RU" sz="3800" b="1" dirty="0">
                <a:solidFill>
                  <a:srgbClr val="00225E"/>
                </a:solidFill>
                <a:latin typeface="Source Sans Pro"/>
                <a:ea typeface="Source Sans Pro"/>
                <a:cs typeface="Calibri Light"/>
              </a:rPr>
              <a:t> </a:t>
            </a:r>
            <a:r>
              <a:rPr lang="ru-RU" sz="3800" b="1" dirty="0" err="1">
                <a:solidFill>
                  <a:srgbClr val="00225E"/>
                </a:solidFill>
                <a:latin typeface="Source Sans Pro"/>
                <a:ea typeface="Source Sans Pro"/>
                <a:cs typeface="Calibri Light"/>
              </a:rPr>
              <a:t>жұмыстардың</a:t>
            </a:r>
            <a:r>
              <a:rPr lang="ru-RU" sz="3800" b="1" dirty="0">
                <a:solidFill>
                  <a:srgbClr val="00225E"/>
                </a:solidFill>
                <a:latin typeface="Source Sans Pro"/>
                <a:ea typeface="Source Sans Pro"/>
                <a:cs typeface="Calibri Light"/>
              </a:rPr>
              <a:t> </a:t>
            </a:r>
            <a:r>
              <a:rPr lang="ru-RU" sz="3800" b="1" dirty="0" err="1">
                <a:solidFill>
                  <a:srgbClr val="00225E"/>
                </a:solidFill>
                <a:latin typeface="Source Sans Pro"/>
                <a:ea typeface="Source Sans Pro"/>
                <a:cs typeface="Calibri Light"/>
              </a:rPr>
              <a:t>нәтижелері</a:t>
            </a:r>
            <a:endParaRPr lang="ru-RU" sz="3800" dirty="0" err="1">
              <a:solidFill>
                <a:srgbClr val="00225E"/>
              </a:solidFill>
              <a:ea typeface="Calibri Light" panose="020F0302020204030204"/>
              <a:cs typeface="Calibri Light" panose="020F0302020204030204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9B6421-1100-89DE-1758-3BAFD7ED2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2400" b="1" dirty="0">
                <a:ea typeface="Calibri" panose="020F0502020204030204"/>
                <a:cs typeface="Calibri" panose="020F0502020204030204"/>
              </a:rPr>
              <a:t>Сот </a:t>
            </a:r>
            <a:r>
              <a:rPr lang="ru-RU" sz="2400" b="1" dirty="0" err="1">
                <a:ea typeface="Calibri" panose="020F0502020204030204"/>
                <a:cs typeface="Calibri" panose="020F0502020204030204"/>
              </a:rPr>
              <a:t>процестері</a:t>
            </a:r>
            <a:r>
              <a:rPr lang="ru-RU" sz="2400" b="1" dirty="0">
                <a:ea typeface="Calibri" panose="020F0502020204030204"/>
                <a:cs typeface="Calibri" panose="020F0502020204030204"/>
              </a:rPr>
              <a:t>:</a:t>
            </a:r>
            <a:r>
              <a:rPr lang="ru-RU" sz="2400" dirty="0">
                <a:ea typeface="Calibri" panose="020F0502020204030204"/>
                <a:cs typeface="Calibri" panose="020F0502020204030204"/>
              </a:rPr>
              <a:t> </a:t>
            </a:r>
            <a:r>
              <a:rPr lang="ru-RU" sz="2400" dirty="0" err="1">
                <a:ea typeface="Calibri" panose="020F0502020204030204"/>
                <a:cs typeface="Calibri" panose="020F0502020204030204"/>
              </a:rPr>
              <a:t>Шарттық</a:t>
            </a:r>
            <a:r>
              <a:rPr lang="ru-RU" sz="2400" dirty="0">
                <a:ea typeface="Calibri" panose="020F0502020204030204"/>
                <a:cs typeface="Calibri" panose="020F0502020204030204"/>
              </a:rPr>
              <a:t> </a:t>
            </a:r>
            <a:r>
              <a:rPr lang="ru-RU" sz="2400" dirty="0" err="1">
                <a:ea typeface="Calibri" panose="020F0502020204030204"/>
                <a:cs typeface="Calibri" panose="020F0502020204030204"/>
              </a:rPr>
              <a:t>міндеттемелер</a:t>
            </a:r>
            <a:r>
              <a:rPr lang="ru-RU" sz="2400" dirty="0">
                <a:ea typeface="Calibri" panose="020F0502020204030204"/>
                <a:cs typeface="Calibri" panose="020F0502020204030204"/>
              </a:rPr>
              <a:t> мен </a:t>
            </a:r>
            <a:r>
              <a:rPr lang="ru-RU" sz="2400" dirty="0" err="1">
                <a:ea typeface="Calibri" panose="020F0502020204030204"/>
                <a:cs typeface="Calibri" panose="020F0502020204030204"/>
              </a:rPr>
              <a:t>қаржы-шаруашылық</a:t>
            </a:r>
            <a:r>
              <a:rPr lang="ru-RU" sz="2400" dirty="0">
                <a:ea typeface="Calibri" panose="020F0502020204030204"/>
                <a:cs typeface="Calibri" panose="020F0502020204030204"/>
              </a:rPr>
              <a:t> </a:t>
            </a:r>
            <a:r>
              <a:rPr lang="ru-RU" sz="2400" dirty="0" err="1">
                <a:ea typeface="Calibri" panose="020F0502020204030204"/>
                <a:cs typeface="Calibri" panose="020F0502020204030204"/>
              </a:rPr>
              <a:t>қызметке</a:t>
            </a:r>
            <a:r>
              <a:rPr lang="ru-RU" sz="2400" dirty="0">
                <a:ea typeface="Calibri" panose="020F0502020204030204"/>
                <a:cs typeface="Calibri" panose="020F0502020204030204"/>
              </a:rPr>
              <a:t> </a:t>
            </a:r>
            <a:r>
              <a:rPr lang="ru-RU" sz="2400" dirty="0" err="1">
                <a:ea typeface="Calibri" panose="020F0502020204030204"/>
                <a:cs typeface="Calibri" panose="020F0502020204030204"/>
              </a:rPr>
              <a:t>қатысты</a:t>
            </a:r>
            <a:r>
              <a:rPr lang="ru-RU" sz="2400" dirty="0">
                <a:ea typeface="Calibri" panose="020F0502020204030204"/>
                <a:cs typeface="Calibri" panose="020F0502020204030204"/>
              </a:rPr>
              <a:t> </a:t>
            </a:r>
            <a:r>
              <a:rPr lang="ru-RU" sz="2400" b="1" dirty="0">
                <a:ea typeface="Calibri" panose="020F0502020204030204"/>
                <a:cs typeface="Calibri" panose="020F0502020204030204"/>
              </a:rPr>
              <a:t>4 сот </a:t>
            </a:r>
            <a:r>
              <a:rPr lang="ru-RU" sz="2400" b="1" dirty="0" err="1">
                <a:ea typeface="Calibri" panose="020F0502020204030204"/>
                <a:cs typeface="Calibri" panose="020F0502020204030204"/>
              </a:rPr>
              <a:t>талқылауына</a:t>
            </a:r>
            <a:r>
              <a:rPr lang="ru-RU" sz="2400" dirty="0">
                <a:ea typeface="Calibri" panose="020F0502020204030204"/>
                <a:cs typeface="Calibri" panose="020F0502020204030204"/>
              </a:rPr>
              <a:t> </a:t>
            </a:r>
            <a:r>
              <a:rPr lang="ru-RU" sz="2400" dirty="0" err="1">
                <a:ea typeface="Calibri" panose="020F0502020204030204"/>
                <a:cs typeface="Calibri" panose="020F0502020204030204"/>
              </a:rPr>
              <a:t>қатысу</a:t>
            </a:r>
            <a:r>
              <a:rPr lang="ru-RU" sz="2400" dirty="0">
                <a:ea typeface="Calibri" panose="020F0502020204030204"/>
                <a:cs typeface="Calibri" panose="020F0502020204030204"/>
              </a:rPr>
              <a:t> </a:t>
            </a:r>
            <a:r>
              <a:rPr lang="ru-RU" sz="2400" dirty="0" err="1">
                <a:ea typeface="Calibri" panose="020F0502020204030204"/>
                <a:cs typeface="Calibri" panose="020F0502020204030204"/>
              </a:rPr>
              <a:t>қамтамасыз</a:t>
            </a:r>
            <a:r>
              <a:rPr lang="ru-RU" sz="2400" dirty="0">
                <a:ea typeface="Calibri" panose="020F0502020204030204"/>
                <a:cs typeface="Calibri" panose="020F0502020204030204"/>
              </a:rPr>
              <a:t> </a:t>
            </a:r>
            <a:r>
              <a:rPr lang="ru-RU" sz="2400" dirty="0" err="1">
                <a:ea typeface="Calibri" panose="020F0502020204030204"/>
                <a:cs typeface="Calibri" panose="020F0502020204030204"/>
              </a:rPr>
              <a:t>етілді</a:t>
            </a:r>
            <a:r>
              <a:rPr lang="ru-RU" sz="2400" dirty="0">
                <a:ea typeface="Calibri" panose="020F0502020204030204"/>
                <a:cs typeface="Calibri" panose="020F0502020204030204"/>
              </a:rPr>
              <a:t>.</a:t>
            </a:r>
          </a:p>
          <a:p>
            <a:pPr marL="0" indent="0">
              <a:buNone/>
            </a:pPr>
            <a:r>
              <a:rPr lang="ru-RU" sz="2400" b="1" dirty="0" err="1">
                <a:ea typeface="Calibri" panose="020F0502020204030204"/>
                <a:cs typeface="Calibri" panose="020F0502020204030204"/>
              </a:rPr>
              <a:t>Нәтиже</a:t>
            </a:r>
            <a:r>
              <a:rPr lang="ru-RU" sz="2400" b="1" dirty="0">
                <a:ea typeface="Calibri" panose="020F0502020204030204"/>
                <a:cs typeface="Calibri" panose="020F0502020204030204"/>
              </a:rPr>
              <a:t>:</a:t>
            </a:r>
            <a:endParaRPr lang="ru-RU" sz="2400" dirty="0">
              <a:ea typeface="Calibri" panose="020F0502020204030204"/>
              <a:cs typeface="Calibri" panose="020F0502020204030204"/>
            </a:endParaRPr>
          </a:p>
          <a:p>
            <a:pPr>
              <a:buFont typeface="Arial"/>
              <a:buChar char="•"/>
            </a:pPr>
            <a:r>
              <a:rPr lang="ru-RU" sz="2400">
                <a:ea typeface="Calibri" panose="020F0502020204030204"/>
                <a:cs typeface="Calibri" panose="020F0502020204030204"/>
              </a:rPr>
              <a:t>Емхана мүдделері толық қорғалды.</a:t>
            </a:r>
            <a:endParaRPr lang="ru-RU" sz="2400"/>
          </a:p>
          <a:p>
            <a:pPr>
              <a:buFont typeface="Arial"/>
              <a:buChar char="•"/>
            </a:pPr>
            <a:r>
              <a:rPr lang="ru-RU" sz="2400">
                <a:ea typeface="Calibri" panose="020F0502020204030204"/>
                <a:cs typeface="Calibri" panose="020F0502020204030204"/>
              </a:rPr>
              <a:t>Мекеме үшін ең төменгі қаржылық шығындарға қол жеткізілді.</a:t>
            </a:r>
            <a:endParaRPr lang="ru-RU" sz="2400"/>
          </a:p>
        </p:txBody>
      </p:sp>
    </p:spTree>
    <p:extLst>
      <p:ext uri="{BB962C8B-B14F-4D97-AF65-F5344CB8AC3E}">
        <p14:creationId xmlns:p14="http://schemas.microsoft.com/office/powerpoint/2010/main" val="2346499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884C80-947B-E922-E582-86A32B288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pPr marL="571500" indent="-571500">
              <a:buFont typeface="Arial"/>
              <a:buChar char="•"/>
            </a:pPr>
            <a:r>
              <a:rPr lang="ru-RU" sz="4800" b="1" dirty="0" err="1">
                <a:solidFill>
                  <a:srgbClr val="00225E"/>
                </a:solidFill>
                <a:latin typeface="Source Sans Pro"/>
                <a:ea typeface="Source Sans Pro"/>
              </a:rPr>
              <a:t>Қаржылық</a:t>
            </a:r>
            <a:r>
              <a:rPr lang="ru-RU" sz="4800" b="1" dirty="0">
                <a:solidFill>
                  <a:srgbClr val="00225E"/>
                </a:solidFill>
                <a:latin typeface="Source Sans Pro"/>
                <a:ea typeface="Source Sans Pro"/>
              </a:rPr>
              <a:t> </a:t>
            </a:r>
            <a:r>
              <a:rPr lang="ru-RU" sz="4800" b="1" dirty="0" err="1">
                <a:solidFill>
                  <a:srgbClr val="00225E"/>
                </a:solidFill>
                <a:latin typeface="Source Sans Pro"/>
                <a:ea typeface="Source Sans Pro"/>
              </a:rPr>
              <a:t>міндеттемелер</a:t>
            </a:r>
            <a:r>
              <a:rPr lang="ru-RU" sz="4800" b="1" dirty="0">
                <a:solidFill>
                  <a:srgbClr val="00225E"/>
                </a:solidFill>
                <a:latin typeface="Source Sans Pro"/>
                <a:ea typeface="Source Sans Pro"/>
              </a:rPr>
              <a:t> </a:t>
            </a:r>
            <a:r>
              <a:rPr lang="ru-RU" sz="4800" b="1" dirty="0" err="1">
                <a:solidFill>
                  <a:srgbClr val="00225E"/>
                </a:solidFill>
                <a:latin typeface="Source Sans Pro"/>
                <a:ea typeface="Source Sans Pro"/>
              </a:rPr>
              <a:t>және</a:t>
            </a:r>
            <a:r>
              <a:rPr lang="ru-RU" sz="4800" b="1" dirty="0">
                <a:solidFill>
                  <a:srgbClr val="00225E"/>
                </a:solidFill>
                <a:latin typeface="Source Sans Pro"/>
                <a:ea typeface="Source Sans Pro"/>
              </a:rPr>
              <a:t> </a:t>
            </a:r>
            <a:r>
              <a:rPr lang="ru-RU" sz="4800" b="1" dirty="0" err="1">
                <a:solidFill>
                  <a:srgbClr val="00225E"/>
                </a:solidFill>
                <a:latin typeface="Source Sans Pro"/>
                <a:ea typeface="Source Sans Pro"/>
              </a:rPr>
              <a:t>басқару</a:t>
            </a:r>
            <a:r>
              <a:rPr lang="ru-RU" sz="4800" b="1" dirty="0">
                <a:solidFill>
                  <a:srgbClr val="00225E"/>
                </a:solidFill>
                <a:latin typeface="Source Sans Pro"/>
                <a:ea typeface="Source Sans Pro"/>
              </a:rPr>
              <a:t> </a:t>
            </a:r>
            <a:r>
              <a:rPr lang="ru-RU" sz="4800" b="1" dirty="0" err="1">
                <a:solidFill>
                  <a:srgbClr val="00225E"/>
                </a:solidFill>
                <a:latin typeface="Source Sans Pro"/>
                <a:ea typeface="Source Sans Pro"/>
              </a:rPr>
              <a:t>шешімдері</a:t>
            </a:r>
            <a:endParaRPr lang="ru-RU" sz="4800" dirty="0" err="1">
              <a:solidFill>
                <a:srgbClr val="00225E"/>
              </a:solidFill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1001AD-98A8-9406-1B5D-F1EABD6B8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buFont typeface="Arial"/>
              <a:buChar char="•"/>
            </a:pPr>
            <a:r>
              <a:rPr lang="ru-RU" sz="1800" b="1" dirty="0" err="1">
                <a:latin typeface="Times New Roman"/>
                <a:ea typeface="+mn-lt"/>
                <a:cs typeface="+mn-lt"/>
              </a:rPr>
              <a:t>Күрделі</a:t>
            </a:r>
            <a:r>
              <a:rPr lang="ru-RU" sz="1800" b="1" dirty="0">
                <a:latin typeface="Times New Roman"/>
                <a:ea typeface="+mn-lt"/>
                <a:cs typeface="+mn-lt"/>
              </a:rPr>
              <a:t> </a:t>
            </a:r>
            <a:r>
              <a:rPr lang="ru-RU" sz="1800" b="1" dirty="0" err="1">
                <a:latin typeface="Times New Roman"/>
                <a:ea typeface="+mn-lt"/>
                <a:cs typeface="+mn-lt"/>
              </a:rPr>
              <a:t>берешек</a:t>
            </a:r>
            <a:r>
              <a:rPr lang="ru-RU" sz="1800" b="1" dirty="0">
                <a:latin typeface="Times New Roman"/>
                <a:ea typeface="+mn-lt"/>
                <a:cs typeface="+mn-lt"/>
              </a:rPr>
              <a:t>: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Медициналық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ұйым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ашылған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сәттен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бастап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жинақталған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дебиторлық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және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кредиторлық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берешектің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жалпы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сомасы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68 млн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теңгеден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асқандығы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тіркелді</a:t>
            </a:r>
            <a:r>
              <a:rPr lang="ru-RU" sz="1800" dirty="0">
                <a:latin typeface="Times New Roman"/>
                <a:ea typeface="+mn-lt"/>
                <a:cs typeface="+mn-lt"/>
              </a:rPr>
              <a:t>.</a:t>
            </a:r>
            <a:endParaRPr lang="ru-RU" sz="1800" dirty="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ru-RU" sz="1800" b="1" dirty="0" err="1">
                <a:latin typeface="Times New Roman"/>
                <a:ea typeface="+mn-lt"/>
                <a:cs typeface="+mn-lt"/>
              </a:rPr>
              <a:t>Анықталған</a:t>
            </a:r>
            <a:r>
              <a:rPr lang="ru-RU" sz="1800" b="1" dirty="0">
                <a:latin typeface="Times New Roman"/>
                <a:ea typeface="+mn-lt"/>
                <a:cs typeface="+mn-lt"/>
              </a:rPr>
              <a:t> </a:t>
            </a:r>
            <a:r>
              <a:rPr lang="ru-RU" sz="1800" b="1" dirty="0" err="1">
                <a:latin typeface="Times New Roman"/>
                <a:ea typeface="+mn-lt"/>
                <a:cs typeface="+mn-lt"/>
              </a:rPr>
              <a:t>мәселелер</a:t>
            </a:r>
            <a:r>
              <a:rPr lang="ru-RU" sz="1800" b="1" dirty="0">
                <a:latin typeface="Times New Roman"/>
                <a:ea typeface="+mn-lt"/>
                <a:cs typeface="+mn-lt"/>
              </a:rPr>
              <a:t>: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Емхананы</a:t>
            </a:r>
            <a:r>
              <a:rPr lang="kk-KZ" sz="1800" dirty="0">
                <a:latin typeface="Times New Roman"/>
                <a:ea typeface="+mn-lt"/>
                <a:cs typeface="+mn-lt"/>
              </a:rPr>
              <a:t>ң ашылуына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дейін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қызметкерлер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алдында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жалақы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берешегі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және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мемлекеттік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сатып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алулар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бойынша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орындалған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міндеттемелердің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төленбеуі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сияқты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жүйелі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мәселелер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болған</a:t>
            </a:r>
            <a:r>
              <a:rPr lang="ru-RU" sz="1800" dirty="0">
                <a:latin typeface="Times New Roman"/>
                <a:ea typeface="+mn-lt"/>
                <a:cs typeface="+mn-lt"/>
              </a:rPr>
              <a:t>.</a:t>
            </a:r>
            <a:endParaRPr lang="ru-RU" sz="1800" dirty="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ru-RU" sz="1800" b="1" dirty="0" err="1">
                <a:latin typeface="Times New Roman"/>
                <a:ea typeface="+mn-lt"/>
                <a:cs typeface="+mn-lt"/>
              </a:rPr>
              <a:t>Қабылданған</a:t>
            </a:r>
            <a:r>
              <a:rPr lang="ru-RU" sz="1800" b="1" dirty="0">
                <a:latin typeface="Times New Roman"/>
                <a:ea typeface="+mn-lt"/>
                <a:cs typeface="+mn-lt"/>
              </a:rPr>
              <a:t> </a:t>
            </a:r>
            <a:r>
              <a:rPr lang="ru-RU" sz="1800" b="1" dirty="0" err="1">
                <a:latin typeface="Times New Roman"/>
                <a:ea typeface="+mn-lt"/>
                <a:cs typeface="+mn-lt"/>
              </a:rPr>
              <a:t>шаралар</a:t>
            </a:r>
            <a:r>
              <a:rPr lang="ru-RU" sz="1800" b="1" dirty="0">
                <a:latin typeface="Times New Roman"/>
                <a:ea typeface="+mn-lt"/>
                <a:cs typeface="+mn-lt"/>
              </a:rPr>
              <a:t>: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Қаржылық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міндеттемелерді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реттеу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бойынша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жедел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жоспар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іске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қосылды</a:t>
            </a:r>
            <a:r>
              <a:rPr lang="ru-RU" sz="1800" dirty="0">
                <a:latin typeface="Times New Roman"/>
                <a:ea typeface="+mn-lt"/>
                <a:cs typeface="+mn-lt"/>
              </a:rPr>
              <a:t>.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Оның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ішінде</a:t>
            </a:r>
            <a:r>
              <a:rPr lang="ru-RU" sz="1800" dirty="0">
                <a:latin typeface="Times New Roman"/>
                <a:ea typeface="+mn-lt"/>
                <a:cs typeface="+mn-lt"/>
              </a:rPr>
              <a:t>,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моноблоктарды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жеткізу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шарты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бойынша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</a:t>
            </a:r>
            <a:r>
              <a:rPr lang="ru-RU" sz="1800" b="1" dirty="0">
                <a:latin typeface="Times New Roman"/>
                <a:ea typeface="+mn-lt"/>
                <a:cs typeface="+mn-lt"/>
              </a:rPr>
              <a:t>68 792 640 </a:t>
            </a:r>
            <a:r>
              <a:rPr lang="ru-RU" sz="1800" b="1" dirty="0" err="1">
                <a:latin typeface="Times New Roman"/>
                <a:ea typeface="+mn-lt"/>
                <a:cs typeface="+mn-lt"/>
              </a:rPr>
              <a:t>теңге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көлеміндегі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тарихи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қарыз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мәселесі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оңтайлы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шешімін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тауып</a:t>
            </a:r>
            <a:r>
              <a:rPr lang="ru-RU" sz="1800" dirty="0">
                <a:latin typeface="Times New Roman"/>
                <a:ea typeface="+mn-lt"/>
                <a:cs typeface="+mn-lt"/>
              </a:rPr>
              <a:t>,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қаржылық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тұрақтылық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қалпына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келтірілді</a:t>
            </a:r>
            <a:r>
              <a:rPr lang="ru-RU" sz="1800" dirty="0">
                <a:latin typeface="Times New Roman"/>
                <a:ea typeface="+mn-lt"/>
                <a:cs typeface="+mn-lt"/>
              </a:rPr>
              <a:t>. (07.2025ж)</a:t>
            </a:r>
            <a:endParaRPr lang="ru-RU" sz="1800" dirty="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ru-RU" sz="1800" b="1" dirty="0" err="1">
                <a:latin typeface="Times New Roman"/>
                <a:ea typeface="+mn-lt"/>
                <a:cs typeface="+mn-lt"/>
              </a:rPr>
              <a:t>Нәтиже</a:t>
            </a:r>
            <a:r>
              <a:rPr lang="ru-RU" sz="1800" b="1" dirty="0">
                <a:latin typeface="Times New Roman"/>
                <a:ea typeface="+mn-lt"/>
                <a:cs typeface="+mn-lt"/>
              </a:rPr>
              <a:t>: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Есепті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кезеңде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бұрынғы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қарыздарды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жабу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бойынша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жүйелі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жұмыс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жүргізіліп</a:t>
            </a:r>
            <a:r>
              <a:rPr lang="ru-RU" sz="1800" dirty="0">
                <a:latin typeface="Times New Roman"/>
                <a:ea typeface="+mn-lt"/>
                <a:cs typeface="+mn-lt"/>
              </a:rPr>
              <a:t>,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мекеме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қаржылық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тәртіптің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жаңа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деңгейіне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</a:t>
            </a:r>
            <a:r>
              <a:rPr lang="ru-RU" sz="1800" dirty="0" err="1">
                <a:latin typeface="Times New Roman"/>
                <a:ea typeface="+mn-lt"/>
                <a:cs typeface="+mn-lt"/>
              </a:rPr>
              <a:t>шықты</a:t>
            </a:r>
            <a:r>
              <a:rPr lang="ru-RU" sz="1800" dirty="0">
                <a:latin typeface="Times New Roman"/>
                <a:ea typeface="+mn-lt"/>
                <a:cs typeface="+mn-lt"/>
              </a:rPr>
              <a:t>.</a:t>
            </a:r>
            <a:endParaRPr lang="ru-RU" sz="1800" dirty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ru-RU" sz="1800" dirty="0">
              <a:latin typeface="Times New Roman"/>
              <a:ea typeface="Calibri" panose="020F0502020204030204"/>
              <a:cs typeface="Calibri" panose="020F0502020204030204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01071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Заголовок 1">
            <a:extLst>
              <a:ext uri="{FF2B5EF4-FFF2-40B4-BE49-F238E27FC236}">
                <a16:creationId xmlns:a16="http://schemas.microsoft.com/office/drawing/2014/main" id="{062A2D69-059A-1A73-288C-B6BAEC8EB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125" y="171450"/>
            <a:ext cx="10515600" cy="990600"/>
          </a:xfrm>
        </p:spPr>
        <p:txBody>
          <a:bodyPr/>
          <a:lstStyle/>
          <a:p>
            <a:pPr algn="ctr" eaLnBrk="1" hangingPunct="1"/>
            <a:r>
              <a:rPr lang="ru-RU" altLang="en-US" b="1" err="1">
                <a:solidFill>
                  <a:srgbClr val="00225E"/>
                </a:solidFill>
                <a:latin typeface="Times New Roman"/>
                <a:cs typeface="Times New Roman"/>
              </a:rPr>
              <a:t>Ұйымдық</a:t>
            </a:r>
            <a:r>
              <a:rPr lang="ru-RU" altLang="en-US" b="1" dirty="0">
                <a:solidFill>
                  <a:srgbClr val="00225E"/>
                </a:solidFill>
                <a:latin typeface="Times New Roman"/>
                <a:cs typeface="Times New Roman"/>
              </a:rPr>
              <a:t> </a:t>
            </a:r>
            <a:r>
              <a:rPr lang="ru-RU" altLang="en-US" b="1" err="1">
                <a:solidFill>
                  <a:srgbClr val="00225E"/>
                </a:solidFill>
                <a:latin typeface="Times New Roman"/>
                <a:cs typeface="Times New Roman"/>
              </a:rPr>
              <a:t>құрылым</a:t>
            </a:r>
            <a:endParaRPr lang="en-US" altLang="en-US" b="1">
              <a:solidFill>
                <a:srgbClr val="00225E"/>
              </a:solidFill>
              <a:latin typeface="Times New Roman"/>
              <a:ea typeface="Calibri Light" panose="020F0302020204030204"/>
              <a:cs typeface="Times New Roman"/>
            </a:endParaRP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22933BCD-107A-39CE-6CDA-1FCF4A7421D6}"/>
              </a:ext>
            </a:extLst>
          </p:cNvPr>
          <p:cNvSpPr/>
          <p:nvPr/>
        </p:nvSpPr>
        <p:spPr>
          <a:xfrm>
            <a:off x="5762625" y="1241425"/>
            <a:ext cx="2160588" cy="54133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sz="1200" dirty="0" err="1">
                <a:latin typeface="Times New Roman"/>
                <a:cs typeface="Times New Roman"/>
              </a:rPr>
              <a:t>Бақылау</a:t>
            </a:r>
            <a:r>
              <a:rPr lang="ru-RU" sz="1200" dirty="0">
                <a:latin typeface="Times New Roman"/>
                <a:cs typeface="Times New Roman"/>
              </a:rPr>
              <a:t> </a:t>
            </a:r>
            <a:r>
              <a:rPr lang="ru-RU" sz="1200" dirty="0" err="1">
                <a:latin typeface="Times New Roman"/>
                <a:cs typeface="Times New Roman"/>
              </a:rPr>
              <a:t>кеңесі</a:t>
            </a:r>
            <a:endParaRPr lang="ru-KZ" sz="1200" dirty="0">
              <a:latin typeface="Times New Roman"/>
              <a:cs typeface="Times New Roman"/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D12A323B-72DB-A150-A517-BABD415340FB}"/>
              </a:ext>
            </a:extLst>
          </p:cNvPr>
          <p:cNvSpPr/>
          <p:nvPr/>
        </p:nvSpPr>
        <p:spPr>
          <a:xfrm>
            <a:off x="9486900" y="1241425"/>
            <a:ext cx="2159000" cy="7207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sz="1200" dirty="0" err="1">
                <a:latin typeface="Times New Roman"/>
                <a:cs typeface="Times New Roman"/>
              </a:rPr>
              <a:t>Бақылау</a:t>
            </a:r>
            <a:r>
              <a:rPr lang="ru-RU" sz="1200" dirty="0">
                <a:latin typeface="Times New Roman"/>
                <a:cs typeface="Times New Roman"/>
              </a:rPr>
              <a:t> </a:t>
            </a:r>
            <a:r>
              <a:rPr lang="ru-RU" sz="1200" dirty="0" err="1">
                <a:latin typeface="Times New Roman"/>
                <a:cs typeface="Times New Roman"/>
              </a:rPr>
              <a:t>кеңесінің</a:t>
            </a:r>
            <a:r>
              <a:rPr lang="ru-RU" sz="1200" dirty="0">
                <a:latin typeface="Times New Roman"/>
                <a:cs typeface="Times New Roman"/>
              </a:rPr>
              <a:t> </a:t>
            </a:r>
            <a:r>
              <a:rPr lang="ru-RU" sz="1200" dirty="0" err="1">
                <a:latin typeface="Times New Roman"/>
                <a:cs typeface="Times New Roman"/>
              </a:rPr>
              <a:t>хатшысы</a:t>
            </a:r>
            <a:endParaRPr lang="ru-KZ" sz="1200" dirty="0">
              <a:latin typeface="Times New Roman"/>
              <a:cs typeface="Times New Roman"/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96B88F7E-2B81-8B0C-8E50-4DBA5D445417}"/>
              </a:ext>
            </a:extLst>
          </p:cNvPr>
          <p:cNvSpPr/>
          <p:nvPr/>
        </p:nvSpPr>
        <p:spPr>
          <a:xfrm>
            <a:off x="2038350" y="1241425"/>
            <a:ext cx="2160588" cy="54133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sz="1200">
                <a:latin typeface="Times New Roman"/>
                <a:cs typeface="Times New Roman"/>
              </a:rPr>
              <a:t>Комплаенс-офицер</a:t>
            </a:r>
            <a:endParaRPr lang="ru-KZ" sz="1200" dirty="0">
              <a:latin typeface="Times New Roman"/>
              <a:cs typeface="Times New Roman"/>
            </a:endParaRP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5FBB36DD-0A56-5FE5-2A20-B8EF13FD658C}"/>
              </a:ext>
            </a:extLst>
          </p:cNvPr>
          <p:cNvSpPr/>
          <p:nvPr/>
        </p:nvSpPr>
        <p:spPr>
          <a:xfrm>
            <a:off x="5764213" y="1878013"/>
            <a:ext cx="2159000" cy="5397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k-KZ" sz="1200" dirty="0">
                <a:latin typeface="Times New Roman"/>
                <a:cs typeface="Times New Roman"/>
              </a:rPr>
              <a:t>Директор</a:t>
            </a:r>
            <a:endParaRPr lang="ru-KZ" sz="1200" dirty="0">
              <a:latin typeface="Times New Roman"/>
              <a:cs typeface="Times New Roman"/>
            </a:endParaRP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EBE570BD-6BC7-15BF-B785-28F591515691}"/>
              </a:ext>
            </a:extLst>
          </p:cNvPr>
          <p:cNvSpPr/>
          <p:nvPr/>
        </p:nvSpPr>
        <p:spPr>
          <a:xfrm>
            <a:off x="838200" y="2333625"/>
            <a:ext cx="2160588" cy="5397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sz="1200" dirty="0">
                <a:latin typeface="Times New Roman"/>
                <a:cs typeface="Times New Roman"/>
              </a:rPr>
              <a:t>Бас бухгалтер</a:t>
            </a:r>
            <a:endParaRPr lang="ru-KZ" sz="1200" dirty="0">
              <a:latin typeface="Times New Roman"/>
              <a:cs typeface="Times New Roman"/>
            </a:endParaRP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78D8C8FD-65F7-6F9D-9B91-E2A9E718C2A6}"/>
              </a:ext>
            </a:extLst>
          </p:cNvPr>
          <p:cNvSpPr/>
          <p:nvPr/>
        </p:nvSpPr>
        <p:spPr>
          <a:xfrm>
            <a:off x="9486900" y="2306638"/>
            <a:ext cx="2159000" cy="7207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sz="1200" dirty="0" err="1">
                <a:latin typeface="Times New Roman"/>
                <a:cs typeface="Times New Roman"/>
              </a:rPr>
              <a:t>Директордың</a:t>
            </a:r>
            <a:r>
              <a:rPr lang="ru-RU" sz="1200" dirty="0">
                <a:latin typeface="Times New Roman"/>
                <a:cs typeface="Times New Roman"/>
              </a:rPr>
              <a:t> </a:t>
            </a:r>
            <a:r>
              <a:rPr lang="ru-RU" sz="1200" dirty="0" err="1">
                <a:latin typeface="Times New Roman"/>
                <a:cs typeface="Times New Roman"/>
              </a:rPr>
              <a:t>медициналық</a:t>
            </a:r>
            <a:r>
              <a:rPr lang="ru-RU" sz="1200" dirty="0">
                <a:latin typeface="Times New Roman"/>
                <a:cs typeface="Times New Roman"/>
              </a:rPr>
              <a:t> </a:t>
            </a:r>
            <a:r>
              <a:rPr lang="ru-RU" sz="1200" dirty="0" err="1">
                <a:latin typeface="Times New Roman"/>
                <a:cs typeface="Times New Roman"/>
              </a:rPr>
              <a:t>істер</a:t>
            </a:r>
            <a:r>
              <a:rPr lang="ru-RU" sz="1200" dirty="0">
                <a:latin typeface="Times New Roman"/>
                <a:cs typeface="Times New Roman"/>
              </a:rPr>
              <a:t> </a:t>
            </a:r>
            <a:r>
              <a:rPr lang="ru-RU" sz="1200" dirty="0" err="1">
                <a:latin typeface="Times New Roman"/>
                <a:cs typeface="Times New Roman"/>
              </a:rPr>
              <a:t>жөніндегі</a:t>
            </a:r>
            <a:r>
              <a:rPr lang="ru-RU" sz="1200" dirty="0">
                <a:latin typeface="Times New Roman"/>
                <a:cs typeface="Times New Roman"/>
              </a:rPr>
              <a:t> </a:t>
            </a:r>
            <a:r>
              <a:rPr lang="ru-RU" sz="1200" dirty="0" err="1">
                <a:latin typeface="Times New Roman"/>
                <a:cs typeface="Times New Roman"/>
              </a:rPr>
              <a:t>орынбасары</a:t>
            </a:r>
            <a:endParaRPr lang="ru-KZ" sz="1200" dirty="0">
              <a:latin typeface="Times New Roman"/>
              <a:cs typeface="Times New Roman"/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0C90398E-0712-1AF7-CB35-15324647ECF7}"/>
              </a:ext>
            </a:extLst>
          </p:cNvPr>
          <p:cNvSpPr/>
          <p:nvPr/>
        </p:nvSpPr>
        <p:spPr>
          <a:xfrm>
            <a:off x="9486900" y="3249613"/>
            <a:ext cx="2159000" cy="5397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sz="1200" dirty="0" err="1">
                <a:latin typeface="Times New Roman"/>
                <a:cs typeface="Times New Roman"/>
              </a:rPr>
              <a:t>Дәріхана</a:t>
            </a:r>
            <a:endParaRPr lang="ru-KZ" sz="1200" dirty="0">
              <a:latin typeface="Times New Roman"/>
              <a:cs typeface="Times New Roman"/>
            </a:endParaRP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FAE11C77-F1A5-C672-BADD-61783D359406}"/>
              </a:ext>
            </a:extLst>
          </p:cNvPr>
          <p:cNvSpPr/>
          <p:nvPr/>
        </p:nvSpPr>
        <p:spPr>
          <a:xfrm>
            <a:off x="9486900" y="3984625"/>
            <a:ext cx="2159000" cy="5397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sz="1200" dirty="0" err="1">
                <a:latin typeface="Times New Roman"/>
                <a:cs typeface="Times New Roman"/>
              </a:rPr>
              <a:t>Пациенттерді</a:t>
            </a:r>
            <a:r>
              <a:rPr lang="ru-RU" sz="1200" dirty="0">
                <a:latin typeface="Times New Roman"/>
                <a:cs typeface="Times New Roman"/>
              </a:rPr>
              <a:t> </a:t>
            </a:r>
            <a:r>
              <a:rPr lang="ru-RU" sz="1200" dirty="0" err="1">
                <a:latin typeface="Times New Roman"/>
                <a:cs typeface="Times New Roman"/>
              </a:rPr>
              <a:t>қолдау</a:t>
            </a:r>
            <a:r>
              <a:rPr lang="ru-RU" sz="1200" dirty="0">
                <a:latin typeface="Times New Roman"/>
                <a:cs typeface="Times New Roman"/>
              </a:rPr>
              <a:t> </a:t>
            </a:r>
            <a:r>
              <a:rPr lang="ru-RU" sz="1200" dirty="0" err="1">
                <a:latin typeface="Times New Roman"/>
                <a:cs typeface="Times New Roman"/>
              </a:rPr>
              <a:t>қызметі</a:t>
            </a:r>
            <a:endParaRPr lang="ru-KZ" sz="1200" dirty="0">
              <a:latin typeface="Times New Roman"/>
              <a:cs typeface="Times New Roman"/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05AEA570-646A-7D5E-E862-E2EC8637A469}"/>
              </a:ext>
            </a:extLst>
          </p:cNvPr>
          <p:cNvSpPr/>
          <p:nvPr/>
        </p:nvSpPr>
        <p:spPr>
          <a:xfrm>
            <a:off x="9486900" y="4721225"/>
            <a:ext cx="2159000" cy="71913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sz="1200" dirty="0" err="1">
                <a:latin typeface="Times New Roman"/>
                <a:cs typeface="Times New Roman"/>
              </a:rPr>
              <a:t>Алдын</a:t>
            </a:r>
            <a:r>
              <a:rPr lang="ru-RU" sz="1200" dirty="0">
                <a:latin typeface="Times New Roman"/>
                <a:cs typeface="Times New Roman"/>
              </a:rPr>
              <a:t> </a:t>
            </a:r>
            <a:r>
              <a:rPr lang="ru-RU" sz="1200" dirty="0" err="1">
                <a:latin typeface="Times New Roman"/>
                <a:cs typeface="Times New Roman"/>
              </a:rPr>
              <a:t>алу</a:t>
            </a:r>
            <a:r>
              <a:rPr lang="ru-RU" sz="1200" dirty="0">
                <a:latin typeface="Times New Roman"/>
                <a:cs typeface="Times New Roman"/>
              </a:rPr>
              <a:t> </a:t>
            </a:r>
            <a:r>
              <a:rPr lang="ru-RU" sz="1200" dirty="0" err="1">
                <a:latin typeface="Times New Roman"/>
                <a:cs typeface="Times New Roman"/>
              </a:rPr>
              <a:t>және</a:t>
            </a:r>
            <a:r>
              <a:rPr lang="ru-RU" sz="1200" dirty="0">
                <a:latin typeface="Times New Roman"/>
                <a:cs typeface="Times New Roman"/>
              </a:rPr>
              <a:t> </a:t>
            </a:r>
            <a:r>
              <a:rPr lang="ru-RU" sz="1200" dirty="0" err="1">
                <a:latin typeface="Times New Roman"/>
                <a:cs typeface="Times New Roman"/>
              </a:rPr>
              <a:t>әлеуметтік-психологиялық</a:t>
            </a:r>
            <a:r>
              <a:rPr lang="ru-RU" sz="1200" dirty="0">
                <a:latin typeface="Times New Roman"/>
                <a:cs typeface="Times New Roman"/>
              </a:rPr>
              <a:t> </a:t>
            </a:r>
            <a:r>
              <a:rPr lang="ru-RU" sz="1200" dirty="0" err="1">
                <a:latin typeface="Times New Roman"/>
                <a:cs typeface="Times New Roman"/>
              </a:rPr>
              <a:t>көмек</a:t>
            </a:r>
            <a:r>
              <a:rPr lang="ru-RU" sz="1200" dirty="0">
                <a:latin typeface="Times New Roman"/>
                <a:cs typeface="Times New Roman"/>
              </a:rPr>
              <a:t> </a:t>
            </a:r>
            <a:r>
              <a:rPr lang="ru-RU" sz="1200" dirty="0" err="1">
                <a:latin typeface="Times New Roman"/>
                <a:cs typeface="Times New Roman"/>
              </a:rPr>
              <a:t>бөлімі</a:t>
            </a:r>
            <a:endParaRPr lang="ru-KZ" sz="1200" dirty="0">
              <a:latin typeface="Times New Roman"/>
              <a:cs typeface="Times New Roman"/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33A84E07-EAE9-3AEE-3586-0FF1261ACE20}"/>
              </a:ext>
            </a:extLst>
          </p:cNvPr>
          <p:cNvSpPr/>
          <p:nvPr/>
        </p:nvSpPr>
        <p:spPr>
          <a:xfrm>
            <a:off x="9486900" y="5662613"/>
            <a:ext cx="2159000" cy="5397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sz="1200" dirty="0" err="1">
                <a:latin typeface="Times New Roman"/>
                <a:cs typeface="Times New Roman"/>
              </a:rPr>
              <a:t>Статистикалық</a:t>
            </a:r>
            <a:r>
              <a:rPr lang="ru-RU" sz="1200" dirty="0">
                <a:latin typeface="Times New Roman"/>
                <a:cs typeface="Times New Roman"/>
              </a:rPr>
              <a:t> </a:t>
            </a:r>
            <a:r>
              <a:rPr lang="ru-RU" sz="1200" dirty="0" err="1">
                <a:latin typeface="Times New Roman"/>
                <a:cs typeface="Times New Roman"/>
              </a:rPr>
              <a:t>қызмет</a:t>
            </a:r>
            <a:endParaRPr lang="ru-KZ" sz="1200" dirty="0">
              <a:latin typeface="Times New Roman"/>
              <a:cs typeface="Times New Roman"/>
            </a:endParaRP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EBCD1338-A1D4-6885-F0FF-5FB5F12E0047}"/>
              </a:ext>
            </a:extLst>
          </p:cNvPr>
          <p:cNvSpPr/>
          <p:nvPr/>
        </p:nvSpPr>
        <p:spPr>
          <a:xfrm>
            <a:off x="6759575" y="3298825"/>
            <a:ext cx="2160588" cy="5397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sz="1200" dirty="0" err="1">
                <a:latin typeface="Times New Roman"/>
                <a:cs typeface="Times New Roman"/>
              </a:rPr>
              <a:t>Отбасылық</a:t>
            </a:r>
            <a:r>
              <a:rPr lang="ru-RU" sz="1200" dirty="0">
                <a:latin typeface="Times New Roman"/>
                <a:cs typeface="Times New Roman"/>
              </a:rPr>
              <a:t> </a:t>
            </a:r>
            <a:r>
              <a:rPr lang="ru-RU" sz="1200" dirty="0" err="1">
                <a:latin typeface="Times New Roman"/>
                <a:cs typeface="Times New Roman"/>
              </a:rPr>
              <a:t>денсаулық</a:t>
            </a:r>
            <a:r>
              <a:rPr lang="ru-RU" sz="1200" dirty="0">
                <a:latin typeface="Times New Roman"/>
                <a:cs typeface="Times New Roman"/>
              </a:rPr>
              <a:t> </a:t>
            </a:r>
            <a:r>
              <a:rPr lang="ru-RU" sz="1200" dirty="0" err="1">
                <a:latin typeface="Times New Roman"/>
                <a:cs typeface="Times New Roman"/>
              </a:rPr>
              <a:t>орталығы</a:t>
            </a:r>
            <a:endParaRPr lang="ru-KZ" sz="1200" dirty="0">
              <a:latin typeface="Times New Roman"/>
              <a:cs typeface="Times New Roman"/>
            </a:endParaRP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FFE151DE-EF22-5B27-30D5-954B367717D9}"/>
              </a:ext>
            </a:extLst>
          </p:cNvPr>
          <p:cNvSpPr/>
          <p:nvPr/>
        </p:nvSpPr>
        <p:spPr>
          <a:xfrm>
            <a:off x="6759575" y="4035425"/>
            <a:ext cx="2160588" cy="5397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sz="1200" dirty="0" err="1">
                <a:latin typeface="Times New Roman"/>
                <a:cs typeface="Times New Roman"/>
              </a:rPr>
              <a:t>Әйелдерге</a:t>
            </a:r>
            <a:r>
              <a:rPr lang="ru-RU" sz="1200" dirty="0">
                <a:latin typeface="Times New Roman"/>
                <a:cs typeface="Times New Roman"/>
              </a:rPr>
              <a:t> </a:t>
            </a:r>
            <a:r>
              <a:rPr lang="ru-RU" sz="1200" dirty="0" err="1">
                <a:latin typeface="Times New Roman"/>
                <a:cs typeface="Times New Roman"/>
              </a:rPr>
              <a:t>кеңес</a:t>
            </a:r>
            <a:r>
              <a:rPr lang="ru-RU" sz="1200" dirty="0">
                <a:latin typeface="Times New Roman"/>
                <a:cs typeface="Times New Roman"/>
              </a:rPr>
              <a:t> беру</a:t>
            </a:r>
            <a:endParaRPr lang="ru-KZ" sz="1200" dirty="0">
              <a:latin typeface="Times New Roman"/>
              <a:cs typeface="Times New Roman"/>
            </a:endParaRP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CD2449BA-04C6-C53D-6550-34AFEB20B84D}"/>
              </a:ext>
            </a:extLst>
          </p:cNvPr>
          <p:cNvSpPr/>
          <p:nvPr/>
        </p:nvSpPr>
        <p:spPr>
          <a:xfrm>
            <a:off x="6759575" y="4770438"/>
            <a:ext cx="2160588" cy="5397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k-KZ" sz="1200" dirty="0">
                <a:latin typeface="Times New Roman"/>
                <a:cs typeface="Times New Roman"/>
              </a:rPr>
              <a:t>Күндізгі стационар</a:t>
            </a:r>
            <a:endParaRPr lang="ru-KZ" sz="1200" dirty="0">
              <a:latin typeface="Times New Roman"/>
              <a:cs typeface="Times New Roman"/>
            </a:endParaRP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AD73292B-3A4F-BA03-0D1A-EA9EF3E9F874}"/>
              </a:ext>
            </a:extLst>
          </p:cNvPr>
          <p:cNvSpPr/>
          <p:nvPr/>
        </p:nvSpPr>
        <p:spPr>
          <a:xfrm>
            <a:off x="4198938" y="3287713"/>
            <a:ext cx="2159000" cy="5397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sz="1200" dirty="0">
                <a:latin typeface="Times New Roman"/>
                <a:cs typeface="Times New Roman"/>
              </a:rPr>
              <a:t>Бас </a:t>
            </a:r>
            <a:r>
              <a:rPr lang="ru-RU" sz="1200" dirty="0" err="1">
                <a:latin typeface="Times New Roman"/>
                <a:cs typeface="Times New Roman"/>
              </a:rPr>
              <a:t>медбике</a:t>
            </a:r>
            <a:endParaRPr lang="ru-KZ" sz="1200" dirty="0">
              <a:latin typeface="Times New Roman"/>
              <a:cs typeface="Times New Roman"/>
            </a:endParaRP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928A2538-4DC1-CFB0-3E26-E31D4D4D34FF}"/>
              </a:ext>
            </a:extLst>
          </p:cNvPr>
          <p:cNvSpPr/>
          <p:nvPr/>
        </p:nvSpPr>
        <p:spPr>
          <a:xfrm>
            <a:off x="4198938" y="4024313"/>
            <a:ext cx="2159000" cy="5397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k-KZ" sz="1200" dirty="0">
                <a:latin typeface="Times New Roman"/>
                <a:cs typeface="Times New Roman"/>
              </a:rPr>
              <a:t>Регистратура</a:t>
            </a:r>
            <a:endParaRPr lang="ru-KZ" sz="1200" dirty="0">
              <a:latin typeface="Times New Roman"/>
              <a:cs typeface="Times New Roman"/>
            </a:endParaRP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9A1882C1-50AE-46D9-5D6D-83604C1203BF}"/>
              </a:ext>
            </a:extLst>
          </p:cNvPr>
          <p:cNvSpPr/>
          <p:nvPr/>
        </p:nvSpPr>
        <p:spPr>
          <a:xfrm>
            <a:off x="4198938" y="4759325"/>
            <a:ext cx="2159000" cy="5397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sz="1200" dirty="0" err="1">
                <a:latin typeface="Times New Roman"/>
                <a:cs typeface="Times New Roman"/>
              </a:rPr>
              <a:t>Кіші</a:t>
            </a:r>
            <a:r>
              <a:rPr lang="ru-RU" sz="1200" dirty="0">
                <a:latin typeface="Times New Roman"/>
                <a:cs typeface="Times New Roman"/>
              </a:rPr>
              <a:t> </a:t>
            </a:r>
            <a:r>
              <a:rPr lang="ru-RU" sz="1200" dirty="0" err="1">
                <a:latin typeface="Times New Roman"/>
                <a:cs typeface="Times New Roman"/>
              </a:rPr>
              <a:t>қызметкерлер</a:t>
            </a:r>
            <a:endParaRPr lang="ru-KZ" sz="1200" dirty="0">
              <a:latin typeface="Times New Roman"/>
              <a:cs typeface="Times New Roman"/>
            </a:endParaRP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4C6B4846-71EA-DEC2-4DBB-875FFC120817}"/>
              </a:ext>
            </a:extLst>
          </p:cNvPr>
          <p:cNvSpPr/>
          <p:nvPr/>
        </p:nvSpPr>
        <p:spPr>
          <a:xfrm>
            <a:off x="66675" y="3249613"/>
            <a:ext cx="1543050" cy="5397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sz="1200" dirty="0">
                <a:latin typeface="Times New Roman"/>
                <a:cs typeface="Times New Roman"/>
              </a:rPr>
              <a:t>Бухгалтер </a:t>
            </a:r>
            <a:endParaRPr lang="ru-KZ" sz="1200" dirty="0">
              <a:latin typeface="Times New Roman"/>
              <a:cs typeface="Times New Roman"/>
            </a:endParaRP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9D824BED-A1FB-EC40-280E-E2E11643DF7B}"/>
              </a:ext>
            </a:extLst>
          </p:cNvPr>
          <p:cNvSpPr/>
          <p:nvPr/>
        </p:nvSpPr>
        <p:spPr>
          <a:xfrm>
            <a:off x="66675" y="4024313"/>
            <a:ext cx="1543050" cy="5397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sz="1200" dirty="0" err="1">
                <a:latin typeface="Times New Roman"/>
                <a:cs typeface="Times New Roman"/>
              </a:rPr>
              <a:t>Кадрлар</a:t>
            </a:r>
            <a:r>
              <a:rPr lang="ru-RU" sz="1200" dirty="0">
                <a:latin typeface="Times New Roman"/>
                <a:cs typeface="Times New Roman"/>
              </a:rPr>
              <a:t> </a:t>
            </a:r>
            <a:r>
              <a:rPr lang="ru-RU" sz="1200" dirty="0" err="1">
                <a:latin typeface="Times New Roman"/>
                <a:cs typeface="Times New Roman"/>
              </a:rPr>
              <a:t>бөлімінің</a:t>
            </a:r>
            <a:r>
              <a:rPr lang="ru-RU" sz="1200" dirty="0">
                <a:latin typeface="Times New Roman"/>
                <a:cs typeface="Times New Roman"/>
              </a:rPr>
              <a:t> </a:t>
            </a:r>
            <a:r>
              <a:rPr lang="ru-RU" sz="1200" dirty="0" err="1">
                <a:latin typeface="Times New Roman"/>
                <a:cs typeface="Times New Roman"/>
              </a:rPr>
              <a:t>бастығы</a:t>
            </a:r>
            <a:endParaRPr lang="ru-KZ" sz="1200" dirty="0">
              <a:latin typeface="Times New Roman"/>
              <a:cs typeface="Times New Roman"/>
            </a:endParaRP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E9E06104-74A2-7132-758F-2C41507FE99D}"/>
              </a:ext>
            </a:extLst>
          </p:cNvPr>
          <p:cNvSpPr/>
          <p:nvPr/>
        </p:nvSpPr>
        <p:spPr>
          <a:xfrm>
            <a:off x="66675" y="4799013"/>
            <a:ext cx="1543050" cy="5397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k-KZ" sz="1200" dirty="0">
                <a:latin typeface="Times New Roman"/>
                <a:cs typeface="Times New Roman"/>
              </a:rPr>
              <a:t>Шаруашылық бөлімінің меңгерушісі</a:t>
            </a:r>
            <a:endParaRPr lang="ru-KZ" sz="1200" dirty="0">
              <a:latin typeface="Times New Roman"/>
              <a:cs typeface="Times New Roman"/>
            </a:endParaRP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5CBEBF22-D321-94F6-B086-0B4B0FCD6F36}"/>
              </a:ext>
            </a:extLst>
          </p:cNvPr>
          <p:cNvSpPr/>
          <p:nvPr/>
        </p:nvSpPr>
        <p:spPr>
          <a:xfrm>
            <a:off x="66675" y="5573713"/>
            <a:ext cx="1543050" cy="5397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>
                <a:latin typeface="Times New Roman"/>
                <a:cs typeface="Times New Roman"/>
              </a:rPr>
              <a:t>IT </a:t>
            </a:r>
            <a:r>
              <a:rPr lang="ru-RU" sz="1200" dirty="0" err="1">
                <a:latin typeface="Times New Roman"/>
                <a:cs typeface="Times New Roman"/>
              </a:rPr>
              <a:t>маманы</a:t>
            </a:r>
            <a:endParaRPr lang="ru-KZ" sz="1200" dirty="0">
              <a:latin typeface="Times New Roman"/>
              <a:cs typeface="Times New Roman"/>
            </a:endParaRPr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D886DF63-9829-1B40-4EFE-BFECBE1E05CD}"/>
              </a:ext>
            </a:extLst>
          </p:cNvPr>
          <p:cNvSpPr/>
          <p:nvPr/>
        </p:nvSpPr>
        <p:spPr>
          <a:xfrm>
            <a:off x="2132013" y="3062288"/>
            <a:ext cx="1543050" cy="7762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sz="1200" dirty="0">
                <a:latin typeface="Times New Roman"/>
                <a:cs typeface="Times New Roman"/>
              </a:rPr>
              <a:t>Экономист. </a:t>
            </a:r>
            <a:r>
              <a:rPr lang="ru-RU" sz="1200" dirty="0" err="1">
                <a:latin typeface="Times New Roman"/>
                <a:cs typeface="Times New Roman"/>
              </a:rPr>
              <a:t>Мемлекеттік</a:t>
            </a:r>
            <a:r>
              <a:rPr lang="ru-RU" sz="1200" dirty="0">
                <a:latin typeface="Times New Roman"/>
                <a:cs typeface="Times New Roman"/>
              </a:rPr>
              <a:t> </a:t>
            </a:r>
            <a:r>
              <a:rPr lang="ru-RU" sz="1200" dirty="0" err="1">
                <a:latin typeface="Times New Roman"/>
                <a:cs typeface="Times New Roman"/>
              </a:rPr>
              <a:t>сатып</a:t>
            </a:r>
            <a:r>
              <a:rPr lang="ru-RU" sz="1200" dirty="0">
                <a:latin typeface="Times New Roman"/>
                <a:cs typeface="Times New Roman"/>
              </a:rPr>
              <a:t> </a:t>
            </a:r>
            <a:r>
              <a:rPr lang="ru-RU" sz="1200" dirty="0" err="1">
                <a:latin typeface="Times New Roman"/>
                <a:cs typeface="Times New Roman"/>
              </a:rPr>
              <a:t>алу</a:t>
            </a:r>
            <a:r>
              <a:rPr lang="ru-RU" sz="1200" dirty="0">
                <a:latin typeface="Times New Roman"/>
                <a:cs typeface="Times New Roman"/>
              </a:rPr>
              <a:t> </a:t>
            </a:r>
            <a:r>
              <a:rPr lang="ru-RU" sz="1200" dirty="0" err="1">
                <a:latin typeface="Times New Roman"/>
                <a:cs typeface="Times New Roman"/>
              </a:rPr>
              <a:t>жөніндегі</a:t>
            </a:r>
            <a:r>
              <a:rPr lang="ru-RU" sz="1200" dirty="0">
                <a:latin typeface="Times New Roman"/>
                <a:cs typeface="Times New Roman"/>
              </a:rPr>
              <a:t> </a:t>
            </a:r>
            <a:r>
              <a:rPr lang="ru-RU" sz="1200" dirty="0" err="1">
                <a:latin typeface="Times New Roman"/>
                <a:cs typeface="Times New Roman"/>
              </a:rPr>
              <a:t>маман</a:t>
            </a:r>
            <a:endParaRPr lang="ru-KZ" sz="1200" dirty="0">
              <a:latin typeface="Times New Roman"/>
              <a:cs typeface="Times New Roman"/>
            </a:endParaRP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EEDBEDBC-F5CA-1D49-B0CA-EEC2D6CCD51B}"/>
              </a:ext>
            </a:extLst>
          </p:cNvPr>
          <p:cNvSpPr/>
          <p:nvPr/>
        </p:nvSpPr>
        <p:spPr>
          <a:xfrm>
            <a:off x="2132013" y="4027488"/>
            <a:ext cx="1543050" cy="5397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>
                <a:latin typeface="Times New Roman"/>
                <a:cs typeface="Times New Roman"/>
              </a:rPr>
              <a:t>HR </a:t>
            </a:r>
            <a:r>
              <a:rPr lang="ru-RU" sz="1200" dirty="0" err="1">
                <a:latin typeface="Times New Roman"/>
                <a:cs typeface="Times New Roman"/>
              </a:rPr>
              <a:t>маманы</a:t>
            </a:r>
            <a:endParaRPr lang="ru-KZ" sz="1200" dirty="0">
              <a:latin typeface="Times New Roman"/>
              <a:cs typeface="Times New Roman"/>
            </a:endParaRPr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657C86D4-420B-8DF0-62E4-194E7D92AD6E}"/>
              </a:ext>
            </a:extLst>
          </p:cNvPr>
          <p:cNvSpPr/>
          <p:nvPr/>
        </p:nvSpPr>
        <p:spPr>
          <a:xfrm>
            <a:off x="2132013" y="4802188"/>
            <a:ext cx="1543050" cy="183356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sz="1200" dirty="0" err="1">
                <a:latin typeface="Times New Roman"/>
                <a:cs typeface="Times New Roman"/>
              </a:rPr>
              <a:t>Заңгер</a:t>
            </a:r>
            <a:r>
              <a:rPr lang="ru-RU" sz="1200" dirty="0">
                <a:latin typeface="Times New Roman"/>
                <a:cs typeface="Times New Roman"/>
              </a:rPr>
              <a:t>, </a:t>
            </a:r>
            <a:r>
              <a:rPr lang="ru-RU" sz="1200" dirty="0" err="1">
                <a:latin typeface="Times New Roman"/>
                <a:cs typeface="Times New Roman"/>
              </a:rPr>
              <a:t>кеңсе</a:t>
            </a:r>
            <a:r>
              <a:rPr lang="ru-RU" sz="1200" dirty="0">
                <a:latin typeface="Times New Roman"/>
                <a:cs typeface="Times New Roman"/>
              </a:rPr>
              <a:t> </a:t>
            </a:r>
            <a:r>
              <a:rPr lang="ru-RU" sz="1200" dirty="0" err="1">
                <a:latin typeface="Times New Roman"/>
                <a:cs typeface="Times New Roman"/>
              </a:rPr>
              <a:t>менеджері</a:t>
            </a:r>
            <a:r>
              <a:rPr lang="ru-RU" sz="1200" dirty="0">
                <a:latin typeface="Times New Roman"/>
                <a:cs typeface="Times New Roman"/>
              </a:rPr>
              <a:t>, </a:t>
            </a:r>
            <a:r>
              <a:rPr lang="ru-RU" sz="1200" dirty="0" err="1">
                <a:latin typeface="Times New Roman"/>
                <a:cs typeface="Times New Roman"/>
              </a:rPr>
              <a:t>мемлекеттік</a:t>
            </a:r>
            <a:r>
              <a:rPr lang="ru-RU" sz="1200" dirty="0">
                <a:latin typeface="Times New Roman"/>
                <a:cs typeface="Times New Roman"/>
              </a:rPr>
              <a:t> </a:t>
            </a:r>
            <a:r>
              <a:rPr lang="ru-RU" sz="1200" dirty="0" err="1">
                <a:latin typeface="Times New Roman"/>
                <a:cs typeface="Times New Roman"/>
              </a:rPr>
              <a:t>тілді</a:t>
            </a:r>
            <a:r>
              <a:rPr lang="ru-RU" sz="1200" dirty="0">
                <a:latin typeface="Times New Roman"/>
                <a:cs typeface="Times New Roman"/>
              </a:rPr>
              <a:t> </a:t>
            </a:r>
            <a:r>
              <a:rPr lang="ru-RU" sz="1200" dirty="0" err="1">
                <a:latin typeface="Times New Roman"/>
                <a:cs typeface="Times New Roman"/>
              </a:rPr>
              <a:t>дамыту</a:t>
            </a:r>
            <a:r>
              <a:rPr lang="ru-RU" sz="1200" dirty="0">
                <a:latin typeface="Times New Roman"/>
                <a:cs typeface="Times New Roman"/>
              </a:rPr>
              <a:t> </a:t>
            </a:r>
            <a:r>
              <a:rPr lang="ru-RU" sz="1200" dirty="0" err="1">
                <a:latin typeface="Times New Roman"/>
                <a:cs typeface="Times New Roman"/>
              </a:rPr>
              <a:t>жөніндегі</a:t>
            </a:r>
            <a:r>
              <a:rPr lang="ru-RU" sz="1200" dirty="0">
                <a:latin typeface="Times New Roman"/>
                <a:cs typeface="Times New Roman"/>
              </a:rPr>
              <a:t> </a:t>
            </a:r>
            <a:r>
              <a:rPr lang="ru-RU" sz="1200" dirty="0" err="1">
                <a:latin typeface="Times New Roman"/>
                <a:cs typeface="Times New Roman"/>
              </a:rPr>
              <a:t>маман</a:t>
            </a:r>
            <a:r>
              <a:rPr lang="ru-RU" sz="1200" dirty="0">
                <a:latin typeface="Times New Roman"/>
                <a:cs typeface="Times New Roman"/>
              </a:rPr>
              <a:t>, </a:t>
            </a:r>
            <a:r>
              <a:rPr lang="ru-RU" sz="1200" dirty="0" err="1">
                <a:latin typeface="Times New Roman"/>
                <a:cs typeface="Times New Roman"/>
              </a:rPr>
              <a:t>қауіпсіздік</a:t>
            </a:r>
            <a:r>
              <a:rPr lang="ru-RU" sz="1200" dirty="0">
                <a:latin typeface="Times New Roman"/>
                <a:cs typeface="Times New Roman"/>
              </a:rPr>
              <a:t> </a:t>
            </a:r>
            <a:r>
              <a:rPr lang="ru-RU" sz="1200" dirty="0" err="1">
                <a:latin typeface="Times New Roman"/>
                <a:cs typeface="Times New Roman"/>
              </a:rPr>
              <a:t>және</a:t>
            </a:r>
            <a:r>
              <a:rPr lang="ru-RU" sz="1200" dirty="0">
                <a:latin typeface="Times New Roman"/>
                <a:cs typeface="Times New Roman"/>
              </a:rPr>
              <a:t> </a:t>
            </a:r>
            <a:r>
              <a:rPr lang="ru-RU" sz="1200" dirty="0" err="1">
                <a:latin typeface="Times New Roman"/>
                <a:cs typeface="Times New Roman"/>
              </a:rPr>
              <a:t>төтенше</a:t>
            </a:r>
            <a:r>
              <a:rPr lang="ru-RU" sz="1200" dirty="0">
                <a:latin typeface="Times New Roman"/>
                <a:cs typeface="Times New Roman"/>
              </a:rPr>
              <a:t> </a:t>
            </a:r>
            <a:r>
              <a:rPr lang="ru-RU" sz="1200" dirty="0" err="1">
                <a:latin typeface="Times New Roman"/>
                <a:cs typeface="Times New Roman"/>
              </a:rPr>
              <a:t>жағдайлар</a:t>
            </a:r>
            <a:r>
              <a:rPr lang="ru-RU" sz="1200" dirty="0">
                <a:latin typeface="Times New Roman"/>
                <a:cs typeface="Times New Roman"/>
              </a:rPr>
              <a:t> </a:t>
            </a:r>
            <a:r>
              <a:rPr lang="ru-RU" sz="1200" dirty="0" err="1">
                <a:latin typeface="Times New Roman"/>
                <a:cs typeface="Times New Roman"/>
              </a:rPr>
              <a:t>жөніндегі</a:t>
            </a:r>
            <a:r>
              <a:rPr lang="ru-RU" sz="1200" dirty="0">
                <a:latin typeface="Times New Roman"/>
                <a:cs typeface="Times New Roman"/>
              </a:rPr>
              <a:t> инженер</a:t>
            </a:r>
            <a:endParaRPr lang="ru-KZ" sz="1200" dirty="0">
              <a:latin typeface="Times New Roman"/>
              <a:cs typeface="Times New Roman"/>
            </a:endParaRPr>
          </a:p>
        </p:txBody>
      </p:sp>
      <p:cxnSp>
        <p:nvCxnSpPr>
          <p:cNvPr id="30" name="Прямая со стрелкой 29">
            <a:extLst>
              <a:ext uri="{FF2B5EF4-FFF2-40B4-BE49-F238E27FC236}">
                <a16:creationId xmlns:a16="http://schemas.microsoft.com/office/drawing/2014/main" id="{F710A6B9-5FFD-F72D-C242-D15BC4AD10D8}"/>
              </a:ext>
            </a:extLst>
          </p:cNvPr>
          <p:cNvCxnSpPr>
            <a:stCxn id="5" idx="2"/>
            <a:endCxn id="8" idx="0"/>
          </p:cNvCxnSpPr>
          <p:nvPr/>
        </p:nvCxnSpPr>
        <p:spPr>
          <a:xfrm>
            <a:off x="6842125" y="1782763"/>
            <a:ext cx="1588" cy="95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>
            <a:extLst>
              <a:ext uri="{FF2B5EF4-FFF2-40B4-BE49-F238E27FC236}">
                <a16:creationId xmlns:a16="http://schemas.microsoft.com/office/drawing/2014/main" id="{915E2517-67BE-B707-DDCD-0259416082E3}"/>
              </a:ext>
            </a:extLst>
          </p:cNvPr>
          <p:cNvCxnSpPr>
            <a:stCxn id="5" idx="1"/>
            <a:endCxn id="7" idx="3"/>
          </p:cNvCxnSpPr>
          <p:nvPr/>
        </p:nvCxnSpPr>
        <p:spPr>
          <a:xfrm flipH="1">
            <a:off x="4198938" y="1512888"/>
            <a:ext cx="15636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521B20CE-A655-835E-69A6-022381659451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7923213" y="1512888"/>
            <a:ext cx="1563687" cy="88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41EE015A-1B66-D438-C2F7-15CAD5313C99}"/>
              </a:ext>
            </a:extLst>
          </p:cNvPr>
          <p:cNvCxnSpPr>
            <a:stCxn id="8" idx="1"/>
            <a:endCxn id="10" idx="0"/>
          </p:cNvCxnSpPr>
          <p:nvPr/>
        </p:nvCxnSpPr>
        <p:spPr>
          <a:xfrm flipH="1">
            <a:off x="1917700" y="2147888"/>
            <a:ext cx="3846513" cy="1857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BBC665BB-D29C-C090-BF0D-4364D68BC664}"/>
              </a:ext>
            </a:extLst>
          </p:cNvPr>
          <p:cNvCxnSpPr>
            <a:stCxn id="8" idx="3"/>
            <a:endCxn id="11" idx="0"/>
          </p:cNvCxnSpPr>
          <p:nvPr/>
        </p:nvCxnSpPr>
        <p:spPr>
          <a:xfrm>
            <a:off x="7923213" y="2147888"/>
            <a:ext cx="2643187" cy="1587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 стрелкой 39">
            <a:extLst>
              <a:ext uri="{FF2B5EF4-FFF2-40B4-BE49-F238E27FC236}">
                <a16:creationId xmlns:a16="http://schemas.microsoft.com/office/drawing/2014/main" id="{60896BCD-DBC7-53DE-9D14-64381AF2C1B2}"/>
              </a:ext>
            </a:extLst>
          </p:cNvPr>
          <p:cNvCxnSpPr>
            <a:stCxn id="10" idx="2"/>
            <a:endCxn id="22" idx="0"/>
          </p:cNvCxnSpPr>
          <p:nvPr/>
        </p:nvCxnSpPr>
        <p:spPr>
          <a:xfrm flipH="1">
            <a:off x="838200" y="2873375"/>
            <a:ext cx="1079500" cy="3762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694BF690-0CAF-7BAF-3B83-E5D5FAC38F07}"/>
              </a:ext>
            </a:extLst>
          </p:cNvPr>
          <p:cNvCxnSpPr>
            <a:stCxn id="22" idx="2"/>
            <a:endCxn id="23" idx="0"/>
          </p:cNvCxnSpPr>
          <p:nvPr/>
        </p:nvCxnSpPr>
        <p:spPr>
          <a:xfrm flipH="1">
            <a:off x="838200" y="3789363"/>
            <a:ext cx="0" cy="234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>
            <a:extLst>
              <a:ext uri="{FF2B5EF4-FFF2-40B4-BE49-F238E27FC236}">
                <a16:creationId xmlns:a16="http://schemas.microsoft.com/office/drawing/2014/main" id="{7F11914A-C737-481B-6642-2451F738775C}"/>
              </a:ext>
            </a:extLst>
          </p:cNvPr>
          <p:cNvCxnSpPr>
            <a:stCxn id="22" idx="3"/>
            <a:endCxn id="26" idx="1"/>
          </p:cNvCxnSpPr>
          <p:nvPr/>
        </p:nvCxnSpPr>
        <p:spPr>
          <a:xfrm flipV="1">
            <a:off x="1609725" y="3451225"/>
            <a:ext cx="522288" cy="682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 стрелкой 45">
            <a:extLst>
              <a:ext uri="{FF2B5EF4-FFF2-40B4-BE49-F238E27FC236}">
                <a16:creationId xmlns:a16="http://schemas.microsoft.com/office/drawing/2014/main" id="{42B26004-2C3A-04E4-5225-4E2B7181605C}"/>
              </a:ext>
            </a:extLst>
          </p:cNvPr>
          <p:cNvCxnSpPr>
            <a:stCxn id="23" idx="3"/>
            <a:endCxn id="27" idx="1"/>
          </p:cNvCxnSpPr>
          <p:nvPr/>
        </p:nvCxnSpPr>
        <p:spPr>
          <a:xfrm>
            <a:off x="1609725" y="4294188"/>
            <a:ext cx="522288" cy="3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 стрелкой 47">
            <a:extLst>
              <a:ext uri="{FF2B5EF4-FFF2-40B4-BE49-F238E27FC236}">
                <a16:creationId xmlns:a16="http://schemas.microsoft.com/office/drawing/2014/main" id="{2A9CB494-CA24-C202-4342-7665CCB194CC}"/>
              </a:ext>
            </a:extLst>
          </p:cNvPr>
          <p:cNvCxnSpPr>
            <a:stCxn id="27" idx="2"/>
            <a:endCxn id="28" idx="0"/>
          </p:cNvCxnSpPr>
          <p:nvPr/>
        </p:nvCxnSpPr>
        <p:spPr>
          <a:xfrm flipH="1">
            <a:off x="2903538" y="4567238"/>
            <a:ext cx="0" cy="234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 стрелкой 49">
            <a:extLst>
              <a:ext uri="{FF2B5EF4-FFF2-40B4-BE49-F238E27FC236}">
                <a16:creationId xmlns:a16="http://schemas.microsoft.com/office/drawing/2014/main" id="{B199EC5C-C7CA-0291-18F3-98927F82FD9B}"/>
              </a:ext>
            </a:extLst>
          </p:cNvPr>
          <p:cNvCxnSpPr>
            <a:stCxn id="23" idx="2"/>
            <a:endCxn id="24" idx="0"/>
          </p:cNvCxnSpPr>
          <p:nvPr/>
        </p:nvCxnSpPr>
        <p:spPr>
          <a:xfrm>
            <a:off x="838200" y="4564063"/>
            <a:ext cx="0" cy="234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Прямая со стрелкой 51">
            <a:extLst>
              <a:ext uri="{FF2B5EF4-FFF2-40B4-BE49-F238E27FC236}">
                <a16:creationId xmlns:a16="http://schemas.microsoft.com/office/drawing/2014/main" id="{AB099599-9FCD-8897-A5F2-66BA69CC9028}"/>
              </a:ext>
            </a:extLst>
          </p:cNvPr>
          <p:cNvCxnSpPr>
            <a:stCxn id="24" idx="2"/>
            <a:endCxn id="25" idx="0"/>
          </p:cNvCxnSpPr>
          <p:nvPr/>
        </p:nvCxnSpPr>
        <p:spPr>
          <a:xfrm flipH="1">
            <a:off x="838200" y="5338763"/>
            <a:ext cx="0" cy="234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единительная линия 53">
            <a:extLst>
              <a:ext uri="{FF2B5EF4-FFF2-40B4-BE49-F238E27FC236}">
                <a16:creationId xmlns:a16="http://schemas.microsoft.com/office/drawing/2014/main" id="{5F10A1F1-E545-5E44-6C4B-9EFE9349604D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6564313" y="2667000"/>
            <a:ext cx="2922587" cy="3603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единительная линия 55">
            <a:extLst>
              <a:ext uri="{FF2B5EF4-FFF2-40B4-BE49-F238E27FC236}">
                <a16:creationId xmlns:a16="http://schemas.microsoft.com/office/drawing/2014/main" id="{E9A6DE20-A4C5-261F-C10A-9B202BF2A917}"/>
              </a:ext>
            </a:extLst>
          </p:cNvPr>
          <p:cNvCxnSpPr/>
          <p:nvPr/>
        </p:nvCxnSpPr>
        <p:spPr>
          <a:xfrm>
            <a:off x="9215438" y="2695575"/>
            <a:ext cx="0" cy="32829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>
            <a:extLst>
              <a:ext uri="{FF2B5EF4-FFF2-40B4-BE49-F238E27FC236}">
                <a16:creationId xmlns:a16="http://schemas.microsoft.com/office/drawing/2014/main" id="{ADBA5328-ADBE-9B3C-A633-C2A0DE17AD2B}"/>
              </a:ext>
            </a:extLst>
          </p:cNvPr>
          <p:cNvCxnSpPr>
            <a:cxnSpLocks/>
          </p:cNvCxnSpPr>
          <p:nvPr/>
        </p:nvCxnSpPr>
        <p:spPr>
          <a:xfrm flipH="1">
            <a:off x="6564313" y="3040063"/>
            <a:ext cx="0" cy="19891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 стрелкой 60">
            <a:extLst>
              <a:ext uri="{FF2B5EF4-FFF2-40B4-BE49-F238E27FC236}">
                <a16:creationId xmlns:a16="http://schemas.microsoft.com/office/drawing/2014/main" id="{858E1E4B-3CDA-AB17-F443-4164BEDCDED7}"/>
              </a:ext>
            </a:extLst>
          </p:cNvPr>
          <p:cNvCxnSpPr>
            <a:cxnSpLocks/>
            <a:endCxn id="19" idx="3"/>
          </p:cNvCxnSpPr>
          <p:nvPr/>
        </p:nvCxnSpPr>
        <p:spPr>
          <a:xfrm flipH="1">
            <a:off x="6357938" y="3557588"/>
            <a:ext cx="2063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 стрелкой 63">
            <a:extLst>
              <a:ext uri="{FF2B5EF4-FFF2-40B4-BE49-F238E27FC236}">
                <a16:creationId xmlns:a16="http://schemas.microsoft.com/office/drawing/2014/main" id="{C36EEAC0-3A21-ECDA-577D-B937ACEF2892}"/>
              </a:ext>
            </a:extLst>
          </p:cNvPr>
          <p:cNvCxnSpPr>
            <a:endCxn id="20" idx="3"/>
          </p:cNvCxnSpPr>
          <p:nvPr/>
        </p:nvCxnSpPr>
        <p:spPr>
          <a:xfrm flipH="1">
            <a:off x="6357938" y="4294188"/>
            <a:ext cx="2063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 стрелкой 65">
            <a:extLst>
              <a:ext uri="{FF2B5EF4-FFF2-40B4-BE49-F238E27FC236}">
                <a16:creationId xmlns:a16="http://schemas.microsoft.com/office/drawing/2014/main" id="{E1A7D4EC-2F82-062D-9734-70D6E2A779B6}"/>
              </a:ext>
            </a:extLst>
          </p:cNvPr>
          <p:cNvCxnSpPr>
            <a:cxnSpLocks/>
            <a:endCxn id="21" idx="3"/>
          </p:cNvCxnSpPr>
          <p:nvPr/>
        </p:nvCxnSpPr>
        <p:spPr>
          <a:xfrm flipH="1">
            <a:off x="6357938" y="5029200"/>
            <a:ext cx="2063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Прямая со стрелкой 70">
            <a:extLst>
              <a:ext uri="{FF2B5EF4-FFF2-40B4-BE49-F238E27FC236}">
                <a16:creationId xmlns:a16="http://schemas.microsoft.com/office/drawing/2014/main" id="{35F3EC11-8D91-C0FE-1D82-31C028E67109}"/>
              </a:ext>
            </a:extLst>
          </p:cNvPr>
          <p:cNvCxnSpPr>
            <a:cxnSpLocks/>
            <a:endCxn id="16" idx="3"/>
          </p:cNvCxnSpPr>
          <p:nvPr/>
        </p:nvCxnSpPr>
        <p:spPr>
          <a:xfrm flipH="1">
            <a:off x="8920163" y="3568700"/>
            <a:ext cx="2952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Прямая со стрелкой 72">
            <a:extLst>
              <a:ext uri="{FF2B5EF4-FFF2-40B4-BE49-F238E27FC236}">
                <a16:creationId xmlns:a16="http://schemas.microsoft.com/office/drawing/2014/main" id="{BA37A25B-7BE6-1381-4F28-4922A21B14DD}"/>
              </a:ext>
            </a:extLst>
          </p:cNvPr>
          <p:cNvCxnSpPr>
            <a:cxnSpLocks/>
          </p:cNvCxnSpPr>
          <p:nvPr/>
        </p:nvCxnSpPr>
        <p:spPr>
          <a:xfrm flipH="1">
            <a:off x="8920163" y="4294188"/>
            <a:ext cx="2952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Прямая со стрелкой 73">
            <a:extLst>
              <a:ext uri="{FF2B5EF4-FFF2-40B4-BE49-F238E27FC236}">
                <a16:creationId xmlns:a16="http://schemas.microsoft.com/office/drawing/2014/main" id="{7B3A6961-506F-29CF-7315-FA47D3331134}"/>
              </a:ext>
            </a:extLst>
          </p:cNvPr>
          <p:cNvCxnSpPr>
            <a:cxnSpLocks/>
          </p:cNvCxnSpPr>
          <p:nvPr/>
        </p:nvCxnSpPr>
        <p:spPr>
          <a:xfrm flipH="1">
            <a:off x="8920163" y="5029200"/>
            <a:ext cx="2952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Прямая со стрелкой 75">
            <a:extLst>
              <a:ext uri="{FF2B5EF4-FFF2-40B4-BE49-F238E27FC236}">
                <a16:creationId xmlns:a16="http://schemas.microsoft.com/office/drawing/2014/main" id="{525DA806-D292-DB2D-E5A1-D2D9550A04FE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9215438" y="3519488"/>
            <a:ext cx="2714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 стрелкой 77">
            <a:extLst>
              <a:ext uri="{FF2B5EF4-FFF2-40B4-BE49-F238E27FC236}">
                <a16:creationId xmlns:a16="http://schemas.microsoft.com/office/drawing/2014/main" id="{62C70188-4FF2-7B22-06F9-47B3E28E8AA5}"/>
              </a:ext>
            </a:extLst>
          </p:cNvPr>
          <p:cNvCxnSpPr>
            <a:cxnSpLocks/>
          </p:cNvCxnSpPr>
          <p:nvPr/>
        </p:nvCxnSpPr>
        <p:spPr>
          <a:xfrm>
            <a:off x="9215438" y="4281488"/>
            <a:ext cx="2714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Прямая со стрелкой 78">
            <a:extLst>
              <a:ext uri="{FF2B5EF4-FFF2-40B4-BE49-F238E27FC236}">
                <a16:creationId xmlns:a16="http://schemas.microsoft.com/office/drawing/2014/main" id="{05292CDF-8EE1-DBCF-E716-3231E7D9E175}"/>
              </a:ext>
            </a:extLst>
          </p:cNvPr>
          <p:cNvCxnSpPr>
            <a:cxnSpLocks/>
          </p:cNvCxnSpPr>
          <p:nvPr/>
        </p:nvCxnSpPr>
        <p:spPr>
          <a:xfrm>
            <a:off x="9215438" y="5097463"/>
            <a:ext cx="2714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Прямая со стрелкой 79">
            <a:extLst>
              <a:ext uri="{FF2B5EF4-FFF2-40B4-BE49-F238E27FC236}">
                <a16:creationId xmlns:a16="http://schemas.microsoft.com/office/drawing/2014/main" id="{CE1CD0EF-4216-6172-7B2D-3EDE0784FBF8}"/>
              </a:ext>
            </a:extLst>
          </p:cNvPr>
          <p:cNvCxnSpPr>
            <a:cxnSpLocks/>
          </p:cNvCxnSpPr>
          <p:nvPr/>
        </p:nvCxnSpPr>
        <p:spPr>
          <a:xfrm>
            <a:off x="9215438" y="5978525"/>
            <a:ext cx="2714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4" name="Rectangle 1">
            <a:extLst>
              <a:ext uri="{FF2B5EF4-FFF2-40B4-BE49-F238E27FC236}">
                <a16:creationId xmlns:a16="http://schemas.microsoft.com/office/drawing/2014/main" id="{241557D6-3A58-0933-9454-93E37C257B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639" y="4954116"/>
            <a:ext cx="6192837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k-KZ" alt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Дәрігерлер саны  -  43 (202</a:t>
            </a:r>
            <a:r>
              <a:rPr lang="en-US" alt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kk-KZ" alt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жылға)</a:t>
            </a:r>
          </a:p>
          <a:p>
            <a:pPr algn="just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k-KZ" alt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оның ішінде 3 жылға дейінгі жас мамандар– </a:t>
            </a:r>
            <a:r>
              <a:rPr lang="ru-RU" alt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(23,3%)</a:t>
            </a:r>
            <a:r>
              <a:rPr lang="kk-KZ" alt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   </a:t>
            </a:r>
          </a:p>
          <a:p>
            <a:pPr algn="just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k-KZ" alt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Орта медициналық қызметкерлер – 34 ( 202</a:t>
            </a:r>
            <a:r>
              <a:rPr lang="en-US" alt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kk-KZ" alt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жылға)</a:t>
            </a:r>
          </a:p>
          <a:p>
            <a:pPr algn="just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k-KZ" alt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оның ішінде 3 жылға дейінгі жас мамандар – 14</a:t>
            </a:r>
            <a:r>
              <a:rPr lang="ru-RU" alt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(41,2%)</a:t>
            </a:r>
          </a:p>
          <a:p>
            <a:pPr algn="just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en-US" sz="1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Кадрлардың</a:t>
            </a:r>
            <a:r>
              <a:rPr lang="ru-RU" alt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sz="1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ауысуы</a:t>
            </a:r>
            <a:r>
              <a:rPr lang="ru-RU" alt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k-KZ" alt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Дәрігерлер: қабылданған 29, жұмыстан шыққан 17</a:t>
            </a:r>
          </a:p>
          <a:p>
            <a:pPr algn="just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k-KZ" alt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Орта мед. қызметкерлер: қабылданған 30, жұмыстан шыққан 12</a:t>
            </a:r>
          </a:p>
        </p:txBody>
      </p:sp>
      <p:pic>
        <p:nvPicPr>
          <p:cNvPr id="10295" name="Рисунок 8">
            <a:extLst>
              <a:ext uri="{FF2B5EF4-FFF2-40B4-BE49-F238E27FC236}">
                <a16:creationId xmlns:a16="http://schemas.microsoft.com/office/drawing/2014/main" id="{F80DEB5A-EA78-0D65-5CC7-8398BD8AE8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57250" y="192088"/>
            <a:ext cx="1566863" cy="246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96" name="TextBox 6">
            <a:extLst>
              <a:ext uri="{FF2B5EF4-FFF2-40B4-BE49-F238E27FC236}">
                <a16:creationId xmlns:a16="http://schemas.microsoft.com/office/drawing/2014/main" id="{FCD1AF5E-C949-4D79-C039-04777DA1A748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-315912" y="1158875"/>
            <a:ext cx="11557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HR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27E836-F59A-D845-FD02-7B4D25A49227}"/>
              </a:ext>
            </a:extLst>
          </p:cNvPr>
          <p:cNvSpPr txBox="1"/>
          <p:nvPr/>
        </p:nvSpPr>
        <p:spPr>
          <a:xfrm>
            <a:off x="3048000" y="267730"/>
            <a:ext cx="609600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400" b="1" err="1">
                <a:solidFill>
                  <a:srgbClr val="00225E"/>
                </a:solidFill>
                <a:latin typeface="Times New Roman"/>
                <a:cs typeface="Times New Roman"/>
              </a:rPr>
              <a:t>Кадрлармен</a:t>
            </a:r>
            <a:r>
              <a:rPr lang="en-US" sz="4400" b="1" dirty="0">
                <a:solidFill>
                  <a:srgbClr val="00225E"/>
                </a:solidFill>
                <a:latin typeface="Times New Roman"/>
                <a:cs typeface="Times New Roman"/>
              </a:rPr>
              <a:t> </a:t>
            </a:r>
            <a:r>
              <a:rPr lang="en-US" sz="4400" b="1" err="1">
                <a:solidFill>
                  <a:srgbClr val="00225E"/>
                </a:solidFill>
                <a:latin typeface="Times New Roman"/>
                <a:cs typeface="Times New Roman"/>
              </a:rPr>
              <a:t>жасақтау</a:t>
            </a:r>
            <a:r>
              <a:rPr lang="en-US" sz="4400" b="1" dirty="0">
                <a:solidFill>
                  <a:srgbClr val="00225E"/>
                </a:solidFill>
                <a:latin typeface="Times New Roman"/>
                <a:cs typeface="Times New Roman"/>
              </a:rPr>
              <a:t>​</a:t>
            </a:r>
            <a:endParaRPr lang="ru-RU" sz="4400" b="1">
              <a:solidFill>
                <a:srgbClr val="00225E"/>
              </a:solidFill>
              <a:latin typeface="Times New Roman"/>
              <a:cs typeface="Times New Roman"/>
            </a:endParaRPr>
          </a:p>
        </p:txBody>
      </p:sp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CA4163E9-0E4D-E219-11EC-2E8FBEF257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1767661"/>
              </p:ext>
            </p:extLst>
          </p:nvPr>
        </p:nvGraphicFramePr>
        <p:xfrm>
          <a:off x="838586" y="1207065"/>
          <a:ext cx="6580648" cy="360898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97381">
                  <a:extLst>
                    <a:ext uri="{9D8B030D-6E8A-4147-A177-3AD203B41FA5}">
                      <a16:colId xmlns:a16="http://schemas.microsoft.com/office/drawing/2014/main" val="2682362855"/>
                    </a:ext>
                  </a:extLst>
                </a:gridCol>
                <a:gridCol w="1068736">
                  <a:extLst>
                    <a:ext uri="{9D8B030D-6E8A-4147-A177-3AD203B41FA5}">
                      <a16:colId xmlns:a16="http://schemas.microsoft.com/office/drawing/2014/main" val="3859818417"/>
                    </a:ext>
                  </a:extLst>
                </a:gridCol>
                <a:gridCol w="1098424">
                  <a:extLst>
                    <a:ext uri="{9D8B030D-6E8A-4147-A177-3AD203B41FA5}">
                      <a16:colId xmlns:a16="http://schemas.microsoft.com/office/drawing/2014/main" val="66916238"/>
                    </a:ext>
                  </a:extLst>
                </a:gridCol>
                <a:gridCol w="1197381">
                  <a:extLst>
                    <a:ext uri="{9D8B030D-6E8A-4147-A177-3AD203B41FA5}">
                      <a16:colId xmlns:a16="http://schemas.microsoft.com/office/drawing/2014/main" val="126469815"/>
                    </a:ext>
                  </a:extLst>
                </a:gridCol>
                <a:gridCol w="870823">
                  <a:extLst>
                    <a:ext uri="{9D8B030D-6E8A-4147-A177-3AD203B41FA5}">
                      <a16:colId xmlns:a16="http://schemas.microsoft.com/office/drawing/2014/main" val="3171308105"/>
                    </a:ext>
                  </a:extLst>
                </a:gridCol>
                <a:gridCol w="1147903">
                  <a:extLst>
                    <a:ext uri="{9D8B030D-6E8A-4147-A177-3AD203B41FA5}">
                      <a16:colId xmlns:a16="http://schemas.microsoft.com/office/drawing/2014/main" val="3014996415"/>
                    </a:ext>
                  </a:extLst>
                </a:gridCol>
              </a:tblGrid>
              <a:tr h="1008529">
                <a:tc>
                  <a:txBody>
                    <a:bodyPr/>
                    <a:lstStyle/>
                    <a:p>
                      <a:pPr algn="just" fontAlgn="base">
                        <a:lnSpc>
                          <a:spcPts val="1800"/>
                        </a:lnSpc>
                        <a:buNone/>
                      </a:pPr>
                      <a:r>
                        <a:rPr lang="ru-RU" sz="1200" b="1" i="1" err="1">
                          <a:effectLst/>
                          <a:latin typeface="Times New Roman"/>
                        </a:rPr>
                        <a:t>Лауазымдардың</a:t>
                      </a:r>
                      <a:r>
                        <a:rPr lang="ru-RU" sz="1200" b="1" i="1" dirty="0">
                          <a:effectLst/>
                          <a:latin typeface="Times New Roman"/>
                        </a:rPr>
                        <a:t> </a:t>
                      </a:r>
                      <a:r>
                        <a:rPr lang="ru-RU" sz="1200" b="1" i="1" err="1">
                          <a:effectLst/>
                          <a:latin typeface="Times New Roman"/>
                        </a:rPr>
                        <a:t>атауы</a:t>
                      </a:r>
                      <a:endParaRPr lang="ru-RU" sz="1200">
                        <a:effectLst/>
                        <a:latin typeface="Times New Roman"/>
                      </a:endParaRPr>
                    </a:p>
                  </a:txBody>
                  <a:tcPr marL="63646" marR="63646"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base">
                        <a:lnSpc>
                          <a:spcPts val="1800"/>
                        </a:lnSpc>
                        <a:buNone/>
                      </a:pPr>
                      <a:r>
                        <a:rPr lang="ru-RU" sz="1200" b="1" i="1" err="1">
                          <a:effectLst/>
                          <a:latin typeface="Times New Roman"/>
                        </a:rPr>
                        <a:t>Штаттық</a:t>
                      </a:r>
                      <a:r>
                        <a:rPr lang="ru-RU" sz="1200" b="1" i="1" dirty="0">
                          <a:effectLst/>
                          <a:latin typeface="Times New Roman"/>
                        </a:rPr>
                        <a:t> </a:t>
                      </a:r>
                      <a:r>
                        <a:rPr lang="ru-RU" sz="1200" b="1" i="1" err="1">
                          <a:effectLst/>
                          <a:latin typeface="Times New Roman"/>
                        </a:rPr>
                        <a:t>лауазымдар</a:t>
                      </a:r>
                      <a:r>
                        <a:rPr lang="ru-RU" sz="1200" b="1" i="1" dirty="0">
                          <a:effectLst/>
                          <a:latin typeface="Times New Roman"/>
                        </a:rPr>
                        <a:t> саны</a:t>
                      </a:r>
                      <a:endParaRPr lang="ru-RU" sz="1200" dirty="0">
                        <a:effectLst/>
                        <a:latin typeface="Times New Roman"/>
                      </a:endParaRPr>
                    </a:p>
                  </a:txBody>
                  <a:tcPr marL="63646" marR="63646"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800"/>
                        </a:lnSpc>
                        <a:buNone/>
                      </a:pPr>
                      <a:r>
                        <a:rPr lang="ru-RU" sz="1200" b="1" i="1" dirty="0">
                          <a:effectLst/>
                          <a:latin typeface="Times New Roman"/>
                        </a:rPr>
                        <a:t>Бос </a:t>
                      </a:r>
                      <a:r>
                        <a:rPr lang="ru-RU" sz="1200" b="1" i="1" err="1">
                          <a:effectLst/>
                          <a:latin typeface="Times New Roman"/>
                        </a:rPr>
                        <a:t>емес</a:t>
                      </a:r>
                      <a:r>
                        <a:rPr lang="ru-RU" sz="1200" b="1" i="1" dirty="0">
                          <a:effectLst/>
                          <a:latin typeface="Times New Roman"/>
                        </a:rPr>
                        <a:t> </a:t>
                      </a:r>
                      <a:r>
                        <a:rPr lang="ru-RU" sz="1200" b="1" i="1" err="1">
                          <a:effectLst/>
                          <a:latin typeface="Times New Roman"/>
                        </a:rPr>
                        <a:t>лауазымдар</a:t>
                      </a:r>
                      <a:endParaRPr lang="ru-RU" sz="1200">
                        <a:effectLst/>
                        <a:latin typeface="Times New Roman"/>
                      </a:endParaRPr>
                    </a:p>
                  </a:txBody>
                  <a:tcPr marL="63646" marR="63646"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base">
                        <a:lnSpc>
                          <a:spcPts val="1800"/>
                        </a:lnSpc>
                        <a:buNone/>
                      </a:pPr>
                      <a:r>
                        <a:rPr lang="ru-RU" sz="1200" b="1" i="1" dirty="0">
                          <a:effectLst/>
                          <a:latin typeface="Times New Roman"/>
                        </a:rPr>
                        <a:t>Жеке (</a:t>
                      </a:r>
                      <a:r>
                        <a:rPr lang="ru-RU" sz="1200" b="1" i="1" err="1">
                          <a:effectLst/>
                          <a:latin typeface="Times New Roman"/>
                        </a:rPr>
                        <a:t>физикалық</a:t>
                      </a:r>
                      <a:r>
                        <a:rPr lang="ru-RU" sz="1200" b="1" i="1" dirty="0">
                          <a:effectLst/>
                          <a:latin typeface="Times New Roman"/>
                        </a:rPr>
                        <a:t>) </a:t>
                      </a:r>
                      <a:r>
                        <a:rPr lang="ru-RU" sz="1200" b="1" i="1" err="1">
                          <a:effectLst/>
                          <a:latin typeface="Times New Roman"/>
                        </a:rPr>
                        <a:t>тұлғалар</a:t>
                      </a:r>
                      <a:endParaRPr lang="ru-RU" sz="1200">
                        <a:effectLst/>
                        <a:latin typeface="Times New Roman"/>
                      </a:endParaRPr>
                    </a:p>
                  </a:txBody>
                  <a:tcPr marL="63646" marR="63646"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base">
                        <a:lnSpc>
                          <a:spcPts val="1800"/>
                        </a:lnSpc>
                        <a:buNone/>
                      </a:pPr>
                      <a:r>
                        <a:rPr lang="ru-RU" sz="1200" b="1" i="1" err="1">
                          <a:effectLst/>
                          <a:latin typeface="Times New Roman"/>
                        </a:rPr>
                        <a:t>Жабдықталуы</a:t>
                      </a:r>
                      <a:endParaRPr lang="ru-RU" sz="1200">
                        <a:effectLst/>
                        <a:latin typeface="Times New Roman"/>
                      </a:endParaRPr>
                    </a:p>
                  </a:txBody>
                  <a:tcPr marL="63646" marR="63646"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base">
                        <a:lnSpc>
                          <a:spcPts val="1800"/>
                        </a:lnSpc>
                        <a:buNone/>
                      </a:pPr>
                      <a:r>
                        <a:rPr lang="ru-RU" sz="1200" b="1" i="1" dirty="0">
                          <a:effectLst/>
                          <a:latin typeface="Times New Roman"/>
                        </a:rPr>
                        <a:t>3жасқа </a:t>
                      </a:r>
                      <a:r>
                        <a:rPr lang="ru-RU" sz="1200" b="1" i="1" err="1">
                          <a:effectLst/>
                          <a:latin typeface="Times New Roman"/>
                        </a:rPr>
                        <a:t>дейінгі</a:t>
                      </a:r>
                      <a:r>
                        <a:rPr lang="ru-RU" sz="1200" b="1" i="1" dirty="0">
                          <a:effectLst/>
                          <a:latin typeface="Times New Roman"/>
                        </a:rPr>
                        <a:t> бала </a:t>
                      </a:r>
                      <a:r>
                        <a:rPr lang="ru-RU" sz="1200" b="1" i="1" err="1">
                          <a:effectLst/>
                          <a:latin typeface="Times New Roman"/>
                        </a:rPr>
                        <a:t>күтімі</a:t>
                      </a:r>
                      <a:r>
                        <a:rPr lang="ru-RU" sz="1200" b="1" i="1" dirty="0">
                          <a:effectLst/>
                          <a:latin typeface="Times New Roman"/>
                        </a:rPr>
                        <a:t> </a:t>
                      </a:r>
                      <a:r>
                        <a:rPr lang="ru-RU" sz="1200" b="1" i="1" err="1">
                          <a:effectLst/>
                          <a:latin typeface="Times New Roman"/>
                        </a:rPr>
                        <a:t>бойынша</a:t>
                      </a:r>
                      <a:r>
                        <a:rPr lang="ru-RU" sz="1200" b="1" i="1" dirty="0">
                          <a:effectLst/>
                          <a:latin typeface="Times New Roman"/>
                        </a:rPr>
                        <a:t> </a:t>
                      </a:r>
                      <a:r>
                        <a:rPr lang="ru-RU" sz="1200" b="1" i="1" err="1">
                          <a:effectLst/>
                          <a:latin typeface="Times New Roman"/>
                        </a:rPr>
                        <a:t>демалыста</a:t>
                      </a:r>
                      <a:endParaRPr lang="ru-RU" sz="1200">
                        <a:effectLst/>
                        <a:latin typeface="Times New Roman"/>
                      </a:endParaRPr>
                    </a:p>
                  </a:txBody>
                  <a:tcPr marL="63646" marR="63646"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878360"/>
                  </a:ext>
                </a:extLst>
              </a:tr>
              <a:tr h="311471">
                <a:tc>
                  <a:txBody>
                    <a:bodyPr/>
                    <a:lstStyle/>
                    <a:p>
                      <a:pPr algn="just" fontAlgn="base">
                        <a:lnSpc>
                          <a:spcPts val="1650"/>
                        </a:lnSpc>
                        <a:buNone/>
                      </a:pPr>
                      <a:r>
                        <a:rPr lang="ru-RU" sz="1200" b="1" i="1" err="1">
                          <a:effectLst/>
                          <a:latin typeface="Times New Roman"/>
                        </a:rPr>
                        <a:t>Дәрігерлер</a:t>
                      </a:r>
                      <a:r>
                        <a:rPr lang="ru-RU" sz="1200" b="1" i="1" dirty="0">
                          <a:effectLst/>
                          <a:latin typeface="Times New Roman"/>
                        </a:rPr>
                        <a:t> </a:t>
                      </a:r>
                      <a:endParaRPr lang="ru-RU" sz="1200" dirty="0">
                        <a:effectLst/>
                        <a:latin typeface="Times New Roman"/>
                      </a:endParaRPr>
                    </a:p>
                  </a:txBody>
                  <a:tcPr marL="63646" marR="63646"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Times New Roman"/>
                        </a:rPr>
                        <a:t>4</a:t>
                      </a:r>
                      <a:r>
                        <a:rPr lang="kk-KZ" sz="1200" dirty="0">
                          <a:effectLst/>
                          <a:latin typeface="Times New Roman"/>
                        </a:rPr>
                        <a:t>9</a:t>
                      </a:r>
                      <a:r>
                        <a:rPr lang="en-US" sz="1200" dirty="0">
                          <a:effectLst/>
                          <a:latin typeface="Times New Roman"/>
                        </a:rPr>
                        <a:t>,5</a:t>
                      </a:r>
                    </a:p>
                  </a:txBody>
                  <a:tcPr marL="63646" marR="63646" anchor="ctr"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950"/>
                        </a:lnSpc>
                        <a:buNone/>
                      </a:pPr>
                      <a:r>
                        <a:rPr lang="kk-KZ" sz="1200" dirty="0">
                          <a:effectLst/>
                          <a:latin typeface="Times New Roman"/>
                        </a:rPr>
                        <a:t>34</a:t>
                      </a:r>
                      <a:endParaRPr lang="en-US" sz="1200" dirty="0">
                        <a:effectLst/>
                        <a:latin typeface="Times New Roman"/>
                      </a:endParaRPr>
                    </a:p>
                  </a:txBody>
                  <a:tcPr marL="63646" marR="63646" anchor="ctr"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950"/>
                        </a:lnSpc>
                        <a:buNone/>
                      </a:pPr>
                      <a:r>
                        <a:rPr lang="kk-KZ" sz="1200" dirty="0">
                          <a:effectLst/>
                          <a:latin typeface="Times New Roman"/>
                        </a:rPr>
                        <a:t>43</a:t>
                      </a:r>
                      <a:endParaRPr lang="en-US" sz="1200" dirty="0">
                        <a:effectLst/>
                        <a:latin typeface="Times New Roman"/>
                      </a:endParaRPr>
                    </a:p>
                  </a:txBody>
                  <a:tcPr marL="63646" marR="63646" anchor="ctr"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950"/>
                        </a:lnSpc>
                        <a:buNone/>
                      </a:pPr>
                      <a:r>
                        <a:rPr lang="kk-KZ" sz="1200" dirty="0">
                          <a:effectLst/>
                          <a:latin typeface="Times New Roman"/>
                        </a:rPr>
                        <a:t>68,7</a:t>
                      </a:r>
                      <a:r>
                        <a:rPr lang="en-US" sz="1200" dirty="0">
                          <a:effectLst/>
                          <a:latin typeface="Times New Roman"/>
                        </a:rPr>
                        <a:t>%</a:t>
                      </a:r>
                    </a:p>
                  </a:txBody>
                  <a:tcPr marL="63646" marR="63646" anchor="ctr"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Times New Roman"/>
                        </a:rPr>
                        <a:t>2</a:t>
                      </a:r>
                    </a:p>
                  </a:txBody>
                  <a:tcPr marL="63646" marR="63646" anchor="ctr"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223380"/>
                  </a:ext>
                </a:extLst>
              </a:tr>
              <a:tr h="664474">
                <a:tc>
                  <a:txBody>
                    <a:bodyPr/>
                    <a:lstStyle/>
                    <a:p>
                      <a:pPr algn="just" fontAlgn="base">
                        <a:lnSpc>
                          <a:spcPts val="1650"/>
                        </a:lnSpc>
                        <a:buNone/>
                      </a:pPr>
                      <a:r>
                        <a:rPr lang="ru-RU" sz="1200" b="1" i="1" dirty="0">
                          <a:effectLst/>
                          <a:latin typeface="Times New Roman"/>
                        </a:rPr>
                        <a:t>Орта </a:t>
                      </a:r>
                      <a:r>
                        <a:rPr lang="ru-RU" sz="1200" b="1" i="1" err="1">
                          <a:effectLst/>
                          <a:latin typeface="Times New Roman"/>
                        </a:rPr>
                        <a:t>медициналық</a:t>
                      </a:r>
                      <a:r>
                        <a:rPr lang="ru-RU" sz="1200" b="1" i="1" dirty="0">
                          <a:effectLst/>
                          <a:latin typeface="Times New Roman"/>
                        </a:rPr>
                        <a:t> </a:t>
                      </a:r>
                      <a:r>
                        <a:rPr lang="ru-RU" sz="1200" b="1" i="1" err="1">
                          <a:effectLst/>
                          <a:latin typeface="Times New Roman"/>
                        </a:rPr>
                        <a:t>қызметкерлер</a:t>
                      </a:r>
                      <a:endParaRPr lang="ru-RU" sz="1200">
                        <a:effectLst/>
                        <a:latin typeface="Times New Roman"/>
                      </a:endParaRPr>
                    </a:p>
                  </a:txBody>
                  <a:tcPr marL="63646" marR="63646"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Times New Roman"/>
                        </a:rPr>
                        <a:t>6</a:t>
                      </a:r>
                      <a:r>
                        <a:rPr lang="kk-KZ" sz="1200" dirty="0">
                          <a:effectLst/>
                          <a:latin typeface="Times New Roman"/>
                        </a:rPr>
                        <a:t>8,5</a:t>
                      </a:r>
                      <a:endParaRPr lang="en-US" sz="1200" dirty="0">
                        <a:effectLst/>
                        <a:latin typeface="Times New Roman"/>
                      </a:endParaRPr>
                    </a:p>
                  </a:txBody>
                  <a:tcPr marL="63646" marR="63646" anchor="ctr"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Times New Roman"/>
                        </a:rPr>
                        <a:t>48,75</a:t>
                      </a:r>
                    </a:p>
                  </a:txBody>
                  <a:tcPr marL="63646" marR="63646" anchor="ctr"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Times New Roman"/>
                        </a:rPr>
                        <a:t>34</a:t>
                      </a:r>
                    </a:p>
                  </a:txBody>
                  <a:tcPr marL="63646" marR="63646" anchor="ctr"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950"/>
                        </a:lnSpc>
                        <a:buNone/>
                      </a:pPr>
                      <a:r>
                        <a:rPr lang="kk-KZ" sz="1200" dirty="0">
                          <a:effectLst/>
                          <a:latin typeface="Times New Roman"/>
                        </a:rPr>
                        <a:t>71,2</a:t>
                      </a:r>
                      <a:r>
                        <a:rPr lang="en-US" sz="1200" dirty="0">
                          <a:effectLst/>
                          <a:latin typeface="Times New Roman"/>
                        </a:rPr>
                        <a:t>%</a:t>
                      </a:r>
                    </a:p>
                  </a:txBody>
                  <a:tcPr marL="63646" marR="63646" anchor="ctr"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ru-RU" sz="1200" dirty="0">
                        <a:effectLst/>
                        <a:latin typeface="Times New Roman"/>
                      </a:endParaRPr>
                    </a:p>
                  </a:txBody>
                  <a:tcPr marL="63646" marR="63646" anchor="ctr"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1329377"/>
                  </a:ext>
                </a:extLst>
              </a:tr>
              <a:tr h="664474">
                <a:tc>
                  <a:txBody>
                    <a:bodyPr/>
                    <a:lstStyle/>
                    <a:p>
                      <a:pPr algn="just" fontAlgn="base">
                        <a:lnSpc>
                          <a:spcPts val="1650"/>
                        </a:lnSpc>
                        <a:buNone/>
                      </a:pPr>
                      <a:r>
                        <a:rPr lang="ru-RU" sz="1200" b="1" i="1" err="1">
                          <a:effectLst/>
                          <a:latin typeface="Times New Roman"/>
                        </a:rPr>
                        <a:t>Кіші</a:t>
                      </a:r>
                      <a:r>
                        <a:rPr lang="ru-RU" sz="1200" b="1" i="1" dirty="0">
                          <a:effectLst/>
                          <a:latin typeface="Times New Roman"/>
                        </a:rPr>
                        <a:t> </a:t>
                      </a:r>
                      <a:r>
                        <a:rPr lang="ru-RU" sz="1200" b="1" i="1" err="1">
                          <a:effectLst/>
                          <a:latin typeface="Times New Roman"/>
                        </a:rPr>
                        <a:t>медициналық</a:t>
                      </a:r>
                      <a:r>
                        <a:rPr lang="ru-RU" sz="1200" b="1" i="1" dirty="0">
                          <a:effectLst/>
                          <a:latin typeface="Times New Roman"/>
                        </a:rPr>
                        <a:t> </a:t>
                      </a:r>
                      <a:r>
                        <a:rPr lang="ru-RU" sz="1200" b="1" i="1" err="1">
                          <a:effectLst/>
                          <a:latin typeface="Times New Roman"/>
                        </a:rPr>
                        <a:t>қызметкерлер</a:t>
                      </a:r>
                      <a:endParaRPr lang="ru-RU" sz="1200">
                        <a:effectLst/>
                        <a:latin typeface="Times New Roman"/>
                      </a:endParaRPr>
                    </a:p>
                  </a:txBody>
                  <a:tcPr marL="63646" marR="63646"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Times New Roman"/>
                        </a:rPr>
                        <a:t>6</a:t>
                      </a:r>
                    </a:p>
                  </a:txBody>
                  <a:tcPr marL="63646" marR="63646" anchor="ctr"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Times New Roman"/>
                        </a:rPr>
                        <a:t>6</a:t>
                      </a:r>
                    </a:p>
                  </a:txBody>
                  <a:tcPr marL="63646" marR="63646" anchor="ctr"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Times New Roman"/>
                        </a:rPr>
                        <a:t>5</a:t>
                      </a:r>
                    </a:p>
                  </a:txBody>
                  <a:tcPr marL="63646" marR="63646" anchor="ctr"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95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Times New Roman"/>
                        </a:rPr>
                        <a:t>100%</a:t>
                      </a:r>
                    </a:p>
                  </a:txBody>
                  <a:tcPr marL="63646" marR="63646" anchor="ctr"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Times New Roman"/>
                        </a:rPr>
                        <a:t>1</a:t>
                      </a:r>
                    </a:p>
                  </a:txBody>
                  <a:tcPr marL="63646" marR="63646" anchor="ctr"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7249778"/>
                  </a:ext>
                </a:extLst>
              </a:tr>
              <a:tr h="477591">
                <a:tc>
                  <a:txBody>
                    <a:bodyPr/>
                    <a:lstStyle/>
                    <a:p>
                      <a:pPr algn="just" fontAlgn="base">
                        <a:lnSpc>
                          <a:spcPts val="1650"/>
                        </a:lnSpc>
                        <a:buNone/>
                      </a:pPr>
                      <a:r>
                        <a:rPr lang="ru-RU" sz="1200" b="1" i="1" err="1">
                          <a:effectLst/>
                          <a:latin typeface="Times New Roman"/>
                        </a:rPr>
                        <a:t>Басқа</a:t>
                      </a:r>
                      <a:r>
                        <a:rPr lang="ru-RU" sz="1200" b="1" i="1" dirty="0">
                          <a:effectLst/>
                          <a:latin typeface="Times New Roman"/>
                        </a:rPr>
                        <a:t> </a:t>
                      </a:r>
                      <a:r>
                        <a:rPr lang="ru-RU" sz="1200" b="1" i="1" err="1">
                          <a:effectLst/>
                          <a:latin typeface="Times New Roman"/>
                        </a:rPr>
                        <a:t>қызметкерлер</a:t>
                      </a:r>
                      <a:endParaRPr lang="ru-RU" sz="1200">
                        <a:effectLst/>
                        <a:latin typeface="Times New Roman"/>
                      </a:endParaRPr>
                    </a:p>
                  </a:txBody>
                  <a:tcPr marL="63646" marR="63646"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Times New Roman"/>
                        </a:rPr>
                        <a:t>32,</a:t>
                      </a:r>
                      <a:r>
                        <a:rPr lang="kk-KZ" sz="1200" dirty="0">
                          <a:effectLst/>
                          <a:latin typeface="Times New Roman"/>
                        </a:rPr>
                        <a:t>5</a:t>
                      </a:r>
                      <a:endParaRPr lang="en-US" sz="1200" dirty="0">
                        <a:effectLst/>
                        <a:latin typeface="Times New Roman"/>
                      </a:endParaRPr>
                    </a:p>
                  </a:txBody>
                  <a:tcPr marL="63646" marR="63646" anchor="ctr"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Times New Roman"/>
                        </a:rPr>
                        <a:t>20,25</a:t>
                      </a:r>
                    </a:p>
                  </a:txBody>
                  <a:tcPr marL="63646" marR="63646" anchor="ctr"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Times New Roman"/>
                        </a:rPr>
                        <a:t>21</a:t>
                      </a:r>
                    </a:p>
                  </a:txBody>
                  <a:tcPr marL="63646" marR="63646" anchor="ctr"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950"/>
                        </a:lnSpc>
                        <a:buNone/>
                      </a:pPr>
                      <a:r>
                        <a:rPr lang="kk-KZ" sz="1200" dirty="0">
                          <a:effectLst/>
                          <a:latin typeface="Times New Roman"/>
                        </a:rPr>
                        <a:t>62,3</a:t>
                      </a:r>
                      <a:r>
                        <a:rPr lang="en-US" sz="1200" dirty="0">
                          <a:effectLst/>
                          <a:latin typeface="Times New Roman"/>
                        </a:rPr>
                        <a:t>%</a:t>
                      </a:r>
                    </a:p>
                  </a:txBody>
                  <a:tcPr marL="63646" marR="63646" anchor="ctr"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95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Times New Roman"/>
                        </a:rPr>
                        <a:t>1</a:t>
                      </a:r>
                    </a:p>
                  </a:txBody>
                  <a:tcPr marL="63646" marR="63646" anchor="ctr"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7002824"/>
                  </a:ext>
                </a:extLst>
              </a:tr>
              <a:tr h="336176">
                <a:tc>
                  <a:txBody>
                    <a:bodyPr/>
                    <a:lstStyle/>
                    <a:p>
                      <a:pPr algn="just" fontAlgn="base">
                        <a:lnSpc>
                          <a:spcPts val="1650"/>
                        </a:lnSpc>
                        <a:buNone/>
                      </a:pPr>
                      <a:r>
                        <a:rPr lang="ru-RU" sz="1200" b="1" i="1" dirty="0">
                          <a:effectLst/>
                          <a:latin typeface="Times New Roman"/>
                        </a:rPr>
                        <a:t>БАРЛЫҒЫ</a:t>
                      </a:r>
                      <a:endParaRPr lang="ru-RU" sz="1200" dirty="0">
                        <a:effectLst/>
                        <a:latin typeface="Times New Roman"/>
                      </a:endParaRPr>
                    </a:p>
                  </a:txBody>
                  <a:tcPr marL="63646" marR="63646"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200" b="1" i="1" dirty="0">
                          <a:effectLst/>
                          <a:latin typeface="Times New Roman"/>
                        </a:rPr>
                        <a:t>1</a:t>
                      </a:r>
                      <a:r>
                        <a:rPr lang="kk-KZ" sz="1200" b="1" i="1" dirty="0">
                          <a:effectLst/>
                          <a:latin typeface="Times New Roman"/>
                        </a:rPr>
                        <a:t>56,5</a:t>
                      </a:r>
                      <a:endParaRPr lang="en-US" sz="1200" dirty="0">
                        <a:effectLst/>
                        <a:latin typeface="Times New Roman"/>
                      </a:endParaRPr>
                    </a:p>
                  </a:txBody>
                  <a:tcPr marL="63646" marR="63646"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200" b="1" i="1" dirty="0">
                          <a:effectLst/>
                          <a:latin typeface="Times New Roman"/>
                        </a:rPr>
                        <a:t>1</a:t>
                      </a:r>
                      <a:r>
                        <a:rPr lang="kk-KZ" sz="1200" b="1" i="1" dirty="0">
                          <a:effectLst/>
                          <a:latin typeface="Times New Roman"/>
                        </a:rPr>
                        <a:t>09</a:t>
                      </a:r>
                      <a:endParaRPr lang="en-US" sz="1200" dirty="0">
                        <a:effectLst/>
                        <a:latin typeface="Times New Roman"/>
                      </a:endParaRPr>
                    </a:p>
                  </a:txBody>
                  <a:tcPr marL="63646" marR="63646"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950"/>
                        </a:lnSpc>
                        <a:buNone/>
                      </a:pPr>
                      <a:r>
                        <a:rPr lang="ru-RU" sz="1200" b="1" dirty="0">
                          <a:effectLst/>
                          <a:latin typeface="Times New Roman"/>
                        </a:rPr>
                        <a:t>103</a:t>
                      </a:r>
                      <a:endParaRPr lang="en-US" sz="1200" b="1" dirty="0">
                        <a:effectLst/>
                        <a:latin typeface="Times New Roman"/>
                      </a:endParaRPr>
                    </a:p>
                  </a:txBody>
                  <a:tcPr marL="63646" marR="63646"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950"/>
                        </a:lnSpc>
                        <a:buNone/>
                      </a:pPr>
                      <a:r>
                        <a:rPr lang="kk-KZ" sz="1200" b="1" i="1" dirty="0">
                          <a:effectLst/>
                          <a:latin typeface="Times New Roman"/>
                        </a:rPr>
                        <a:t>69,6</a:t>
                      </a:r>
                      <a:r>
                        <a:rPr lang="ru-RU" sz="1200" b="1" i="1" dirty="0">
                          <a:effectLst/>
                          <a:latin typeface="Times New Roman"/>
                        </a:rPr>
                        <a:t>%</a:t>
                      </a:r>
                      <a:endParaRPr lang="en-US" sz="1200" dirty="0">
                        <a:effectLst/>
                        <a:latin typeface="Times New Roman"/>
                      </a:endParaRPr>
                    </a:p>
                  </a:txBody>
                  <a:tcPr marL="63646" marR="63646"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200" b="1" i="1" dirty="0">
                          <a:effectLst/>
                          <a:latin typeface="Times New Roman"/>
                        </a:rPr>
                        <a:t>4</a:t>
                      </a:r>
                      <a:endParaRPr lang="en-US" sz="1200" dirty="0">
                        <a:effectLst/>
                        <a:latin typeface="Times New Roman"/>
                      </a:endParaRPr>
                    </a:p>
                  </a:txBody>
                  <a:tcPr marL="63646" marR="63646"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611785"/>
                  </a:ext>
                </a:extLst>
              </a:tr>
            </a:tbl>
          </a:graphicData>
        </a:graphic>
      </p:graphicFrame>
      <p:graphicFrame>
        <p:nvGraphicFramePr>
          <p:cNvPr id="14" name="Таблица 13">
            <a:extLst>
              <a:ext uri="{FF2B5EF4-FFF2-40B4-BE49-F238E27FC236}">
                <a16:creationId xmlns:a16="http://schemas.microsoft.com/office/drawing/2014/main" id="{E8FF7013-5CFA-3B34-21C4-6019AEBF05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5918529"/>
              </p:ext>
            </p:extLst>
          </p:nvPr>
        </p:nvGraphicFramePr>
        <p:xfrm>
          <a:off x="7632099" y="1205015"/>
          <a:ext cx="4362450" cy="465391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47875">
                  <a:extLst>
                    <a:ext uri="{9D8B030D-6E8A-4147-A177-3AD203B41FA5}">
                      <a16:colId xmlns:a16="http://schemas.microsoft.com/office/drawing/2014/main" val="3517754446"/>
                    </a:ext>
                  </a:extLst>
                </a:gridCol>
                <a:gridCol w="1171575">
                  <a:extLst>
                    <a:ext uri="{9D8B030D-6E8A-4147-A177-3AD203B41FA5}">
                      <a16:colId xmlns:a16="http://schemas.microsoft.com/office/drawing/2014/main" val="666553269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945163344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ru-RU" sz="1800" b="1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Атауы</a:t>
                      </a:r>
                      <a:endParaRPr lang="ru-RU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ru-RU" sz="1800" b="1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2024 ж</a:t>
                      </a:r>
                      <a:endParaRPr lang="ru-RU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ru-RU" sz="1800" b="1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2025 ж</a:t>
                      </a:r>
                      <a:endParaRPr lang="ru-RU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263272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Қосымша ақы</a:t>
                      </a:r>
                      <a:endParaRPr lang="ru-RU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19400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1503315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0110762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Медицина ғылымдарының кандидаты</a:t>
                      </a:r>
                      <a:endParaRPr lang="ru-RU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ru-RU">
                        <a:effectLst/>
                      </a:endParaRPr>
                    </a:p>
                  </a:txBody>
                  <a:tcPr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ru-RU">
                        <a:effectLst/>
                      </a:endParaRPr>
                    </a:p>
                  </a:txBody>
                  <a:tcPr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02724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Жұмыстан босату үшін өтемақы</a:t>
                      </a:r>
                      <a:endParaRPr lang="ru-RU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i="0" u="none" strike="noStrike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</a:rPr>
                        <a:t>260718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8878426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595178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1,0 күн бойынша жалақы</a:t>
                      </a:r>
                      <a:endParaRPr lang="ru-RU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10534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i="0" u="none" strike="noStrike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</a:rPr>
                        <a:t>12212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11947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Еңбекке жарамсыздық парақтарына төлеу</a:t>
                      </a:r>
                      <a:endParaRPr lang="ru-RU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406057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4956062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142763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Еңбек демалысына ақы төлеу</a:t>
                      </a:r>
                      <a:endParaRPr lang="ru-RU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ru-RU">
                        <a:effectLst/>
                      </a:endParaRPr>
                    </a:p>
                  </a:txBody>
                  <a:tcPr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21014395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70975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Сауықтыру жәрдемақысы</a:t>
                      </a:r>
                      <a:endParaRPr lang="ru-RU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ru-RU">
                        <a:effectLst/>
                      </a:endParaRPr>
                    </a:p>
                  </a:txBody>
                  <a:tcPr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12351956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60781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Мерекелік ақы төлемі</a:t>
                      </a:r>
                      <a:endParaRPr lang="ru-RU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ru-RU">
                        <a:effectLst/>
                      </a:endParaRPr>
                    </a:p>
                  </a:txBody>
                  <a:tcPr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292135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493773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Марапаттау ақысы (премия)</a:t>
                      </a:r>
                      <a:endParaRPr lang="ru-RU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ru-RU">
                        <a:effectLst/>
                      </a:endParaRPr>
                    </a:p>
                  </a:txBody>
                  <a:tcPr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ru-RU">
                        <a:effectLst/>
                      </a:endParaRPr>
                    </a:p>
                  </a:txBody>
                  <a:tcPr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9095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СКПН</a:t>
                      </a:r>
                      <a:endParaRPr lang="ru-RU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1166762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10942306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197524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Барлығы</a:t>
                      </a:r>
                      <a:endParaRPr lang="ru-RU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63699468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394502038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3352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Номер слайда 2">
            <a:extLst>
              <a:ext uri="{FF2B5EF4-FFF2-40B4-BE49-F238E27FC236}">
                <a16:creationId xmlns:a16="http://schemas.microsoft.com/office/drawing/2014/main" id="{0201F2A2-125A-2CD4-F9E5-18F784F47C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9347200" y="6492875"/>
            <a:ext cx="2844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EA5F5424-A3DE-4A61-BD40-C58024C82D63}" type="slidenum">
              <a:rPr lang="ru-RU" altLang="ru-RU" sz="1600" b="1">
                <a:latin typeface="Times New Roman" panose="0202060305040502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11</a:t>
            </a:fld>
            <a:endParaRPr lang="ru-RU" altLang="ru-RU" sz="1600" b="1">
              <a:latin typeface="Times New Roman" panose="02020603050405020304" pitchFamily="18" charset="0"/>
            </a:endParaRPr>
          </a:p>
        </p:txBody>
      </p:sp>
      <p:pic>
        <p:nvPicPr>
          <p:cNvPr id="2" name="Рисунок 1" descr="Изображение выглядит как текст, снимок экрана, число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2E80FFC-51FC-834C-579B-3395AB7FF6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31" t="9341" r="609" b="1920"/>
          <a:stretch>
            <a:fillRect/>
          </a:stretch>
        </p:blipFill>
        <p:spPr>
          <a:xfrm>
            <a:off x="1550053" y="1153085"/>
            <a:ext cx="9080637" cy="542148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D439516-5621-A479-4AE9-DE4C750D3128}"/>
              </a:ext>
            </a:extLst>
          </p:cNvPr>
          <p:cNvSpPr txBox="1"/>
          <p:nvPr/>
        </p:nvSpPr>
        <p:spPr>
          <a:xfrm>
            <a:off x="1400735" y="268940"/>
            <a:ext cx="9390528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 sz="4400" b="1" err="1">
                <a:solidFill>
                  <a:srgbClr val="00225E"/>
                </a:solidFill>
                <a:latin typeface="Times New Roman"/>
                <a:ea typeface="YS Text"/>
                <a:cs typeface="YS Text"/>
              </a:rPr>
              <a:t>Мамандардың</a:t>
            </a:r>
            <a:r>
              <a:rPr lang="ru-RU" sz="4400" b="1" dirty="0">
                <a:solidFill>
                  <a:srgbClr val="00225E"/>
                </a:solidFill>
                <a:latin typeface="Times New Roman"/>
                <a:ea typeface="YS Text"/>
                <a:cs typeface="YS Text"/>
              </a:rPr>
              <a:t> </a:t>
            </a:r>
            <a:r>
              <a:rPr lang="ru-RU" sz="4400" b="1" err="1">
                <a:solidFill>
                  <a:srgbClr val="00225E"/>
                </a:solidFill>
                <a:latin typeface="Times New Roman"/>
                <a:ea typeface="YS Text"/>
                <a:cs typeface="YS Text"/>
              </a:rPr>
              <a:t>біліктілік</a:t>
            </a:r>
            <a:r>
              <a:rPr lang="ru-RU" sz="4400" b="1" dirty="0">
                <a:solidFill>
                  <a:srgbClr val="00225E"/>
                </a:solidFill>
                <a:latin typeface="Times New Roman"/>
                <a:ea typeface="YS Text"/>
                <a:cs typeface="YS Text"/>
              </a:rPr>
              <a:t> </a:t>
            </a:r>
            <a:r>
              <a:rPr lang="ru-RU" sz="4400" b="1" err="1">
                <a:solidFill>
                  <a:srgbClr val="00225E"/>
                </a:solidFill>
                <a:latin typeface="Times New Roman"/>
                <a:ea typeface="YS Text"/>
                <a:cs typeface="YS Text"/>
              </a:rPr>
              <a:t>санаттары</a:t>
            </a:r>
            <a:endParaRPr lang="ru-RU" sz="4400" b="1">
              <a:solidFill>
                <a:srgbClr val="00225E"/>
              </a:solidFill>
              <a:latin typeface="Times New Roman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343" name="Rectangle 14342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345" name="Rectangle 14344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Рисунок 4" descr="Изображение выглядит как Графика, синий, Цвет электрик, бел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9425C2C-23B5-6860-4ACF-2699BED841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347" name="Rectangle 14346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49" name="Rectangle 14348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51" name="Rectangle 14350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353" name="Freeform: Shape 14352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355" name="Rectangle 14354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B16DE6B-66EC-A89D-9490-389D754385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0259" y="649480"/>
            <a:ext cx="6555347" cy="55460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+mn-lt"/>
                <a:sym typeface="+mn-ea"/>
              </a:rPr>
              <a:t>2025 </a:t>
            </a:r>
            <a:r>
              <a:rPr lang="en-US" altLang="en-US" sz="2000" dirty="0" err="1">
                <a:latin typeface="+mn-lt"/>
                <a:sym typeface="+mn-ea"/>
              </a:rPr>
              <a:t>жылы</a:t>
            </a:r>
            <a:r>
              <a:rPr lang="en-US" altLang="en-US" sz="2000" dirty="0">
                <a:latin typeface="+mn-lt"/>
                <a:sym typeface="+mn-ea"/>
              </a:rPr>
              <a:t> </a:t>
            </a:r>
            <a:r>
              <a:rPr lang="en-US" altLang="en-US" sz="2000" dirty="0" err="1">
                <a:latin typeface="+mn-lt"/>
                <a:sym typeface="+mn-ea"/>
              </a:rPr>
              <a:t>қаражат</a:t>
            </a:r>
            <a:r>
              <a:rPr lang="en-US" altLang="en-US" sz="2000" dirty="0">
                <a:latin typeface="+mn-lt"/>
                <a:sym typeface="+mn-ea"/>
              </a:rPr>
              <a:t> </a:t>
            </a:r>
            <a:r>
              <a:rPr lang="en-US" altLang="en-US" sz="2000" dirty="0" err="1">
                <a:latin typeface="+mn-lt"/>
                <a:sym typeface="+mn-ea"/>
              </a:rPr>
              <a:t>тапшылығына</a:t>
            </a:r>
            <a:r>
              <a:rPr lang="en-US" altLang="en-US" sz="2000" dirty="0">
                <a:latin typeface="+mn-lt"/>
                <a:sym typeface="+mn-ea"/>
              </a:rPr>
              <a:t> </a:t>
            </a:r>
            <a:r>
              <a:rPr lang="en-US" altLang="en-US" sz="2000" dirty="0" err="1">
                <a:latin typeface="+mn-lt"/>
                <a:sym typeface="+mn-ea"/>
              </a:rPr>
              <a:t>байланысты</a:t>
            </a:r>
            <a:r>
              <a:rPr lang="en-US" altLang="en-US" sz="2000" dirty="0">
                <a:latin typeface="+mn-lt"/>
                <a:sym typeface="+mn-ea"/>
              </a:rPr>
              <a:t> </a:t>
            </a:r>
            <a:r>
              <a:rPr lang="en-US" altLang="en-US" sz="2000" dirty="0" err="1">
                <a:latin typeface="+mn-lt"/>
                <a:sym typeface="+mn-ea"/>
              </a:rPr>
              <a:t>барлығы</a:t>
            </a:r>
            <a:r>
              <a:rPr lang="en-US" altLang="ru-RU" sz="2000" dirty="0">
                <a:latin typeface="+mn-lt"/>
                <a:sym typeface="+mn-ea"/>
              </a:rPr>
              <a:t> 3 </a:t>
            </a:r>
            <a:r>
              <a:rPr lang="en-US" altLang="en-US" sz="2000" dirty="0" err="1">
                <a:latin typeface="+mn-lt"/>
                <a:sym typeface="+mn-ea"/>
              </a:rPr>
              <a:t>қызметкер</a:t>
            </a:r>
            <a:r>
              <a:rPr lang="en-US" altLang="ru-RU" sz="2000" dirty="0">
                <a:latin typeface="+mn-lt"/>
                <a:sym typeface="+mn-ea"/>
              </a:rPr>
              <a:t> 165 000 </a:t>
            </a:r>
            <a:r>
              <a:rPr lang="en-US" altLang="en-US" sz="2000" dirty="0" err="1">
                <a:latin typeface="+mn-lt"/>
                <a:sym typeface="+mn-ea"/>
              </a:rPr>
              <a:t>мың</a:t>
            </a:r>
            <a:r>
              <a:rPr lang="en-US" altLang="ru-RU" sz="2000" dirty="0">
                <a:latin typeface="+mn-lt"/>
                <a:sym typeface="+mn-ea"/>
              </a:rPr>
              <a:t> </a:t>
            </a:r>
            <a:r>
              <a:rPr lang="en-US" altLang="en-US" sz="2000" dirty="0" err="1">
                <a:latin typeface="+mn-lt"/>
                <a:sym typeface="+mn-ea"/>
              </a:rPr>
              <a:t>теңге</a:t>
            </a:r>
            <a:r>
              <a:rPr lang="en-US" altLang="ru-RU" sz="2000" dirty="0">
                <a:latin typeface="+mn-lt"/>
                <a:sym typeface="+mn-ea"/>
              </a:rPr>
              <a:t> </a:t>
            </a:r>
            <a:r>
              <a:rPr lang="en-US" altLang="en-US" sz="2000" dirty="0" err="1">
                <a:latin typeface="+mn-lt"/>
                <a:sym typeface="+mn-ea"/>
              </a:rPr>
              <a:t>сомасына</a:t>
            </a:r>
            <a:r>
              <a:rPr lang="en-US" altLang="ru-RU" sz="2000" dirty="0">
                <a:latin typeface="+mn-lt"/>
                <a:sym typeface="+mn-ea"/>
              </a:rPr>
              <a:t> </a:t>
            </a:r>
            <a:r>
              <a:rPr lang="en-US" altLang="en-US" sz="2000" dirty="0" err="1">
                <a:latin typeface="+mn-lt"/>
                <a:sym typeface="+mn-ea"/>
              </a:rPr>
              <a:t>оқытылды</a:t>
            </a:r>
            <a:r>
              <a:rPr lang="en-US" altLang="ru-RU" sz="2000" dirty="0">
                <a:latin typeface="+mn-lt"/>
                <a:sym typeface="+mn-ea"/>
              </a:rPr>
              <a:t>, </a:t>
            </a:r>
            <a:r>
              <a:rPr lang="en-US" altLang="en-US" sz="2000" dirty="0" err="1">
                <a:latin typeface="+mn-lt"/>
                <a:sym typeface="+mn-ea"/>
              </a:rPr>
              <a:t>оның</a:t>
            </a:r>
            <a:r>
              <a:rPr lang="en-US" altLang="ru-RU" sz="2000" dirty="0">
                <a:latin typeface="+mn-lt"/>
                <a:sym typeface="+mn-ea"/>
              </a:rPr>
              <a:t> </a:t>
            </a:r>
            <a:r>
              <a:rPr lang="en-US" altLang="en-US" sz="2000" dirty="0" err="1">
                <a:latin typeface="+mn-lt"/>
                <a:sym typeface="+mn-ea"/>
              </a:rPr>
              <a:t>ішінде</a:t>
            </a:r>
            <a:r>
              <a:rPr lang="en-US" altLang="ru-RU" sz="2000" dirty="0">
                <a:latin typeface="+mn-lt"/>
                <a:sym typeface="+mn-ea"/>
              </a:rPr>
              <a:t> </a:t>
            </a:r>
            <a:r>
              <a:rPr lang="en-US" altLang="en-US" sz="2000" dirty="0" err="1">
                <a:latin typeface="+mn-lt"/>
                <a:sym typeface="+mn-ea"/>
              </a:rPr>
              <a:t>дәрігерлер</a:t>
            </a:r>
            <a:r>
              <a:rPr lang="en-US" altLang="ru-RU" sz="2000" dirty="0">
                <a:latin typeface="+mn-lt"/>
                <a:sym typeface="+mn-ea"/>
              </a:rPr>
              <a:t> – 2, </a:t>
            </a:r>
            <a:r>
              <a:rPr lang="en-US" altLang="en-US" sz="2000" dirty="0" err="1">
                <a:latin typeface="+mn-lt"/>
                <a:sym typeface="+mn-ea"/>
              </a:rPr>
              <a:t>орта</a:t>
            </a:r>
            <a:r>
              <a:rPr lang="en-US" altLang="ru-RU" sz="2000" dirty="0">
                <a:latin typeface="+mn-lt"/>
                <a:sym typeface="+mn-ea"/>
              </a:rPr>
              <a:t> </a:t>
            </a:r>
            <a:r>
              <a:rPr lang="en-US" altLang="en-US" sz="2000" dirty="0" err="1">
                <a:latin typeface="+mn-lt"/>
                <a:sym typeface="+mn-ea"/>
              </a:rPr>
              <a:t>медициналық</a:t>
            </a:r>
            <a:r>
              <a:rPr lang="en-US" altLang="ru-RU" sz="2000" dirty="0">
                <a:latin typeface="+mn-lt"/>
                <a:sym typeface="+mn-ea"/>
              </a:rPr>
              <a:t> </a:t>
            </a:r>
            <a:r>
              <a:rPr lang="en-US" altLang="en-US" sz="2000" dirty="0" err="1">
                <a:latin typeface="+mn-lt"/>
                <a:sym typeface="+mn-ea"/>
              </a:rPr>
              <a:t>қызметкер</a:t>
            </a:r>
            <a:r>
              <a:rPr lang="en-US" altLang="en-US" sz="2000" dirty="0">
                <a:latin typeface="+mn-lt"/>
                <a:sym typeface="+mn-ea"/>
              </a:rPr>
              <a:t> </a:t>
            </a:r>
            <a:r>
              <a:rPr lang="en-US" altLang="ru-RU" sz="2000" dirty="0">
                <a:latin typeface="+mn-lt"/>
                <a:sym typeface="+mn-ea"/>
              </a:rPr>
              <a:t> – 1. </a:t>
            </a:r>
          </a:p>
          <a:p>
            <a:pPr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ru-RU" sz="2000" dirty="0">
                <a:latin typeface="+mn-lt"/>
                <a:sym typeface="+mn-ea"/>
              </a:rPr>
              <a:t>5 </a:t>
            </a:r>
            <a:r>
              <a:rPr lang="en-US" altLang="en-US" sz="2000" dirty="0" err="1">
                <a:latin typeface="+mn-lt"/>
                <a:sym typeface="+mn-ea"/>
              </a:rPr>
              <a:t>жылдан</a:t>
            </a:r>
            <a:r>
              <a:rPr lang="en-US" altLang="ru-RU" sz="2000" dirty="0">
                <a:latin typeface="+mn-lt"/>
                <a:sym typeface="+mn-ea"/>
              </a:rPr>
              <a:t> </a:t>
            </a:r>
            <a:r>
              <a:rPr lang="en-US" altLang="en-US" sz="2000" dirty="0" err="1">
                <a:latin typeface="+mn-lt"/>
                <a:sym typeface="+mn-ea"/>
              </a:rPr>
              <a:t>астам</a:t>
            </a:r>
            <a:r>
              <a:rPr lang="en-US" altLang="ru-RU" sz="2000" dirty="0">
                <a:latin typeface="+mn-lt"/>
                <a:sym typeface="+mn-ea"/>
              </a:rPr>
              <a:t> </a:t>
            </a:r>
            <a:r>
              <a:rPr lang="en-US" altLang="en-US" sz="2000" dirty="0" err="1">
                <a:latin typeface="+mn-lt"/>
                <a:sym typeface="+mn-ea"/>
              </a:rPr>
              <a:t>уақыт</a:t>
            </a:r>
            <a:r>
              <a:rPr lang="en-US" altLang="ru-RU" sz="2000" dirty="0">
                <a:latin typeface="+mn-lt"/>
                <a:sym typeface="+mn-ea"/>
              </a:rPr>
              <a:t> </a:t>
            </a:r>
            <a:r>
              <a:rPr lang="en-US" altLang="en-US" sz="2000" dirty="0" err="1">
                <a:latin typeface="+mn-lt"/>
                <a:sym typeface="+mn-ea"/>
              </a:rPr>
              <a:t>біліктілігін</a:t>
            </a:r>
            <a:r>
              <a:rPr lang="en-US" altLang="ru-RU" sz="2000" dirty="0">
                <a:latin typeface="+mn-lt"/>
                <a:sym typeface="+mn-ea"/>
              </a:rPr>
              <a:t> </a:t>
            </a:r>
            <a:r>
              <a:rPr lang="en-US" altLang="en-US" sz="2000" dirty="0" err="1">
                <a:latin typeface="+mn-lt"/>
                <a:sym typeface="+mn-ea"/>
              </a:rPr>
              <a:t>арттырмаған</a:t>
            </a:r>
            <a:r>
              <a:rPr lang="en-US" altLang="ru-RU" sz="2000" dirty="0">
                <a:latin typeface="+mn-lt"/>
                <a:sym typeface="+mn-ea"/>
              </a:rPr>
              <a:t> </a:t>
            </a:r>
            <a:r>
              <a:rPr lang="en-US" altLang="en-US" sz="2000" dirty="0" err="1">
                <a:latin typeface="+mn-lt"/>
                <a:sym typeface="+mn-ea"/>
              </a:rPr>
              <a:t>қызметкерлер</a:t>
            </a:r>
            <a:r>
              <a:rPr lang="en-US" altLang="en-US" sz="2000" dirty="0">
                <a:latin typeface="+mn-lt"/>
                <a:sym typeface="+mn-ea"/>
              </a:rPr>
              <a:t> </a:t>
            </a:r>
            <a:r>
              <a:rPr lang="en-US" altLang="en-US" sz="2000" dirty="0" err="1">
                <a:latin typeface="+mn-lt"/>
                <a:sym typeface="+mn-ea"/>
              </a:rPr>
              <a:t>саны</a:t>
            </a:r>
            <a:r>
              <a:rPr lang="en-US" altLang="en-US" sz="2000" dirty="0">
                <a:latin typeface="+mn-lt"/>
                <a:sym typeface="+mn-ea"/>
              </a:rPr>
              <a:t> </a:t>
            </a:r>
            <a:r>
              <a:rPr lang="kk-KZ" altLang="en-US" sz="2000" dirty="0">
                <a:latin typeface="+mn-lt"/>
                <a:sym typeface="+mn-ea"/>
              </a:rPr>
              <a:t>– 0</a:t>
            </a:r>
            <a:r>
              <a:rPr lang="en-US" altLang="ru-RU" sz="2000" dirty="0">
                <a:latin typeface="+mn-lt"/>
                <a:sym typeface="+mn-ea"/>
              </a:rPr>
              <a:t>.</a:t>
            </a:r>
          </a:p>
          <a:p>
            <a:pPr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dirty="0" err="1">
                <a:latin typeface="+mn-lt"/>
                <a:sym typeface="+mn-ea"/>
              </a:rPr>
              <a:t>Жыл</a:t>
            </a:r>
            <a:r>
              <a:rPr lang="en-US" altLang="ru-RU" sz="2000" dirty="0">
                <a:latin typeface="+mn-lt"/>
                <a:sym typeface="+mn-ea"/>
              </a:rPr>
              <a:t> </a:t>
            </a:r>
            <a:r>
              <a:rPr lang="en-US" altLang="en-US" sz="2000" dirty="0" err="1">
                <a:latin typeface="+mn-lt"/>
                <a:sym typeface="+mn-ea"/>
              </a:rPr>
              <a:t>ішінде</a:t>
            </a:r>
            <a:r>
              <a:rPr lang="en-US" altLang="ru-RU" sz="2000" dirty="0">
                <a:latin typeface="+mn-lt"/>
                <a:sym typeface="+mn-ea"/>
              </a:rPr>
              <a:t> </a:t>
            </a:r>
            <a:r>
              <a:rPr lang="en-US" altLang="en-US" sz="2000" dirty="0" err="1">
                <a:latin typeface="+mn-lt"/>
                <a:sym typeface="+mn-ea"/>
              </a:rPr>
              <a:t>кадрлардың</a:t>
            </a:r>
            <a:r>
              <a:rPr lang="en-US" altLang="ru-RU" sz="2000" dirty="0">
                <a:latin typeface="+mn-lt"/>
                <a:sym typeface="+mn-ea"/>
              </a:rPr>
              <a:t> </a:t>
            </a:r>
            <a:r>
              <a:rPr lang="en-US" altLang="en-US" sz="2000" dirty="0" err="1">
                <a:latin typeface="+mn-lt"/>
                <a:sym typeface="+mn-ea"/>
              </a:rPr>
              <a:t>келуі</a:t>
            </a:r>
            <a:r>
              <a:rPr lang="en-US" altLang="ru-RU" sz="2000" dirty="0">
                <a:latin typeface="+mn-lt"/>
                <a:sym typeface="+mn-ea"/>
              </a:rPr>
              <a:t> </a:t>
            </a:r>
            <a:r>
              <a:rPr lang="en-US" altLang="en-US" sz="2000" dirty="0" err="1">
                <a:latin typeface="+mn-lt"/>
                <a:sym typeface="+mn-ea"/>
              </a:rPr>
              <a:t>кетуінен</a:t>
            </a:r>
            <a:r>
              <a:rPr lang="en-US" altLang="ru-RU" sz="2000" dirty="0">
                <a:latin typeface="+mn-lt"/>
                <a:sym typeface="+mn-ea"/>
              </a:rPr>
              <a:t> </a:t>
            </a:r>
            <a:r>
              <a:rPr lang="en-US" altLang="en-US" sz="2000" dirty="0" err="1">
                <a:latin typeface="+mn-lt"/>
                <a:sym typeface="+mn-ea"/>
              </a:rPr>
              <a:t>асып</a:t>
            </a:r>
            <a:r>
              <a:rPr lang="en-US" altLang="ru-RU" sz="2000" dirty="0">
                <a:latin typeface="+mn-lt"/>
                <a:sym typeface="+mn-ea"/>
              </a:rPr>
              <a:t> </a:t>
            </a:r>
            <a:r>
              <a:rPr lang="en-US" altLang="en-US" sz="2000" dirty="0" err="1">
                <a:latin typeface="+mn-lt"/>
                <a:sym typeface="+mn-ea"/>
              </a:rPr>
              <a:t>түсті</a:t>
            </a:r>
            <a:r>
              <a:rPr lang="en-US" altLang="ru-RU" sz="2000" dirty="0">
                <a:latin typeface="+mn-lt"/>
                <a:sym typeface="+mn-ea"/>
              </a:rPr>
              <a:t>: </a:t>
            </a:r>
            <a:r>
              <a:rPr lang="en-US" altLang="en-US" sz="2000" dirty="0" err="1">
                <a:latin typeface="+mn-lt"/>
                <a:sym typeface="+mn-ea"/>
              </a:rPr>
              <a:t>дәрігерлердің</a:t>
            </a:r>
            <a:r>
              <a:rPr lang="en-US" altLang="en-US" sz="2000" dirty="0">
                <a:latin typeface="+mn-lt"/>
                <a:sym typeface="+mn-ea"/>
              </a:rPr>
              <a:t> </a:t>
            </a:r>
            <a:r>
              <a:rPr lang="en-US" altLang="ru-RU" sz="2000" dirty="0">
                <a:latin typeface="+mn-lt"/>
                <a:sym typeface="+mn-ea"/>
              </a:rPr>
              <a:t> </a:t>
            </a:r>
            <a:r>
              <a:rPr lang="en-US" altLang="en-US" sz="2000" dirty="0" err="1">
                <a:latin typeface="+mn-lt"/>
                <a:sym typeface="+mn-ea"/>
              </a:rPr>
              <a:t>келген</a:t>
            </a:r>
            <a:r>
              <a:rPr lang="en-US" altLang="en-US" sz="2000" dirty="0">
                <a:latin typeface="+mn-lt"/>
                <a:sym typeface="+mn-ea"/>
              </a:rPr>
              <a:t> </a:t>
            </a:r>
            <a:r>
              <a:rPr lang="en-US" altLang="en-US" sz="2000" dirty="0" err="1">
                <a:latin typeface="+mn-lt"/>
                <a:sym typeface="+mn-ea"/>
              </a:rPr>
              <a:t>саны</a:t>
            </a:r>
            <a:r>
              <a:rPr lang="en-US" altLang="ru-RU" sz="2000" dirty="0">
                <a:latin typeface="+mn-lt"/>
                <a:sym typeface="+mn-ea"/>
              </a:rPr>
              <a:t> – 29, </a:t>
            </a:r>
            <a:r>
              <a:rPr lang="en-US" altLang="en-US" sz="2000" dirty="0" err="1">
                <a:latin typeface="+mn-lt"/>
                <a:sym typeface="+mn-ea"/>
              </a:rPr>
              <a:t>оның</a:t>
            </a:r>
            <a:r>
              <a:rPr lang="en-US" altLang="ru-RU" sz="2000" dirty="0">
                <a:latin typeface="+mn-lt"/>
                <a:sym typeface="+mn-ea"/>
              </a:rPr>
              <a:t> </a:t>
            </a:r>
            <a:r>
              <a:rPr lang="en-US" altLang="en-US" sz="2000" dirty="0" err="1">
                <a:latin typeface="+mn-lt"/>
                <a:sym typeface="+mn-ea"/>
              </a:rPr>
              <a:t>ішінде</a:t>
            </a:r>
            <a:r>
              <a:rPr lang="en-US" altLang="ru-RU" sz="2000" dirty="0">
                <a:latin typeface="+mn-lt"/>
                <a:sym typeface="+mn-ea"/>
              </a:rPr>
              <a:t> </a:t>
            </a:r>
            <a:r>
              <a:rPr lang="en-US" altLang="en-US" sz="2000" dirty="0" err="1">
                <a:latin typeface="+mn-lt"/>
                <a:sym typeface="+mn-ea"/>
              </a:rPr>
              <a:t>жас</a:t>
            </a:r>
            <a:r>
              <a:rPr lang="en-US" altLang="ru-RU" sz="2000" dirty="0">
                <a:latin typeface="+mn-lt"/>
                <a:sym typeface="+mn-ea"/>
              </a:rPr>
              <a:t> </a:t>
            </a:r>
            <a:r>
              <a:rPr lang="en-US" altLang="en-US" sz="2000" dirty="0" err="1">
                <a:latin typeface="+mn-lt"/>
                <a:sym typeface="+mn-ea"/>
              </a:rPr>
              <a:t>мамандар</a:t>
            </a:r>
            <a:r>
              <a:rPr lang="en-US" altLang="ru-RU" sz="2000" dirty="0">
                <a:latin typeface="+mn-lt"/>
                <a:sym typeface="+mn-ea"/>
              </a:rPr>
              <a:t> – 10, </a:t>
            </a:r>
            <a:r>
              <a:rPr lang="en-US" altLang="en-US" sz="2000" dirty="0" err="1">
                <a:latin typeface="+mn-lt"/>
                <a:sym typeface="+mn-ea"/>
              </a:rPr>
              <a:t>дәрігерлердің</a:t>
            </a:r>
            <a:r>
              <a:rPr lang="en-US" altLang="en-US" sz="2000" dirty="0">
                <a:latin typeface="+mn-lt"/>
                <a:sym typeface="+mn-ea"/>
              </a:rPr>
              <a:t> </a:t>
            </a:r>
            <a:r>
              <a:rPr lang="en-US" altLang="ru-RU" sz="2000" dirty="0">
                <a:latin typeface="+mn-lt"/>
                <a:sym typeface="+mn-ea"/>
              </a:rPr>
              <a:t> </a:t>
            </a:r>
            <a:r>
              <a:rPr lang="en-US" altLang="en-US" sz="2000" dirty="0" err="1">
                <a:latin typeface="+mn-lt"/>
                <a:sym typeface="+mn-ea"/>
              </a:rPr>
              <a:t>кеткен</a:t>
            </a:r>
            <a:r>
              <a:rPr lang="en-US" altLang="en-US" sz="2000" dirty="0">
                <a:latin typeface="+mn-lt"/>
                <a:sym typeface="+mn-ea"/>
              </a:rPr>
              <a:t> </a:t>
            </a:r>
            <a:r>
              <a:rPr lang="en-US" altLang="en-US" sz="2000" dirty="0" err="1">
                <a:latin typeface="+mn-lt"/>
                <a:sym typeface="+mn-ea"/>
              </a:rPr>
              <a:t>саны</a:t>
            </a:r>
            <a:r>
              <a:rPr lang="en-US" altLang="en-US" sz="2000" dirty="0">
                <a:latin typeface="+mn-lt"/>
                <a:sym typeface="+mn-ea"/>
              </a:rPr>
              <a:t> </a:t>
            </a:r>
            <a:r>
              <a:rPr lang="en-US" altLang="ru-RU" sz="2000" dirty="0">
                <a:latin typeface="+mn-lt"/>
                <a:sym typeface="+mn-ea"/>
              </a:rPr>
              <a:t> – 17; </a:t>
            </a:r>
            <a:r>
              <a:rPr lang="en-US" altLang="en-US" sz="2000" dirty="0" err="1">
                <a:latin typeface="+mn-lt"/>
                <a:sym typeface="+mn-ea"/>
              </a:rPr>
              <a:t>орта</a:t>
            </a:r>
            <a:r>
              <a:rPr lang="en-US" altLang="ru-RU" sz="2000" dirty="0">
                <a:latin typeface="+mn-lt"/>
                <a:sym typeface="+mn-ea"/>
              </a:rPr>
              <a:t> </a:t>
            </a:r>
            <a:r>
              <a:rPr lang="en-US" altLang="en-US" sz="2000" dirty="0" err="1">
                <a:latin typeface="+mn-lt"/>
                <a:sym typeface="+mn-ea"/>
              </a:rPr>
              <a:t>медициналық</a:t>
            </a:r>
            <a:r>
              <a:rPr lang="en-US" altLang="ru-RU" sz="2000" dirty="0">
                <a:latin typeface="+mn-lt"/>
                <a:sym typeface="+mn-ea"/>
              </a:rPr>
              <a:t> </a:t>
            </a:r>
            <a:r>
              <a:rPr lang="en-US" altLang="en-US" sz="2000" dirty="0" err="1">
                <a:latin typeface="+mn-lt"/>
                <a:sym typeface="+mn-ea"/>
              </a:rPr>
              <a:t>қызметкерлер</a:t>
            </a:r>
            <a:r>
              <a:rPr lang="en-US" altLang="en-US" sz="2000" dirty="0">
                <a:latin typeface="+mn-lt"/>
                <a:sym typeface="+mn-ea"/>
              </a:rPr>
              <a:t> </a:t>
            </a:r>
            <a:r>
              <a:rPr lang="en-US" altLang="ru-RU" sz="2000" dirty="0">
                <a:latin typeface="+mn-lt"/>
                <a:sym typeface="+mn-ea"/>
              </a:rPr>
              <a:t> </a:t>
            </a:r>
            <a:r>
              <a:rPr lang="en-US" altLang="en-US" sz="2000" dirty="0" err="1">
                <a:latin typeface="+mn-lt"/>
                <a:sym typeface="+mn-ea"/>
              </a:rPr>
              <a:t>келген</a:t>
            </a:r>
            <a:r>
              <a:rPr lang="en-US" altLang="en-US" sz="2000" dirty="0">
                <a:latin typeface="+mn-lt"/>
                <a:sym typeface="+mn-ea"/>
              </a:rPr>
              <a:t> </a:t>
            </a:r>
            <a:r>
              <a:rPr lang="en-US" altLang="en-US" sz="2000" dirty="0" err="1">
                <a:latin typeface="+mn-lt"/>
                <a:sym typeface="+mn-ea"/>
              </a:rPr>
              <a:t>саны</a:t>
            </a:r>
            <a:r>
              <a:rPr lang="en-US" altLang="ru-RU" sz="2000" dirty="0">
                <a:latin typeface="+mn-lt"/>
                <a:sym typeface="+mn-ea"/>
              </a:rPr>
              <a:t> – 30, </a:t>
            </a:r>
            <a:r>
              <a:rPr lang="en-US" altLang="en-US" sz="2000" dirty="0" err="1">
                <a:latin typeface="+mn-lt"/>
                <a:sym typeface="+mn-ea"/>
              </a:rPr>
              <a:t>оның</a:t>
            </a:r>
            <a:r>
              <a:rPr lang="en-US" altLang="ru-RU" sz="2000" dirty="0">
                <a:latin typeface="+mn-lt"/>
                <a:sym typeface="+mn-ea"/>
              </a:rPr>
              <a:t> </a:t>
            </a:r>
            <a:r>
              <a:rPr lang="en-US" altLang="en-US" sz="2000" dirty="0" err="1">
                <a:latin typeface="+mn-lt"/>
                <a:sym typeface="+mn-ea"/>
              </a:rPr>
              <a:t>ішінде</a:t>
            </a:r>
            <a:r>
              <a:rPr lang="en-US" altLang="ru-RU" sz="2000" dirty="0">
                <a:latin typeface="+mn-lt"/>
                <a:sym typeface="+mn-ea"/>
              </a:rPr>
              <a:t> </a:t>
            </a:r>
            <a:r>
              <a:rPr lang="en-US" altLang="en-US" sz="2000" dirty="0" err="1">
                <a:latin typeface="+mn-lt"/>
                <a:sym typeface="+mn-ea"/>
              </a:rPr>
              <a:t>жас</a:t>
            </a:r>
            <a:r>
              <a:rPr lang="en-US" altLang="ru-RU" sz="2000" dirty="0">
                <a:latin typeface="+mn-lt"/>
                <a:sym typeface="+mn-ea"/>
              </a:rPr>
              <a:t> </a:t>
            </a:r>
            <a:r>
              <a:rPr lang="en-US" altLang="en-US" sz="2000" dirty="0" err="1">
                <a:latin typeface="+mn-lt"/>
                <a:sym typeface="+mn-ea"/>
              </a:rPr>
              <a:t>мамандар</a:t>
            </a:r>
            <a:r>
              <a:rPr lang="en-US" altLang="ru-RU" sz="2000" dirty="0">
                <a:latin typeface="+mn-lt"/>
                <a:sym typeface="+mn-ea"/>
              </a:rPr>
              <a:t> – 14.</a:t>
            </a:r>
          </a:p>
          <a:p>
            <a:pPr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ru-RU" sz="2000" dirty="0">
                <a:latin typeface="+mn-lt"/>
                <a:sym typeface="+mn-ea"/>
              </a:rPr>
              <a:t>2026 </a:t>
            </a:r>
            <a:r>
              <a:rPr lang="en-US" altLang="en-US" sz="2000" dirty="0" err="1">
                <a:latin typeface="+mn-lt"/>
                <a:sym typeface="+mn-ea"/>
              </a:rPr>
              <a:t>жылға</a:t>
            </a:r>
            <a:r>
              <a:rPr lang="en-US" altLang="ru-RU" sz="2000" dirty="0">
                <a:latin typeface="+mn-lt"/>
                <a:sym typeface="+mn-ea"/>
              </a:rPr>
              <a:t> </a:t>
            </a:r>
            <a:r>
              <a:rPr lang="en-US" altLang="en-US" sz="2000" dirty="0" err="1">
                <a:latin typeface="+mn-lt"/>
                <a:sym typeface="+mn-ea"/>
              </a:rPr>
              <a:t>дәрігерлерді</a:t>
            </a:r>
            <a:r>
              <a:rPr lang="en-US" altLang="ru-RU" sz="2000" dirty="0">
                <a:latin typeface="+mn-lt"/>
                <a:sym typeface="+mn-ea"/>
              </a:rPr>
              <a:t> </a:t>
            </a:r>
            <a:r>
              <a:rPr lang="en-US" altLang="en-US" sz="2000" dirty="0" err="1">
                <a:latin typeface="+mn-lt"/>
                <a:sym typeface="+mn-ea"/>
              </a:rPr>
              <a:t>өзекті</a:t>
            </a:r>
            <a:r>
              <a:rPr lang="en-US" altLang="ru-RU" sz="2000" dirty="0">
                <a:latin typeface="+mn-lt"/>
                <a:sym typeface="+mn-ea"/>
              </a:rPr>
              <a:t> </a:t>
            </a:r>
            <a:r>
              <a:rPr lang="en-US" altLang="en-US" sz="2000" dirty="0" err="1">
                <a:latin typeface="+mn-lt"/>
                <a:sym typeface="+mn-ea"/>
              </a:rPr>
              <a:t>клиникалық</a:t>
            </a:r>
            <a:r>
              <a:rPr lang="en-US" altLang="ru-RU" sz="2000" dirty="0">
                <a:latin typeface="+mn-lt"/>
                <a:sym typeface="+mn-ea"/>
              </a:rPr>
              <a:t> </a:t>
            </a:r>
            <a:r>
              <a:rPr lang="en-US" altLang="en-US" sz="2000" dirty="0" err="1">
                <a:latin typeface="+mn-lt"/>
                <a:sym typeface="+mn-ea"/>
              </a:rPr>
              <a:t>хаттамалар</a:t>
            </a:r>
            <a:r>
              <a:rPr lang="en-US" altLang="ru-RU" sz="2000" dirty="0">
                <a:latin typeface="+mn-lt"/>
                <a:sym typeface="+mn-ea"/>
              </a:rPr>
              <a:t> </a:t>
            </a:r>
            <a:r>
              <a:rPr lang="en-US" altLang="en-US" sz="2000" dirty="0" err="1">
                <a:latin typeface="+mn-lt"/>
                <a:sym typeface="+mn-ea"/>
              </a:rPr>
              <a:t>бойынша</a:t>
            </a:r>
            <a:r>
              <a:rPr lang="en-US" altLang="ru-RU" sz="2000" dirty="0">
                <a:latin typeface="+mn-lt"/>
                <a:sym typeface="+mn-ea"/>
              </a:rPr>
              <a:t> </a:t>
            </a:r>
            <a:r>
              <a:rPr lang="en-US" altLang="en-US" sz="2000" dirty="0" err="1">
                <a:latin typeface="+mn-lt"/>
                <a:sym typeface="+mn-ea"/>
              </a:rPr>
              <a:t>оқыту</a:t>
            </a:r>
            <a:r>
              <a:rPr lang="en-US" altLang="ru-RU" sz="2000" dirty="0">
                <a:latin typeface="+mn-lt"/>
                <a:sym typeface="+mn-ea"/>
              </a:rPr>
              <a:t> </a:t>
            </a:r>
            <a:r>
              <a:rPr lang="en-US" altLang="en-US" sz="2000" dirty="0" err="1">
                <a:latin typeface="+mn-lt"/>
                <a:sym typeface="+mn-ea"/>
              </a:rPr>
              <a:t>жоспарлануда</a:t>
            </a:r>
            <a:r>
              <a:rPr lang="en-US" altLang="ru-RU" sz="2000" dirty="0">
                <a:latin typeface="+mn-lt"/>
                <a:sym typeface="+mn-ea"/>
              </a:rPr>
              <a:t>. </a:t>
            </a:r>
            <a:endParaRPr lang="en-US" altLang="ru-RU" sz="2000" dirty="0">
              <a:latin typeface="+mn-lt"/>
            </a:endParaRPr>
          </a:p>
        </p:txBody>
      </p:sp>
      <p:sp>
        <p:nvSpPr>
          <p:cNvPr id="14338" name="Номер слайда 1">
            <a:extLst>
              <a:ext uri="{FF2B5EF4-FFF2-40B4-BE49-F238E27FC236}">
                <a16:creationId xmlns:a16="http://schemas.microsoft.com/office/drawing/2014/main" id="{944517CA-B3AC-63D9-1E55-4FC44F9DCA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11704320" y="6455664"/>
            <a:ext cx="448056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600"/>
              </a:spcAft>
              <a:buFontTx/>
              <a:buNone/>
            </a:pPr>
            <a:fld id="{50ABA4F3-4963-46AA-B0FF-64832066655B}" type="slidenum">
              <a:rPr lang="en-US" altLang="ru-RU" sz="1100" b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pPr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12</a:t>
            </a:fld>
            <a:endParaRPr lang="en-US" altLang="ru-RU" sz="1100" b="1">
              <a:solidFill>
                <a:schemeClr val="tx1">
                  <a:lumMod val="50000"/>
                  <a:lumOff val="50000"/>
                </a:schemeClr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8BF1CA-6428-66C4-4C2B-6976F45F9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107" y="1215"/>
            <a:ext cx="10307170" cy="864159"/>
          </a:xfr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ru-RU" b="1" cap="all" err="1">
                <a:ln w="0"/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Times New Roman"/>
                <a:cs typeface="Times New Roman"/>
              </a:rPr>
              <a:t>Қызметкерлерді</a:t>
            </a:r>
            <a:r>
              <a:rPr lang="ru-RU" b="1" cap="all" dirty="0">
                <a:ln w="0"/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Times New Roman"/>
                <a:cs typeface="Times New Roman"/>
              </a:rPr>
              <a:t> </a:t>
            </a:r>
            <a:r>
              <a:rPr lang="ru-RU" b="1" cap="all" err="1">
                <a:ln w="0"/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Times New Roman"/>
                <a:cs typeface="Times New Roman"/>
              </a:rPr>
              <a:t>ынталандыру</a:t>
            </a:r>
            <a:endParaRPr lang="ru-RU">
              <a:latin typeface="Times New Roman"/>
              <a:cs typeface="Times New Roman"/>
            </a:endParaRPr>
          </a:p>
        </p:txBody>
      </p:sp>
      <p:graphicFrame>
        <p:nvGraphicFramePr>
          <p:cNvPr id="11" name="Содержимое 3">
            <a:extLst>
              <a:ext uri="{FF2B5EF4-FFF2-40B4-BE49-F238E27FC236}">
                <a16:creationId xmlns:a16="http://schemas.microsoft.com/office/drawing/2014/main" id="{8395248F-28FB-64DA-F886-ACF03F988C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9017382"/>
              </p:ext>
            </p:extLst>
          </p:nvPr>
        </p:nvGraphicFramePr>
        <p:xfrm>
          <a:off x="938493" y="3996204"/>
          <a:ext cx="10312400" cy="1998989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81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2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87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89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674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/>
                        <a:t>№</a:t>
                      </a:r>
                      <a:endParaRPr lang="ru-RU" sz="1400"/>
                    </a:p>
                  </a:txBody>
                  <a:tcPr marL="68585" marR="6858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/>
                        <a:t>Ф И О</a:t>
                      </a:r>
                      <a:endParaRPr lang="ru-RU" sz="1400"/>
                    </a:p>
                  </a:txBody>
                  <a:tcPr marL="68585" marR="6858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/>
                        <a:t>Должность</a:t>
                      </a:r>
                      <a:endParaRPr lang="ru-RU" sz="1400"/>
                    </a:p>
                  </a:txBody>
                  <a:tcPr marL="68585" marR="6858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/>
                        <a:t>Вид награды</a:t>
                      </a:r>
                      <a:endParaRPr lang="ru-RU" sz="1400"/>
                    </a:p>
                  </a:txBody>
                  <a:tcPr marL="68585" marR="6858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279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latin typeface="Times New Roman"/>
                        </a:rPr>
                        <a:t>1</a:t>
                      </a:r>
                    </a:p>
                  </a:txBody>
                  <a:tcPr marL="68585" marR="68585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err="1">
                          <a:latin typeface="Times New Roman"/>
                        </a:rPr>
                        <a:t>Дуйсенова</a:t>
                      </a:r>
                      <a:r>
                        <a:rPr lang="ru-RU" sz="1400" dirty="0">
                          <a:latin typeface="Times New Roman"/>
                        </a:rPr>
                        <a:t> </a:t>
                      </a:r>
                      <a:r>
                        <a:rPr lang="ru-RU" sz="1400" err="1">
                          <a:latin typeface="Times New Roman"/>
                        </a:rPr>
                        <a:t>Гулдана</a:t>
                      </a:r>
                      <a:r>
                        <a:rPr lang="ru-RU" sz="1400" dirty="0">
                          <a:latin typeface="Times New Roman"/>
                        </a:rPr>
                        <a:t> </a:t>
                      </a:r>
                      <a:r>
                        <a:rPr lang="ru-RU" sz="1400" err="1">
                          <a:latin typeface="Times New Roman"/>
                        </a:rPr>
                        <a:t>Малкайдаровна</a:t>
                      </a:r>
                      <a:endParaRPr lang="ru-RU" sz="1400" dirty="0">
                        <a:latin typeface="Times New Roman"/>
                      </a:endParaRPr>
                    </a:p>
                  </a:txBody>
                  <a:tcPr marL="68585" marR="68585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err="1">
                          <a:latin typeface="Times New Roman"/>
                        </a:rPr>
                        <a:t>Директордың</a:t>
                      </a:r>
                      <a:r>
                        <a:rPr lang="ru-RU" sz="1400" dirty="0">
                          <a:latin typeface="Times New Roman"/>
                        </a:rPr>
                        <a:t> </a:t>
                      </a:r>
                      <a:r>
                        <a:rPr lang="ru-RU" sz="1400" err="1">
                          <a:latin typeface="Times New Roman"/>
                        </a:rPr>
                        <a:t>емдеу</a:t>
                      </a:r>
                      <a:r>
                        <a:rPr lang="ru-RU" sz="1400" dirty="0">
                          <a:latin typeface="Times New Roman"/>
                        </a:rPr>
                        <a:t> </a:t>
                      </a:r>
                      <a:r>
                        <a:rPr lang="ru-RU" sz="1400" err="1">
                          <a:latin typeface="Times New Roman"/>
                        </a:rPr>
                        <a:t>ісі</a:t>
                      </a:r>
                      <a:r>
                        <a:rPr lang="ru-RU" sz="1400" dirty="0">
                          <a:latin typeface="Times New Roman"/>
                        </a:rPr>
                        <a:t> </a:t>
                      </a:r>
                      <a:r>
                        <a:rPr lang="ru-RU" sz="1400" err="1">
                          <a:latin typeface="Times New Roman"/>
                        </a:rPr>
                        <a:t>жөніндегі</a:t>
                      </a:r>
                      <a:r>
                        <a:rPr lang="ru-RU" sz="1400" dirty="0">
                          <a:latin typeface="Times New Roman"/>
                        </a:rPr>
                        <a:t> </a:t>
                      </a:r>
                      <a:r>
                        <a:rPr lang="ru-RU" sz="1400" err="1">
                          <a:latin typeface="Times New Roman"/>
                        </a:rPr>
                        <a:t>орынбасарының</a:t>
                      </a:r>
                      <a:r>
                        <a:rPr lang="ru-RU" sz="1400" dirty="0">
                          <a:latin typeface="Times New Roman"/>
                        </a:rPr>
                        <a:t> </a:t>
                      </a:r>
                      <a:r>
                        <a:rPr lang="ru-RU" sz="1400" err="1">
                          <a:latin typeface="Times New Roman"/>
                        </a:rPr>
                        <a:t>м.а.</a:t>
                      </a:r>
                      <a:endParaRPr lang="ru-RU" sz="1400" dirty="0">
                        <a:latin typeface="Times New Roman"/>
                      </a:endParaRPr>
                    </a:p>
                  </a:txBody>
                  <a:tcPr marL="68585" marR="68585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latin typeface="Times New Roman"/>
                        </a:rPr>
                        <a:t>«</a:t>
                      </a:r>
                      <a:r>
                        <a:rPr lang="ru-RU" sz="1400" dirty="0" err="1">
                          <a:latin typeface="Times New Roman"/>
                        </a:rPr>
                        <a:t>Денсаулық</a:t>
                      </a:r>
                      <a:r>
                        <a:rPr lang="ru-RU" sz="1400" dirty="0">
                          <a:latin typeface="Times New Roman"/>
                        </a:rPr>
                        <a:t> </a:t>
                      </a:r>
                      <a:r>
                        <a:rPr lang="ru-RU" sz="1400" dirty="0" err="1">
                          <a:latin typeface="Times New Roman"/>
                        </a:rPr>
                        <a:t>сактау</a:t>
                      </a:r>
                      <a:r>
                        <a:rPr lang="ru-RU" sz="1400" dirty="0">
                          <a:latin typeface="Times New Roman"/>
                        </a:rPr>
                        <a:t> </a:t>
                      </a:r>
                      <a:r>
                        <a:rPr lang="ru-RU" sz="1400" dirty="0" err="1">
                          <a:latin typeface="Times New Roman"/>
                        </a:rPr>
                        <a:t>ісіне</a:t>
                      </a:r>
                      <a:r>
                        <a:rPr lang="ru-RU" sz="1400" dirty="0">
                          <a:latin typeface="Times New Roman"/>
                        </a:rPr>
                        <a:t> </a:t>
                      </a:r>
                      <a:r>
                        <a:rPr lang="ru-RU" sz="1400" dirty="0" err="1">
                          <a:latin typeface="Times New Roman"/>
                        </a:rPr>
                        <a:t>қосқан</a:t>
                      </a:r>
                      <a:r>
                        <a:rPr lang="ru-RU" sz="1400" dirty="0">
                          <a:latin typeface="Times New Roman"/>
                        </a:rPr>
                        <a:t> </a:t>
                      </a:r>
                      <a:r>
                        <a:rPr lang="ru-RU" sz="1400" dirty="0" err="1">
                          <a:latin typeface="Times New Roman"/>
                        </a:rPr>
                        <a:t>үлесі</a:t>
                      </a:r>
                      <a:r>
                        <a:rPr lang="ru-RU" sz="1400" dirty="0">
                          <a:latin typeface="Times New Roman"/>
                        </a:rPr>
                        <a:t> </a:t>
                      </a:r>
                      <a:r>
                        <a:rPr lang="ru-RU" sz="1400" dirty="0" err="1">
                          <a:latin typeface="Times New Roman"/>
                        </a:rPr>
                        <a:t>үшін</a:t>
                      </a:r>
                      <a:r>
                        <a:rPr lang="ru-RU" sz="1400" dirty="0">
                          <a:latin typeface="Times New Roman"/>
                        </a:rPr>
                        <a:t>» 2025ж.</a:t>
                      </a:r>
                    </a:p>
                  </a:txBody>
                  <a:tcPr marL="68585" marR="68585" marT="0" marB="0"/>
                </a:tc>
                <a:extLst>
                  <a:ext uri="{0D108BD9-81ED-4DB2-BD59-A6C34878D82A}">
                    <a16:rowId xmlns:a16="http://schemas.microsoft.com/office/drawing/2014/main" val="3957043022"/>
                  </a:ext>
                </a:extLst>
              </a:tr>
              <a:tr h="59944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latin typeface="Times New Roman"/>
                        </a:rPr>
                        <a:t>2</a:t>
                      </a:r>
                    </a:p>
                  </a:txBody>
                  <a:tcPr marL="68585" marR="68585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err="1">
                          <a:latin typeface="Times New Roman"/>
                        </a:rPr>
                        <a:t>Төлеби</a:t>
                      </a:r>
                      <a:r>
                        <a:rPr lang="ru-RU" sz="1400" dirty="0">
                          <a:latin typeface="Times New Roman"/>
                        </a:rPr>
                        <a:t> </a:t>
                      </a:r>
                      <a:r>
                        <a:rPr lang="ru-RU" sz="1400" err="1">
                          <a:latin typeface="Times New Roman"/>
                        </a:rPr>
                        <a:t>Айнұр</a:t>
                      </a:r>
                      <a:r>
                        <a:rPr lang="ru-RU" sz="1400" dirty="0">
                          <a:latin typeface="Times New Roman"/>
                        </a:rPr>
                        <a:t> </a:t>
                      </a:r>
                      <a:r>
                        <a:rPr lang="ru-RU" sz="1400" err="1">
                          <a:latin typeface="Times New Roman"/>
                        </a:rPr>
                        <a:t>Абдықадырқызы</a:t>
                      </a:r>
                      <a:endParaRPr lang="ru-RU" sz="1400" dirty="0">
                        <a:latin typeface="Times New Roman"/>
                      </a:endParaRPr>
                    </a:p>
                  </a:txBody>
                  <a:tcPr marL="68585" marR="68585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latin typeface="Times New Roman"/>
                        </a:rPr>
                        <a:t>ВОП 1 </a:t>
                      </a:r>
                      <a:r>
                        <a:rPr lang="ru-RU" sz="1400" err="1">
                          <a:latin typeface="Times New Roman"/>
                        </a:rPr>
                        <a:t>бөлім</a:t>
                      </a:r>
                      <a:r>
                        <a:rPr lang="ru-RU" sz="1400" dirty="0">
                          <a:latin typeface="Times New Roman"/>
                        </a:rPr>
                        <a:t> </a:t>
                      </a:r>
                      <a:r>
                        <a:rPr lang="ru-RU" sz="1400" err="1">
                          <a:latin typeface="Times New Roman"/>
                        </a:rPr>
                        <a:t>меңгерушісі</a:t>
                      </a:r>
                      <a:endParaRPr lang="ru-RU" sz="1400" dirty="0">
                        <a:latin typeface="Times New Roman"/>
                      </a:endParaRPr>
                    </a:p>
                  </a:txBody>
                  <a:tcPr marL="68585" marR="68585" marT="0" marB="0"/>
                </a:tc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ru-RU" sz="14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«</a:t>
                      </a:r>
                      <a:r>
                        <a:rPr lang="ru-RU" sz="1400" b="0" i="0" u="none" strike="noStrike" noProof="0" dirty="0" err="1">
                          <a:solidFill>
                            <a:srgbClr val="000000"/>
                          </a:solidFill>
                          <a:latin typeface="Times New Roman"/>
                        </a:rPr>
                        <a:t>Қазақстан</a:t>
                      </a:r>
                      <a:r>
                        <a:rPr lang="ru-RU" sz="14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lang="ru-RU" sz="1400" b="0" i="0" u="none" strike="noStrike" noProof="0" dirty="0" err="1">
                          <a:solidFill>
                            <a:srgbClr val="000000"/>
                          </a:solidFill>
                          <a:latin typeface="Times New Roman"/>
                        </a:rPr>
                        <a:t>республикасының</a:t>
                      </a:r>
                      <a:r>
                        <a:rPr lang="ru-RU" sz="14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lang="ru-RU" sz="1400" b="0" i="0" u="none" strike="noStrike" noProof="0" dirty="0" err="1">
                          <a:solidFill>
                            <a:srgbClr val="000000"/>
                          </a:solidFill>
                          <a:latin typeface="Times New Roman"/>
                        </a:rPr>
                        <a:t>министрлігінен</a:t>
                      </a:r>
                      <a:r>
                        <a:rPr lang="ru-RU" sz="14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lang="ru-RU" sz="1400" b="0" i="0" u="none" strike="noStrike" noProof="0" dirty="0" err="1">
                          <a:solidFill>
                            <a:srgbClr val="000000"/>
                          </a:solidFill>
                          <a:latin typeface="Times New Roman"/>
                        </a:rPr>
                        <a:t>алғыс</a:t>
                      </a:r>
                      <a:r>
                        <a:rPr lang="ru-RU" sz="14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хат» 2025ж.</a:t>
                      </a:r>
                    </a:p>
                  </a:txBody>
                  <a:tcPr marL="68585" marR="68585" marT="0" marB="0"/>
                </a:tc>
                <a:extLst>
                  <a:ext uri="{0D108BD9-81ED-4DB2-BD59-A6C34878D82A}">
                    <a16:rowId xmlns:a16="http://schemas.microsoft.com/office/drawing/2014/main" val="1030912821"/>
                  </a:ext>
                </a:extLst>
              </a:tr>
            </a:tbl>
          </a:graphicData>
        </a:graphic>
      </p:graphicFrame>
      <p:pic>
        <p:nvPicPr>
          <p:cNvPr id="15390" name="Picture 2">
            <a:extLst>
              <a:ext uri="{FF2B5EF4-FFF2-40B4-BE49-F238E27FC236}">
                <a16:creationId xmlns:a16="http://schemas.microsoft.com/office/drawing/2014/main" id="{7F246A3B-11E8-5122-086B-654AB020AA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8580" y="863413"/>
            <a:ext cx="1192026" cy="2214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91" name="Picture 4">
            <a:extLst>
              <a:ext uri="{FF2B5EF4-FFF2-40B4-BE49-F238E27FC236}">
                <a16:creationId xmlns:a16="http://schemas.microsoft.com/office/drawing/2014/main" id="{9DB68DC5-11BD-0FAB-B580-E39A57306C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4333" y="860145"/>
            <a:ext cx="1516063" cy="221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92" name="Picture 2" descr="Z (181×279)">
            <a:extLst>
              <a:ext uri="{FF2B5EF4-FFF2-40B4-BE49-F238E27FC236}">
                <a16:creationId xmlns:a16="http://schemas.microsoft.com/office/drawing/2014/main" id="{CFE37918-7841-4288-CE0B-8751EC76B8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048" y="865375"/>
            <a:ext cx="1408113" cy="2214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93" name="Picture 4">
            <a:extLst>
              <a:ext uri="{FF2B5EF4-FFF2-40B4-BE49-F238E27FC236}">
                <a16:creationId xmlns:a16="http://schemas.microsoft.com/office/drawing/2014/main" id="{0CF6D786-6265-3A6B-9007-EC007F25A8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8089" y="860238"/>
            <a:ext cx="1192026" cy="2222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94" name="Picture 8" descr="2Q== (282×178)">
            <a:extLst>
              <a:ext uri="{FF2B5EF4-FFF2-40B4-BE49-F238E27FC236}">
                <a16:creationId xmlns:a16="http://schemas.microsoft.com/office/drawing/2014/main" id="{4FF116BA-C7E9-DA18-C703-AA80954168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7966" y="862013"/>
            <a:ext cx="3282576" cy="2214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E6DDC3C4-EAB6-C27A-D9A4-990101CF9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76" y="212912"/>
            <a:ext cx="11343341" cy="1114425"/>
          </a:xfrm>
        </p:spPr>
        <p:txBody>
          <a:bodyPr/>
          <a:lstStyle/>
          <a:p>
            <a:pPr algn="ctr" eaLnBrk="1" hangingPunct="1"/>
            <a:r>
              <a:rPr lang="ru-RU" altLang="en-US" b="1" dirty="0">
                <a:solidFill>
                  <a:srgbClr val="00225E"/>
                </a:solidFill>
                <a:latin typeface="Times New Roman"/>
                <a:cs typeface="Times New Roman"/>
              </a:rPr>
              <a:t>АНАЛИЗ </a:t>
            </a:r>
            <a:br>
              <a:rPr lang="ru-RU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en-US" b="1" dirty="0" err="1">
                <a:solidFill>
                  <a:srgbClr val="00225E"/>
                </a:solidFill>
                <a:latin typeface="Times New Roman"/>
                <a:cs typeface="Times New Roman"/>
              </a:rPr>
              <a:t>қаржы-шаруашылық</a:t>
            </a:r>
            <a:r>
              <a:rPr lang="ru-RU" altLang="en-US" b="1" dirty="0">
                <a:solidFill>
                  <a:srgbClr val="00225E"/>
                </a:solidFill>
                <a:latin typeface="Times New Roman"/>
                <a:cs typeface="Times New Roman"/>
              </a:rPr>
              <a:t> </a:t>
            </a:r>
            <a:r>
              <a:rPr lang="ru-RU" altLang="en-US" b="1" dirty="0" err="1">
                <a:solidFill>
                  <a:srgbClr val="00225E"/>
                </a:solidFill>
                <a:latin typeface="Times New Roman"/>
                <a:cs typeface="Times New Roman"/>
              </a:rPr>
              <a:t>қызметтерді</a:t>
            </a:r>
            <a:r>
              <a:rPr lang="ru-RU" altLang="en-US" b="1" dirty="0">
                <a:solidFill>
                  <a:srgbClr val="00225E"/>
                </a:solidFill>
                <a:latin typeface="Times New Roman"/>
                <a:cs typeface="Times New Roman"/>
              </a:rPr>
              <a:t> </a:t>
            </a:r>
            <a:r>
              <a:rPr lang="ru-RU" altLang="en-US" b="1" dirty="0" err="1">
                <a:solidFill>
                  <a:srgbClr val="00225E"/>
                </a:solidFill>
                <a:latin typeface="Times New Roman"/>
                <a:cs typeface="Times New Roman"/>
              </a:rPr>
              <a:t>талдау</a:t>
            </a:r>
            <a:endParaRPr lang="en-US" altLang="en-US" b="1" dirty="0">
              <a:solidFill>
                <a:srgbClr val="00225E"/>
              </a:solidFill>
              <a:latin typeface="Times New Roman"/>
              <a:cs typeface="Times New Roman"/>
            </a:endParaRPr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C23E5DF2-C959-3241-3DF9-7BCA67269149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063636677"/>
              </p:ext>
            </p:extLst>
          </p:nvPr>
        </p:nvGraphicFramePr>
        <p:xfrm>
          <a:off x="419473" y="2759356"/>
          <a:ext cx="5202238" cy="31083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6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34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19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2134">
                <a:tc rowSpan="4"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 sz="1800" dirty="0"/>
                    </a:p>
                    <a:p>
                      <a:pPr>
                        <a:buNone/>
                      </a:pPr>
                      <a:r>
                        <a:rPr lang="en-US" altLang="en-US" sz="1800" dirty="0"/>
                        <a:t>  </a:t>
                      </a:r>
                      <a:endParaRPr lang="en-US" altLang="zh-CN" sz="1800" dirty="0"/>
                    </a:p>
                    <a:p>
                      <a:pPr>
                        <a:buNone/>
                      </a:pPr>
                      <a:endParaRPr lang="en-US" altLang="en-US" sz="1800" dirty="0"/>
                    </a:p>
                  </a:txBody>
                  <a:tcPr marL="91439" marR="91439" marT="45736" marB="45736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altLang="en-US" sz="1600" b="1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Атауы</a:t>
                      </a:r>
                      <a:endParaRPr lang="en-US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39" marR="91439" marT="45736" marB="45736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altLang="en-US" sz="1600" b="1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Жалпы</a:t>
                      </a:r>
                      <a:r>
                        <a:rPr lang="ru-RU" altLang="en-US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 </a:t>
                      </a:r>
                      <a:r>
                        <a:rPr lang="ru-RU" altLang="en-US" sz="1600" b="1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сомасы</a:t>
                      </a:r>
                      <a:endParaRPr lang="en-US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39" marR="91439" marT="45736" marB="4573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7200">
                <a:tc vMerge="1">
                  <a:txBody>
                    <a:bodyPr/>
                    <a:lstStyle/>
                    <a:p>
                      <a:endParaRPr lang="ru-KZ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39" marR="91439" marT="45736" marB="45736"/>
                </a:tc>
                <a:tc hMerge="1"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4495">
                <a:tc vMerge="1"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600" b="1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Антенаталь</a:t>
                      </a:r>
                      <a:r>
                        <a:rPr lang="ru-RU" altLang="en-US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д</a:t>
                      </a:r>
                      <a:r>
                        <a:rPr lang="en-US" altLang="en-US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ы</a:t>
                      </a:r>
                    </a:p>
                  </a:txBody>
                  <a:tcPr marL="91439" marR="91439" marT="45736" marB="457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20 570 420,74</a:t>
                      </a:r>
                    </a:p>
                  </a:txBody>
                  <a:tcPr marL="91439" marR="91439" marT="45736" marB="4573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4495">
                <a:tc vMerge="1"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КД</a:t>
                      </a:r>
                      <a:r>
                        <a:rPr lang="kk-KZ" altLang="en-US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Қ</a:t>
                      </a:r>
                      <a:endParaRPr lang="en-US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39" marR="91439" marT="45736" marB="457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102 383 858,39</a:t>
                      </a:r>
                    </a:p>
                  </a:txBody>
                  <a:tcPr marL="91439" marR="91439" marT="45736" marB="4573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5" name="Content Placeholder 14">
            <a:extLst>
              <a:ext uri="{FF2B5EF4-FFF2-40B4-BE49-F238E27FC236}">
                <a16:creationId xmlns:a16="http://schemas.microsoft.com/office/drawing/2014/main" id="{19D5C2D8-83CA-0354-3BD3-F3FAE2F19FD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51063375"/>
              </p:ext>
            </p:extLst>
          </p:nvPr>
        </p:nvGraphicFramePr>
        <p:xfrm>
          <a:off x="6192464" y="2113990"/>
          <a:ext cx="5580062" cy="4265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3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08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5884">
                  <a:extLst>
                    <a:ext uri="{9D8B030D-6E8A-4147-A177-3AD203B41FA5}">
                      <a16:colId xmlns:a16="http://schemas.microsoft.com/office/drawing/2014/main" val="3560061439"/>
                    </a:ext>
                  </a:extLst>
                </a:gridCol>
              </a:tblGrid>
              <a:tr h="579061">
                <a:tc rowSpan="6">
                  <a:txBody>
                    <a:bodyPr/>
                    <a:lstStyle/>
                    <a:p>
                      <a:pPr>
                        <a:buNone/>
                      </a:pPr>
                      <a:endParaRPr lang="en-US" sz="1400" dirty="0"/>
                    </a:p>
                  </a:txBody>
                  <a:tcPr marL="91449" marR="91449" marT="45704" marB="45704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altLang="en-US" sz="160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Атауы</a:t>
                      </a:r>
                      <a:endParaRPr lang="en-US" altLang="en-US" sz="16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49" marR="91449" marT="45704" marB="45704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altLang="en-US" sz="160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Жалпы</a:t>
                      </a:r>
                      <a:r>
                        <a:rPr lang="ru-RU" altLang="en-US" sz="16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ru-RU" altLang="en-US" sz="160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сомасы</a:t>
                      </a:r>
                      <a:endParaRPr lang="en-US" altLang="en-US" sz="16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49" marR="91449" marT="45704" marB="4570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708">
                <a:tc vMerge="1"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49" marR="91449" marT="45704" marB="45704"/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0540">
                <a:tc vMerge="1"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altLang="en-US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Жан </a:t>
                      </a:r>
                      <a:r>
                        <a:rPr lang="ru-RU" altLang="en-US" sz="1600" b="1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басына</a:t>
                      </a:r>
                      <a:r>
                        <a:rPr lang="ru-RU" altLang="en-US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ru-RU" altLang="en-US" sz="1600" b="1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шаққандағы</a:t>
                      </a:r>
                      <a:r>
                        <a:rPr lang="ru-RU" altLang="en-US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ru-RU" altLang="en-US" sz="1600" b="1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нормативтік</a:t>
                      </a:r>
                      <a:r>
                        <a:rPr lang="ru-RU" altLang="en-US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ru-RU" altLang="en-US" sz="1600" b="1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қаржыландыру</a:t>
                      </a:r>
                      <a:r>
                        <a:rPr lang="ru-RU" altLang="en-US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(ЖБШН) (КПН)</a:t>
                      </a:r>
                      <a:endParaRPr lang="en-US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49" marR="91449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328 157 803,23</a:t>
                      </a:r>
                      <a:endParaRPr lang="ru-RU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49" marR="91449" marT="45704" marB="4570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888">
                <a:tc vMerge="1"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altLang="en-US" sz="1600" b="1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Ынталандырушы</a:t>
                      </a:r>
                      <a:r>
                        <a:rPr lang="ru-RU" altLang="en-US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компонент (СК)</a:t>
                      </a:r>
                      <a:endParaRPr lang="en-US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49" marR="91449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16 609 200</a:t>
                      </a:r>
                      <a:endParaRPr lang="ru-RU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49" marR="91449" marT="45704" marB="4570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7708">
                <a:tc vMerge="1"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4 </a:t>
                      </a:r>
                      <a:r>
                        <a:rPr lang="ru-RU" altLang="en-US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категория</a:t>
                      </a:r>
                      <a:endParaRPr lang="en-US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49" marR="91449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6 089 619,42</a:t>
                      </a:r>
                      <a:endParaRPr lang="ru-RU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49" marR="91449" marT="45704" marB="4570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7708">
                <a:tc vMerge="1"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КД</a:t>
                      </a:r>
                      <a:r>
                        <a:rPr lang="kk-KZ" altLang="en-US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Қ</a:t>
                      </a:r>
                      <a:endParaRPr lang="en-US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49" marR="91449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14 661 336,41</a:t>
                      </a:r>
                      <a:endParaRPr lang="ru-RU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49" marR="91449" marT="45704" marB="4570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459" name="Text Box 3">
            <a:extLst>
              <a:ext uri="{FF2B5EF4-FFF2-40B4-BE49-F238E27FC236}">
                <a16:creationId xmlns:a16="http://schemas.microsoft.com/office/drawing/2014/main" id="{48D0C7DE-1C34-F55E-A7A0-3BBBD5302C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7601" y="1497013"/>
            <a:ext cx="5113992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 жылғы келісім шарт бойынша 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қаржыландыру </a:t>
            </a:r>
          </a:p>
        </p:txBody>
      </p:sp>
      <p:sp>
        <p:nvSpPr>
          <p:cNvPr id="17460" name="Text Box 5">
            <a:extLst>
              <a:ext uri="{FF2B5EF4-FFF2-40B4-BE49-F238E27FC236}">
                <a16:creationId xmlns:a16="http://schemas.microsoft.com/office/drawing/2014/main" id="{CDBCC5C4-E6AC-A3DE-A13B-8F448F52C7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901" y="1493371"/>
            <a:ext cx="51101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 жылғы келісім шарт бойынша 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қаржыландыру 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FC63D41F-84D9-DD0A-A02C-24AEE94EA9FB}"/>
              </a:ext>
            </a:extLst>
          </p:cNvPr>
          <p:cNvSpPr/>
          <p:nvPr/>
        </p:nvSpPr>
        <p:spPr>
          <a:xfrm>
            <a:off x="568104" y="3380443"/>
            <a:ext cx="1291590" cy="1645285"/>
          </a:xfrm>
          <a:prstGeom prst="roundRect">
            <a:avLst/>
          </a:prstGeom>
          <a:gradFill rotWithShape="0">
            <a:gsLst>
              <a:gs pos="0">
                <a:srgbClr val="14CD68"/>
              </a:gs>
              <a:gs pos="100000">
                <a:srgbClr val="035C7D"/>
              </a:gs>
            </a:gsLst>
            <a:lin ang="5400000" scaled="0"/>
          </a:gradFill>
          <a:ln w="9525" cap="flat" cmpd="sng" algn="ctr">
            <a:gradFill>
              <a:gsLst>
                <a:gs pos="0">
                  <a:srgbClr val="14CD68"/>
                </a:gs>
                <a:gs pos="100000">
                  <a:srgbClr val="035C7D"/>
                </a:gs>
              </a:gsLst>
            </a:gra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solidFill>
                <a:prstClr val="black"/>
              </a:solidFill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7464" name="Text Box 22">
            <a:extLst>
              <a:ext uri="{FF2B5EF4-FFF2-40B4-BE49-F238E27FC236}">
                <a16:creationId xmlns:a16="http://schemas.microsoft.com/office/drawing/2014/main" id="{94FDE5D1-9A01-1B4D-AFF7-FE3E5605B0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985" y="3841563"/>
            <a:ext cx="1214438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k-KZ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МӘМС</a:t>
            </a:r>
            <a:endParaRPr lang="en-US" altLang="en-US" sz="2400" b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2400" b="1">
              <a:solidFill>
                <a:srgbClr val="000000"/>
              </a:solidFill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231A8403-289E-827E-B158-647E2076861B}"/>
              </a:ext>
            </a:extLst>
          </p:cNvPr>
          <p:cNvSpPr/>
          <p:nvPr/>
        </p:nvSpPr>
        <p:spPr>
          <a:xfrm>
            <a:off x="6310182" y="2729527"/>
            <a:ext cx="1786466" cy="2338746"/>
          </a:xfrm>
          <a:prstGeom prst="roundRect">
            <a:avLst/>
          </a:prstGeom>
          <a:gradFill rotWithShape="0">
            <a:gsLst>
              <a:gs pos="0">
                <a:srgbClr val="14CD68"/>
              </a:gs>
              <a:gs pos="100000">
                <a:srgbClr val="035C7D"/>
              </a:gs>
            </a:gsLst>
            <a:lin ang="5400000" scaled="0"/>
          </a:gradFill>
          <a:ln w="9525" cap="flat" cmpd="sng" algn="ctr">
            <a:gradFill>
              <a:gsLst>
                <a:gs pos="0">
                  <a:srgbClr val="14CD68"/>
                </a:gs>
                <a:gs pos="100000">
                  <a:srgbClr val="035C7D"/>
                </a:gs>
              </a:gsLst>
            </a:gra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solidFill>
                <a:prstClr val="black"/>
              </a:solidFill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7468" name="Text Box 24">
            <a:extLst>
              <a:ext uri="{FF2B5EF4-FFF2-40B4-BE49-F238E27FC236}">
                <a16:creationId xmlns:a16="http://schemas.microsoft.com/office/drawing/2014/main" id="{2999E3D3-58F0-5D6D-47F6-CB97CAE545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7875" y="2806700"/>
            <a:ext cx="2690813" cy="218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40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</a:t>
            </a:r>
            <a:endParaRPr lang="en-US" altLang="en-US" sz="4000" b="1">
              <a:solidFill>
                <a:srgbClr val="000000"/>
              </a:solidFill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k-KZ" altLang="en-US" sz="1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ТМКК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kk-KZ" altLang="en-US" sz="1800" b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k-KZ" altLang="en-US" sz="1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(Т</a:t>
            </a:r>
            <a:r>
              <a:rPr lang="ru-RU" alt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егін медициналық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көмектің кепілдік 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берілген көлемі)</a:t>
            </a:r>
            <a:endParaRPr lang="en-US" altLang="en-US" sz="1400" b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C134DC58-5027-FB41-1E20-56C0D1213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47581" y="2148"/>
            <a:ext cx="13036923" cy="585882"/>
          </a:xfrm>
        </p:spPr>
        <p:txBody>
          <a:bodyPr/>
          <a:lstStyle/>
          <a:p>
            <a:pPr algn="ctr" eaLnBrk="1" hangingPunct="1"/>
            <a:r>
              <a:rPr lang="en-US" altLang="en-US" sz="2800" b="1" dirty="0">
                <a:solidFill>
                  <a:srgbClr val="00225E"/>
                </a:solidFill>
                <a:latin typeface="Times New Roman"/>
                <a:cs typeface="Times New Roman"/>
              </a:rPr>
              <a:t>ҚАРЖЫ ШАРУАШЫЛЫҚ ҚЫЗМЕТТІ ТАЛДАУ 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7B01792-E584-48E1-4AA2-F17009F7D33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890803887"/>
              </p:ext>
            </p:extLst>
          </p:nvPr>
        </p:nvGraphicFramePr>
        <p:xfrm>
          <a:off x="280146" y="818029"/>
          <a:ext cx="5773578" cy="4770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45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45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45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5771">
                <a:tc rowSpan="8">
                  <a:txBody>
                    <a:bodyPr/>
                    <a:lstStyle/>
                    <a:p>
                      <a:pPr>
                        <a:buNone/>
                      </a:pPr>
                      <a:endParaRPr lang="en-US" sz="13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42" marR="91442" marT="45732" marB="45732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4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Атауы</a:t>
                      </a:r>
                    </a:p>
                  </a:txBody>
                  <a:tcPr marL="91442" marR="91442" marT="45732" marB="45732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4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Соммасы</a:t>
                      </a:r>
                    </a:p>
                  </a:txBody>
                  <a:tcPr marL="91442" marR="91442" marT="45732" marB="4573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771">
                <a:tc vMerge="1"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en-US" sz="1100" b="0" dirty="0">
                          <a:latin typeface="Times New Roman"/>
                          <a:cs typeface="Times New Roman"/>
                        </a:rPr>
                        <a:t>КД</a:t>
                      </a:r>
                      <a:r>
                        <a:rPr lang="kk-KZ" altLang="en-US" sz="1100" b="0" dirty="0">
                          <a:latin typeface="Times New Roman"/>
                          <a:cs typeface="Times New Roman"/>
                        </a:rPr>
                        <a:t>Қ</a:t>
                      </a:r>
                      <a:endParaRPr lang="en-US" altLang="en-US" sz="1100" b="0" dirty="0">
                        <a:latin typeface="Times New Roman"/>
                        <a:cs typeface="Times New Roman"/>
                      </a:endParaRPr>
                    </a:p>
                  </a:txBody>
                  <a:tcPr marL="91442" marR="91442" marT="45732" marB="45732"/>
                </a:tc>
                <a:tc>
                  <a:txBody>
                    <a:bodyPr/>
                    <a:lstStyle/>
                    <a:p>
                      <a:r>
                        <a:rPr lang="ru-RU" sz="1400" b="1" dirty="0">
                          <a:latin typeface="Times New Roman"/>
                          <a:cs typeface="Times New Roman"/>
                        </a:rPr>
                        <a:t>17 763 319,73</a:t>
                      </a:r>
                      <a:endParaRPr lang="ru-RU" sz="1400" dirty="0">
                        <a:latin typeface="Times New Roman"/>
                      </a:endParaRPr>
                    </a:p>
                  </a:txBody>
                  <a:tcPr marL="91442" marR="91442" marT="45732" marB="4573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722">
                <a:tc vMerge="1"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noProof="0" dirty="0" err="1">
                          <a:solidFill>
                            <a:srgbClr val="000000"/>
                          </a:solidFill>
                          <a:latin typeface="Times New Roman"/>
                        </a:rPr>
                        <a:t>Антенатальды</a:t>
                      </a:r>
                      <a:r>
                        <a:rPr lang="ru-RU" sz="11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 </a:t>
                      </a:r>
                      <a:endParaRPr lang="ru-RU" sz="1100" dirty="0">
                        <a:latin typeface="Times New Roman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noProof="0" dirty="0" err="1">
                          <a:solidFill>
                            <a:srgbClr val="000000"/>
                          </a:solidFill>
                          <a:latin typeface="Times New Roman"/>
                        </a:rPr>
                        <a:t>бақылау</a:t>
                      </a:r>
                      <a:endParaRPr lang="ru-RU" sz="1100" dirty="0">
                        <a:latin typeface="Times New Roman"/>
                      </a:endParaRPr>
                    </a:p>
                  </a:txBody>
                  <a:tcPr marL="91442" marR="91442" marT="45732" marB="45732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3 736 387.11</a:t>
                      </a:r>
                      <a:endParaRPr lang="ru-RU" sz="1400" dirty="0">
                        <a:latin typeface="Times New Roman"/>
                      </a:endParaRPr>
                    </a:p>
                    <a:p>
                      <a:pPr lvl="0">
                        <a:buNone/>
                      </a:pPr>
                      <a:endParaRPr lang="ru-RU" sz="1400" b="1" dirty="0">
                        <a:latin typeface="Times New Roman"/>
                        <a:cs typeface="Times New Roman"/>
                      </a:endParaRPr>
                    </a:p>
                  </a:txBody>
                  <a:tcPr marL="91442" marR="91442" marT="45732" marB="4573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5771">
                <a:tc vMerge="1"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ТМККК</a:t>
                      </a:r>
                      <a:endParaRPr lang="ru-RU" sz="1100" dirty="0">
                        <a:latin typeface="Times New Roman"/>
                      </a:endParaRPr>
                    </a:p>
                  </a:txBody>
                  <a:tcPr marL="91442" marR="91442" marT="45732" marB="45732"/>
                </a:tc>
                <a:tc>
                  <a:txBody>
                    <a:bodyPr/>
                    <a:lstStyle/>
                    <a:p>
                      <a:endParaRPr lang="ru-RU" sz="1400" b="1" dirty="0">
                        <a:latin typeface="Times New Roman"/>
                        <a:cs typeface="Times New Roman"/>
                      </a:endParaRPr>
                    </a:p>
                  </a:txBody>
                  <a:tcPr marL="91442" marR="91442" marT="45732" marB="4573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8980">
                <a:tc vMerge="1"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Жан </a:t>
                      </a:r>
                      <a:r>
                        <a:rPr lang="ru-RU" sz="1100" b="0" i="0" u="none" strike="noStrike" noProof="0" dirty="0" err="1">
                          <a:solidFill>
                            <a:srgbClr val="000000"/>
                          </a:solidFill>
                          <a:latin typeface="Times New Roman"/>
                        </a:rPr>
                        <a:t>басына</a:t>
                      </a:r>
                      <a:r>
                        <a:rPr lang="ru-RU" sz="11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lang="ru-RU" sz="1100" b="0" i="0" u="none" strike="noStrike" noProof="0" dirty="0" err="1">
                          <a:solidFill>
                            <a:srgbClr val="000000"/>
                          </a:solidFill>
                          <a:latin typeface="Times New Roman"/>
                        </a:rPr>
                        <a:t>шаққандағы</a:t>
                      </a:r>
                      <a:r>
                        <a:rPr lang="ru-RU" sz="11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lang="ru-RU" sz="1100" b="0" i="0" u="none" strike="noStrike" noProof="0" dirty="0" err="1">
                          <a:solidFill>
                            <a:srgbClr val="000000"/>
                          </a:solidFill>
                          <a:latin typeface="Times New Roman"/>
                        </a:rPr>
                        <a:t>кешенді</a:t>
                      </a:r>
                      <a:r>
                        <a:rPr lang="ru-RU" sz="11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стандарт </a:t>
                      </a:r>
                      <a:r>
                        <a:rPr lang="ru-RU" sz="1100" b="0" i="0" u="none" strike="noStrike" noProof="0" dirty="0" err="1">
                          <a:solidFill>
                            <a:srgbClr val="000000"/>
                          </a:solidFill>
                          <a:latin typeface="Times New Roman"/>
                        </a:rPr>
                        <a:t>бойынша</a:t>
                      </a:r>
                      <a:r>
                        <a:rPr lang="ru-RU" sz="11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lang="ru-RU" sz="1100" b="0" i="0" u="none" strike="noStrike" noProof="0" dirty="0" err="1">
                          <a:solidFill>
                            <a:srgbClr val="000000"/>
                          </a:solidFill>
                          <a:latin typeface="Times New Roman"/>
                        </a:rPr>
                        <a:t>алғашқы</a:t>
                      </a:r>
                      <a:r>
                        <a:rPr lang="ru-RU" sz="11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lang="ru-RU" sz="1100" b="0" i="0" u="none" strike="noStrike" noProof="0" dirty="0" err="1">
                          <a:solidFill>
                            <a:srgbClr val="000000"/>
                          </a:solidFill>
                          <a:latin typeface="Times New Roman"/>
                        </a:rPr>
                        <a:t>медициналық-санитарлық</a:t>
                      </a:r>
                      <a:r>
                        <a:rPr lang="ru-RU" sz="11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lang="ru-RU" sz="1100" b="0" i="0" u="none" strike="noStrike" noProof="0" dirty="0" err="1">
                          <a:solidFill>
                            <a:srgbClr val="000000"/>
                          </a:solidFill>
                          <a:latin typeface="Times New Roman"/>
                        </a:rPr>
                        <a:t>көмек</a:t>
                      </a:r>
                      <a:endParaRPr lang="ru-RU" sz="1100" dirty="0">
                        <a:latin typeface="Times New Roman"/>
                      </a:endParaRPr>
                    </a:p>
                  </a:txBody>
                  <a:tcPr marL="91442" marR="91442" marT="45732" marB="45732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63392709.05</a:t>
                      </a:r>
                      <a:endParaRPr lang="ru-RU" sz="1400" dirty="0">
                        <a:latin typeface="Times New Roman"/>
                      </a:endParaRPr>
                    </a:p>
                    <a:p>
                      <a:pPr lvl="0">
                        <a:buNone/>
                      </a:pPr>
                      <a:endParaRPr lang="ru-RU" sz="1400" b="1" dirty="0">
                        <a:latin typeface="Times New Roman"/>
                        <a:cs typeface="Times New Roman"/>
                      </a:endParaRPr>
                    </a:p>
                  </a:txBody>
                  <a:tcPr marL="91442" marR="91442" marT="45732" marB="45732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722">
                <a:tc vMerge="1"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Жан </a:t>
                      </a:r>
                      <a:r>
                        <a:rPr lang="ru-RU" sz="1100" b="0" i="0" u="none" strike="noStrike" noProof="0" dirty="0" err="1">
                          <a:solidFill>
                            <a:srgbClr val="000000"/>
                          </a:solidFill>
                          <a:latin typeface="Times New Roman"/>
                        </a:rPr>
                        <a:t>басына</a:t>
                      </a:r>
                      <a:r>
                        <a:rPr lang="ru-RU" sz="11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lang="ru-RU" sz="1100" b="0" i="0" u="none" strike="noStrike" noProof="0" dirty="0" err="1">
                          <a:solidFill>
                            <a:srgbClr val="000000"/>
                          </a:solidFill>
                          <a:latin typeface="Times New Roman"/>
                        </a:rPr>
                        <a:t>шаққандағы</a:t>
                      </a:r>
                      <a:r>
                        <a:rPr lang="ru-RU" sz="11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lang="ru-RU" sz="1100" b="0" i="0" u="none" strike="noStrike" noProof="0" dirty="0" err="1">
                          <a:solidFill>
                            <a:srgbClr val="000000"/>
                          </a:solidFill>
                          <a:latin typeface="Times New Roman"/>
                        </a:rPr>
                        <a:t>стандарттың</a:t>
                      </a:r>
                      <a:r>
                        <a:rPr lang="ru-RU" sz="11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lang="ru-RU" sz="1100" b="0" i="0" u="none" strike="noStrike" noProof="0" dirty="0" err="1">
                          <a:solidFill>
                            <a:srgbClr val="000000"/>
                          </a:solidFill>
                          <a:latin typeface="Times New Roman"/>
                        </a:rPr>
                        <a:t>ынталандыру</a:t>
                      </a:r>
                      <a:r>
                        <a:rPr lang="ru-RU" sz="11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lang="ru-RU" sz="1100" b="0" i="0" u="none" strike="noStrike" noProof="0" dirty="0" err="1">
                          <a:solidFill>
                            <a:srgbClr val="000000"/>
                          </a:solidFill>
                          <a:latin typeface="Times New Roman"/>
                        </a:rPr>
                        <a:t>компоненті</a:t>
                      </a:r>
                      <a:endParaRPr lang="ru-RU" sz="1100" dirty="0">
                        <a:latin typeface="Times New Roman"/>
                      </a:endParaRPr>
                    </a:p>
                  </a:txBody>
                  <a:tcPr marL="91442" marR="91442" marT="45732" marB="45732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3198305,52</a:t>
                      </a:r>
                      <a:endParaRPr lang="ru-RU" sz="1400" dirty="0">
                        <a:latin typeface="Times New Roman"/>
                      </a:endParaRPr>
                    </a:p>
                    <a:p>
                      <a:pPr lvl="0">
                        <a:buNone/>
                      </a:pPr>
                      <a:endParaRPr lang="ru-RU" sz="1400" b="1" dirty="0">
                        <a:latin typeface="Times New Roman"/>
                        <a:cs typeface="Times New Roman"/>
                      </a:endParaRPr>
                    </a:p>
                  </a:txBody>
                  <a:tcPr marL="91442" marR="91442" marT="45732" marB="45732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2440">
                <a:tc vMerge="1"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4-ші (</a:t>
                      </a:r>
                      <a:r>
                        <a:rPr lang="ru-RU" sz="1100" b="0" i="0" u="none" strike="noStrike" noProof="0" dirty="0" err="1">
                          <a:solidFill>
                            <a:srgbClr val="000000"/>
                          </a:solidFill>
                          <a:latin typeface="Times New Roman"/>
                        </a:rPr>
                        <a:t>төртінші</a:t>
                      </a:r>
                      <a:r>
                        <a:rPr lang="ru-RU" sz="11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) </a:t>
                      </a:r>
                      <a:r>
                        <a:rPr lang="ru-RU" sz="1100" b="0" i="0" u="none" strike="noStrike" noProof="0" dirty="0" err="1">
                          <a:solidFill>
                            <a:srgbClr val="000000"/>
                          </a:solidFill>
                          <a:latin typeface="Times New Roman"/>
                        </a:rPr>
                        <a:t>санаттағы</a:t>
                      </a:r>
                      <a:r>
                        <a:rPr lang="ru-RU" sz="11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lang="ru-RU" sz="1100" b="0" i="0" u="none" strike="noStrike" noProof="0" dirty="0" err="1">
                          <a:solidFill>
                            <a:srgbClr val="000000"/>
                          </a:solidFill>
                          <a:latin typeface="Times New Roman"/>
                        </a:rPr>
                        <a:t>шұғыл</a:t>
                      </a:r>
                      <a:r>
                        <a:rPr lang="ru-RU" sz="11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lang="ru-RU" sz="1100" b="0" i="0" u="none" strike="noStrike" noProof="0" dirty="0" err="1">
                          <a:solidFill>
                            <a:srgbClr val="000000"/>
                          </a:solidFill>
                          <a:latin typeface="Times New Roman"/>
                        </a:rPr>
                        <a:t>қызмет</a:t>
                      </a:r>
                      <a:r>
                        <a:rPr lang="ru-RU" sz="11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lang="ru-RU" sz="1100" b="0" i="0" u="none" strike="noStrike" noProof="0" dirty="0" err="1">
                          <a:solidFill>
                            <a:srgbClr val="000000"/>
                          </a:solidFill>
                          <a:latin typeface="Times New Roman"/>
                        </a:rPr>
                        <a:t>көрсету</a:t>
                      </a:r>
                      <a:r>
                        <a:rPr lang="ru-RU" sz="11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lang="ru-RU" sz="1100" b="0" i="0" u="none" strike="noStrike" noProof="0" dirty="0" err="1">
                          <a:solidFill>
                            <a:srgbClr val="000000"/>
                          </a:solidFill>
                          <a:latin typeface="Times New Roman"/>
                        </a:rPr>
                        <a:t>шақырулары</a:t>
                      </a:r>
                      <a:endParaRPr lang="ru-RU" sz="1100" dirty="0">
                        <a:latin typeface="Times New Roman"/>
                      </a:endParaRPr>
                    </a:p>
                  </a:txBody>
                  <a:tcPr marL="91442" marR="91442" marT="45732" marB="45732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1899318,07</a:t>
                      </a:r>
                      <a:endParaRPr lang="ru-RU" sz="1400" dirty="0">
                        <a:latin typeface="Times New Roman"/>
                      </a:endParaRPr>
                    </a:p>
                    <a:p>
                      <a:pPr lvl="0">
                        <a:buNone/>
                      </a:pPr>
                      <a:endParaRPr lang="ru-RU" sz="1400" b="1" dirty="0">
                        <a:latin typeface="Times New Roman"/>
                        <a:cs typeface="Times New Roman"/>
                      </a:endParaRPr>
                    </a:p>
                  </a:txBody>
                  <a:tcPr marL="91442" marR="91442" marT="45732" marB="45732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55519">
                <a:tc vMerge="1"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noProof="0" dirty="0" err="1">
                          <a:solidFill>
                            <a:srgbClr val="000000"/>
                          </a:solidFill>
                          <a:latin typeface="Times New Roman"/>
                        </a:rPr>
                        <a:t>Мемлекеттік</a:t>
                      </a:r>
                      <a:r>
                        <a:rPr lang="ru-RU" sz="11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lang="ru-RU" sz="1100" b="0" i="0" u="none" strike="noStrike" noProof="0" dirty="0" err="1">
                          <a:solidFill>
                            <a:srgbClr val="000000"/>
                          </a:solidFill>
                          <a:latin typeface="Times New Roman"/>
                        </a:rPr>
                        <a:t>медициналық</a:t>
                      </a:r>
                      <a:r>
                        <a:rPr lang="ru-RU" sz="11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lang="ru-RU" sz="1100" b="0" i="0" u="none" strike="noStrike" noProof="0" dirty="0" err="1">
                          <a:solidFill>
                            <a:srgbClr val="000000"/>
                          </a:solidFill>
                          <a:latin typeface="Times New Roman"/>
                        </a:rPr>
                        <a:t>көмек</a:t>
                      </a:r>
                      <a:r>
                        <a:rPr lang="ru-RU" sz="11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lang="ru-RU" sz="1100" b="0" i="0" u="none" strike="noStrike" noProof="0" dirty="0" err="1">
                          <a:solidFill>
                            <a:srgbClr val="000000"/>
                          </a:solidFill>
                          <a:latin typeface="Times New Roman"/>
                        </a:rPr>
                        <a:t>қоры</a:t>
                      </a:r>
                      <a:r>
                        <a:rPr lang="ru-RU" sz="11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lang="ru-RU" sz="1100" b="0" i="0" u="none" strike="noStrike" noProof="0" dirty="0" err="1">
                          <a:solidFill>
                            <a:srgbClr val="000000"/>
                          </a:solidFill>
                          <a:latin typeface="Times New Roman"/>
                        </a:rPr>
                        <a:t>шеңберінде</a:t>
                      </a:r>
                      <a:r>
                        <a:rPr lang="ru-RU" sz="11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lang="ru-RU" sz="1100" b="0" i="0" u="none" strike="noStrike" noProof="0" dirty="0" err="1">
                          <a:solidFill>
                            <a:srgbClr val="000000"/>
                          </a:solidFill>
                          <a:latin typeface="Times New Roman"/>
                        </a:rPr>
                        <a:t>консультациялық-диагностикалық</a:t>
                      </a:r>
                      <a:r>
                        <a:rPr lang="ru-RU" sz="11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lang="ru-RU" sz="1100" b="0" i="0" u="none" strike="noStrike" noProof="0" dirty="0" err="1">
                          <a:solidFill>
                            <a:srgbClr val="000000"/>
                          </a:solidFill>
                          <a:latin typeface="Times New Roman"/>
                        </a:rPr>
                        <a:t>қызметтер</a:t>
                      </a:r>
                      <a:r>
                        <a:rPr lang="ru-RU" sz="11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(1 </a:t>
                      </a:r>
                      <a:r>
                        <a:rPr lang="ru-RU" sz="1100" b="0" i="0" u="none" strike="noStrike" noProof="0" dirty="0" err="1">
                          <a:solidFill>
                            <a:srgbClr val="000000"/>
                          </a:solidFill>
                          <a:latin typeface="Times New Roman"/>
                        </a:rPr>
                        <a:t>тағайындалған</a:t>
                      </a:r>
                      <a:r>
                        <a:rPr lang="ru-RU" sz="11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lang="ru-RU" sz="1100" b="0" i="0" u="none" strike="noStrike" noProof="0" dirty="0" err="1">
                          <a:solidFill>
                            <a:srgbClr val="000000"/>
                          </a:solidFill>
                          <a:latin typeface="Times New Roman"/>
                        </a:rPr>
                        <a:t>тұрғынға</a:t>
                      </a:r>
                      <a:r>
                        <a:rPr lang="ru-RU" sz="11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lang="ru-RU" sz="1100" b="0" i="0" u="none" strike="noStrike" noProof="0" dirty="0" err="1">
                          <a:solidFill>
                            <a:srgbClr val="000000"/>
                          </a:solidFill>
                          <a:latin typeface="Times New Roman"/>
                        </a:rPr>
                        <a:t>арналған</a:t>
                      </a:r>
                      <a:r>
                        <a:rPr lang="ru-RU" sz="11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КДУ </a:t>
                      </a:r>
                      <a:r>
                        <a:rPr lang="ru-RU" sz="1100" b="0" i="0" u="none" strike="noStrike" noProof="0" dirty="0" err="1">
                          <a:solidFill>
                            <a:srgbClr val="000000"/>
                          </a:solidFill>
                          <a:latin typeface="Times New Roman"/>
                        </a:rPr>
                        <a:t>жиынтығы</a:t>
                      </a:r>
                      <a:r>
                        <a:rPr lang="ru-RU" sz="11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)</a:t>
                      </a:r>
                      <a:endParaRPr lang="ru-RU" sz="1100" dirty="0">
                        <a:latin typeface="Times New Roman"/>
                      </a:endParaRPr>
                    </a:p>
                  </a:txBody>
                  <a:tcPr marL="91442" marR="91442" marT="45732" marB="45732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1802793,07</a:t>
                      </a:r>
                      <a:endParaRPr lang="ru-RU" sz="1400" dirty="0">
                        <a:latin typeface="Times New Roman"/>
                      </a:endParaRPr>
                    </a:p>
                    <a:p>
                      <a:pPr lvl="0">
                        <a:buNone/>
                      </a:pPr>
                      <a:endParaRPr lang="ru-RU" sz="1400" b="1" dirty="0">
                        <a:latin typeface="Times New Roman"/>
                        <a:cs typeface="Times New Roman"/>
                      </a:endParaRPr>
                    </a:p>
                  </a:txBody>
                  <a:tcPr marL="91442" marR="91442" marT="45732" marB="45732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666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3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42" marR="91442" marT="45732" marB="4573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100" b="0" dirty="0">
                          <a:latin typeface="Times New Roman"/>
                          <a:cs typeface="Times New Roman"/>
                          <a:sym typeface="+mn-ea"/>
                        </a:rPr>
                        <a:t>С</a:t>
                      </a:r>
                      <a:r>
                        <a:rPr lang="kk-KZ" altLang="en-US" sz="1100" b="0" dirty="0">
                          <a:latin typeface="Times New Roman"/>
                          <a:cs typeface="Times New Roman"/>
                          <a:sym typeface="+mn-ea"/>
                        </a:rPr>
                        <a:t>АЖ</a:t>
                      </a:r>
                      <a:endParaRPr lang="en-US" altLang="en-US" sz="1100" b="0" dirty="0">
                        <a:latin typeface="Times New Roman"/>
                        <a:cs typeface="Times New Roman"/>
                        <a:sym typeface="+mn-ea"/>
                      </a:endParaRPr>
                    </a:p>
                  </a:txBody>
                  <a:tcPr marL="91442" marR="91442" marT="45732" marB="45732"/>
                </a:tc>
                <a:tc>
                  <a:txBody>
                    <a:bodyPr/>
                    <a:lstStyle/>
                    <a:p>
                      <a:r>
                        <a:rPr lang="ru-RU" sz="1000" b="1" dirty="0">
                          <a:latin typeface="Times New Roman"/>
                          <a:cs typeface="Times New Roman"/>
                        </a:rPr>
                        <a:t>0</a:t>
                      </a:r>
                    </a:p>
                  </a:txBody>
                  <a:tcPr marL="91442" marR="91442" marT="45732" marB="45732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CCAB00C5-9DF8-3021-DB3E-934934C4B1A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867595535"/>
              </p:ext>
            </p:extLst>
          </p:nvPr>
        </p:nvGraphicFramePr>
        <p:xfrm>
          <a:off x="6137835" y="842682"/>
          <a:ext cx="5713413" cy="46933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44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44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44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0788">
                <a:tc rowSpan="11">
                  <a:txBody>
                    <a:bodyPr/>
                    <a:lstStyle/>
                    <a:p>
                      <a:pPr>
                        <a:buNone/>
                      </a:pPr>
                      <a:endParaRPr lang="en-US" sz="14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30" marR="91430" marT="45715" marB="4571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4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Атауы</a:t>
                      </a:r>
                    </a:p>
                  </a:txBody>
                  <a:tcPr marL="91430" marR="91430" marT="45715" marB="4571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altLang="en-US" sz="14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С</a:t>
                      </a:r>
                      <a:r>
                        <a:rPr lang="en-US" altLang="en-US" sz="14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оммасы</a:t>
                      </a:r>
                      <a:r>
                        <a:rPr lang="en-US" altLang="en-US" sz="1400" b="1" baseline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endParaRPr lang="en-US" altLang="en-US" sz="14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30" marR="91430" marT="45715" marB="4571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457">
                <a:tc vMerge="1"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k-KZ" altLang="en-US" sz="1200" b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ҚДҚ</a:t>
                      </a:r>
                      <a:endParaRPr lang="en-US" altLang="en-US" sz="1200" b="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30" marR="91430" marT="45715" marB="45715"/>
                </a:tc>
                <a:tc>
                  <a:txBody>
                    <a:bodyPr/>
                    <a:lstStyle/>
                    <a:p>
                      <a:r>
                        <a:rPr lang="ru-RU" sz="1200" b="1" dirty="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102 383 858,39</a:t>
                      </a:r>
                      <a:endParaRPr lang="ru-RU" sz="12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30" marR="91430" marT="45715" marB="4571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9783">
                <a:tc vMerge="1"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altLang="en-US" sz="120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Оқушыларға</a:t>
                      </a:r>
                      <a:r>
                        <a:rPr lang="ru-RU" alt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ru-RU" altLang="en-US" sz="120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қызмет</a:t>
                      </a:r>
                      <a:r>
                        <a:rPr lang="ru-RU" alt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ru-RU" altLang="en-US" sz="120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көрсету</a:t>
                      </a:r>
                      <a:endParaRPr lang="en-US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30" marR="91430" marT="45715" marB="45715"/>
                </a:tc>
                <a:tc>
                  <a:txBody>
                    <a:bodyPr/>
                    <a:lstStyle/>
                    <a:p>
                      <a:r>
                        <a:rPr lang="ru-RU" sz="1200" b="1" dirty="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17 120 204,4</a:t>
                      </a:r>
                      <a:endParaRPr lang="ru-RU" sz="12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endParaRPr lang="ru-RU" sz="12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30" marR="91430" marT="45715" marB="4571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457">
                <a:tc vMerge="1"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altLang="en-US" sz="1200" b="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Антенатальды</a:t>
                      </a:r>
                      <a:endParaRPr lang="en-US" altLang="en-US" sz="1200" b="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30" marR="91430" marT="45715" marB="45715"/>
                </a:tc>
                <a:tc>
                  <a:txBody>
                    <a:bodyPr/>
                    <a:lstStyle/>
                    <a:p>
                      <a:r>
                        <a:rPr lang="ru-RU" sz="1200" b="1" dirty="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20 570 420,74</a:t>
                      </a:r>
                      <a:endParaRPr lang="ru-RU" sz="12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30" marR="91430" marT="45715" marB="4571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737">
                <a:tc vMerge="1"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altLang="en-US" sz="1200" b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МӘМС </a:t>
                      </a:r>
                      <a:r>
                        <a:rPr lang="ru-RU" altLang="en-US" sz="1200" b="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жүйесінде</a:t>
                      </a:r>
                      <a:r>
                        <a:rPr lang="ru-RU" altLang="en-US" sz="1200" b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ru-RU" altLang="en-US" sz="1200" b="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прегравидальды</a:t>
                      </a:r>
                      <a:r>
                        <a:rPr lang="ru-RU" altLang="en-US" sz="1200" b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kk-KZ" altLang="en-US" sz="1200" b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КДО</a:t>
                      </a:r>
                      <a:endParaRPr lang="en-US" altLang="en-US" sz="1200" b="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30" marR="91430" marT="45715" marB="45715"/>
                </a:tc>
                <a:tc>
                  <a:txBody>
                    <a:bodyPr/>
                    <a:lstStyle/>
                    <a:p>
                      <a:r>
                        <a:rPr lang="ru-RU" sz="12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2 680 902,93</a:t>
                      </a:r>
                    </a:p>
                  </a:txBody>
                  <a:tcPr marL="91430" marR="91430" marT="45715" marB="45715"/>
                </a:tc>
                <a:extLst>
                  <a:ext uri="{0D108BD9-81ED-4DB2-BD59-A6C34878D82A}">
                    <a16:rowId xmlns:a16="http://schemas.microsoft.com/office/drawing/2014/main" val="2068650173"/>
                  </a:ext>
                </a:extLst>
              </a:tr>
              <a:tr h="432737">
                <a:tc vMerge="1"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altLang="en-US" sz="1200" dirty="0" err="1">
                          <a:latin typeface="Times New Roman"/>
                          <a:cs typeface="Times New Roman"/>
                        </a:rPr>
                        <a:t>Балаларды</a:t>
                      </a:r>
                      <a:r>
                        <a:rPr lang="ru-RU" altLang="en-US" sz="1200" baseline="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altLang="en-US" sz="1200" dirty="0">
                          <a:latin typeface="Times New Roman"/>
                          <a:cs typeface="Times New Roman"/>
                        </a:rPr>
                        <a:t>Проф. </a:t>
                      </a:r>
                      <a:r>
                        <a:rPr lang="ru-RU" altLang="en-US" sz="1200" dirty="0" err="1">
                          <a:latin typeface="Times New Roman"/>
                          <a:cs typeface="Times New Roman"/>
                        </a:rPr>
                        <a:t>бақылаудан</a:t>
                      </a:r>
                      <a:r>
                        <a:rPr lang="ru-RU" altLang="en-US"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altLang="en-US" sz="1200" dirty="0" err="1">
                          <a:latin typeface="Times New Roman"/>
                          <a:cs typeface="Times New Roman"/>
                        </a:rPr>
                        <a:t>өткізу</a:t>
                      </a:r>
                      <a:endParaRPr lang="en-US" altLang="en-US" sz="1200" dirty="0">
                        <a:latin typeface="Times New Roman"/>
                        <a:cs typeface="Times New Roman"/>
                      </a:endParaRPr>
                    </a:p>
                  </a:txBody>
                  <a:tcPr marL="91430" marR="91430" marT="45715" marB="45715"/>
                </a:tc>
                <a:tc>
                  <a:txBody>
                    <a:bodyPr/>
                    <a:lstStyle/>
                    <a:p>
                      <a:r>
                        <a:rPr lang="ru-RU" sz="12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7 071 177,35</a:t>
                      </a:r>
                    </a:p>
                  </a:txBody>
                  <a:tcPr marL="91430" marR="91430" marT="45715" marB="4571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2737">
                <a:tc vMerge="1"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200" b="0" dirty="0">
                          <a:latin typeface="Times New Roman"/>
                          <a:cs typeface="Times New Roman"/>
                        </a:rPr>
                        <a:t>Ересектерді</a:t>
                      </a:r>
                      <a:r>
                        <a:rPr lang="en-US" altLang="en-US" sz="1200" b="0" baseline="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altLang="en-US" sz="1200" dirty="0">
                          <a:latin typeface="Times New Roman"/>
                          <a:cs typeface="Times New Roman"/>
                        </a:rPr>
                        <a:t>Проф. </a:t>
                      </a:r>
                      <a:r>
                        <a:rPr lang="ru-RU" altLang="en-US" sz="1200" dirty="0" err="1">
                          <a:latin typeface="Times New Roman"/>
                          <a:cs typeface="Times New Roman"/>
                        </a:rPr>
                        <a:t>бақылаудан</a:t>
                      </a:r>
                      <a:r>
                        <a:rPr lang="ru-RU" altLang="en-US"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altLang="en-US" sz="1200" dirty="0" err="1">
                          <a:latin typeface="Times New Roman"/>
                          <a:cs typeface="Times New Roman"/>
                        </a:rPr>
                        <a:t>өткізу</a:t>
                      </a:r>
                      <a:endParaRPr lang="en-US" altLang="en-US" sz="1200" b="0" dirty="0">
                        <a:latin typeface="Times New Roman"/>
                        <a:cs typeface="Times New Roman"/>
                      </a:endParaRPr>
                    </a:p>
                  </a:txBody>
                  <a:tcPr marL="91430" marR="91430" marT="45715" marB="45715"/>
                </a:tc>
                <a:tc>
                  <a:txBody>
                    <a:bodyPr/>
                    <a:lstStyle/>
                    <a:p>
                      <a:r>
                        <a:rPr lang="ru-RU" sz="12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7 142 544,18</a:t>
                      </a:r>
                    </a:p>
                  </a:txBody>
                  <a:tcPr marL="91430" marR="91430" marT="45715" marB="4571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737">
                <a:tc vMerge="1"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k-KZ" altLang="en-US" sz="1200" b="0" dirty="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САЖ (стационарды алмастыратын жағдай)</a:t>
                      </a:r>
                      <a:endParaRPr lang="en-US" altLang="en-US" sz="1200" b="0" dirty="0"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 marL="91430" marR="91430" marT="45715" marB="45715"/>
                </a:tc>
                <a:tc>
                  <a:txBody>
                    <a:bodyPr/>
                    <a:lstStyle/>
                    <a:p>
                      <a:r>
                        <a:rPr lang="ru-RU" sz="12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5 290 130,79</a:t>
                      </a:r>
                    </a:p>
                  </a:txBody>
                  <a:tcPr marL="91430" marR="91430" marT="45715" marB="4571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84342">
                <a:tc vMerge="1"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altLang="en-US" sz="1200" b="0" dirty="0" err="1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Скринингтік</a:t>
                      </a:r>
                      <a:r>
                        <a:rPr lang="ru-RU" altLang="en-US" sz="1200" b="0" dirty="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ru-RU" altLang="en-US" sz="1200" b="0" dirty="0" err="1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зерттеулер</a:t>
                      </a:r>
                      <a:r>
                        <a:rPr lang="ru-RU" altLang="en-US" sz="1200" b="0" dirty="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, </a:t>
                      </a:r>
                      <a:r>
                        <a:rPr lang="ru-RU" altLang="en-US" sz="1200" b="0" dirty="0" err="1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оның</a:t>
                      </a:r>
                      <a:r>
                        <a:rPr lang="ru-RU" altLang="en-US" sz="1200" b="0" dirty="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ru-RU" altLang="en-US" sz="1200" b="0" dirty="0" err="1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ішінде</a:t>
                      </a:r>
                      <a:r>
                        <a:rPr lang="ru-RU" altLang="en-US" sz="1200" b="0" dirty="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ТМККК </a:t>
                      </a:r>
                      <a:r>
                        <a:rPr lang="ru-RU" altLang="en-US" sz="1200" b="0" dirty="0" err="1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шеңберінде</a:t>
                      </a:r>
                      <a:r>
                        <a:rPr lang="ru-RU" altLang="en-US" sz="1200" b="0" dirty="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ru-RU" altLang="en-US" sz="1200" b="0" dirty="0" err="1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онкологиялық</a:t>
                      </a:r>
                      <a:r>
                        <a:rPr lang="ru-RU" altLang="en-US" sz="1200" b="0" dirty="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ru-RU" altLang="en-US" sz="1200" b="0" dirty="0" err="1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аурулар</a:t>
                      </a:r>
                      <a:endParaRPr lang="en-US" altLang="en-US" sz="1200" b="0" dirty="0"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 marL="91430" marR="91430" marT="45715" marB="45715"/>
                </a:tc>
                <a:tc>
                  <a:txBody>
                    <a:bodyPr/>
                    <a:lstStyle/>
                    <a:p>
                      <a:r>
                        <a:rPr lang="ru-RU" sz="12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6 428 977,14</a:t>
                      </a:r>
                    </a:p>
                  </a:txBody>
                  <a:tcPr marL="91430" marR="91430" marT="45715" marB="45715"/>
                </a:tc>
                <a:extLst>
                  <a:ext uri="{0D108BD9-81ED-4DB2-BD59-A6C34878D82A}">
                    <a16:rowId xmlns:a16="http://schemas.microsoft.com/office/drawing/2014/main" val="2722887456"/>
                  </a:ext>
                </a:extLst>
              </a:tr>
              <a:tr h="376642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14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30" marR="91430" marT="45715" marB="4571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k-KZ" altLang="en-US" sz="1200" b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ҚДҚ</a:t>
                      </a:r>
                      <a:endParaRPr lang="en-US" altLang="en-US" sz="1200" b="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30" marR="91430" marT="45715" marB="4571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14 661 336,41</a:t>
                      </a:r>
                      <a:endParaRPr lang="ru-RU" sz="12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30" marR="91430" marT="45715" marB="45715"/>
                </a:tc>
                <a:extLst>
                  <a:ext uri="{0D108BD9-81ED-4DB2-BD59-A6C34878D82A}">
                    <a16:rowId xmlns:a16="http://schemas.microsoft.com/office/drawing/2014/main" val="3672834075"/>
                  </a:ext>
                </a:extLst>
              </a:tr>
              <a:tr h="351769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14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30" marR="91430" marT="45715" marB="4571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k-KZ" altLang="en-US" sz="1200" b="0" dirty="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САЖ ТМККК</a:t>
                      </a:r>
                      <a:endParaRPr lang="en-US" altLang="en-US" sz="1200" b="0" dirty="0"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 marL="91430" marR="91430" marT="45715" marB="4571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19 714 428,37</a:t>
                      </a:r>
                    </a:p>
                  </a:txBody>
                  <a:tcPr marL="91430" marR="91430" marT="45715" marB="45715"/>
                </a:tc>
                <a:extLst>
                  <a:ext uri="{0D108BD9-81ED-4DB2-BD59-A6C34878D82A}">
                    <a16:rowId xmlns:a16="http://schemas.microsoft.com/office/drawing/2014/main" val="1460190789"/>
                  </a:ext>
                </a:extLst>
              </a:tr>
            </a:tbl>
          </a:graphicData>
        </a:graphic>
      </p:graphicFrame>
      <p:sp>
        <p:nvSpPr>
          <p:cNvPr id="18512" name="Text Box 5">
            <a:extLst>
              <a:ext uri="{FF2B5EF4-FFF2-40B4-BE49-F238E27FC236}">
                <a16:creationId xmlns:a16="http://schemas.microsoft.com/office/drawing/2014/main" id="{F5D73F02-3C91-AB42-7206-E5D36172B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9492" y="464111"/>
            <a:ext cx="41211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</a:t>
            </a:r>
            <a:r>
              <a:rPr lang="ru-RU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ru-RU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жыл</a:t>
            </a:r>
            <a:endParaRPr lang="en-US" altLang="en-US" sz="1600" b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513" name="Text Box 4">
            <a:extLst>
              <a:ext uri="{FF2B5EF4-FFF2-40B4-BE49-F238E27FC236}">
                <a16:creationId xmlns:a16="http://schemas.microsoft.com/office/drawing/2014/main" id="{C34474DC-8798-EC64-CC7C-4C305DD308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0810" y="437124"/>
            <a:ext cx="41211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</a:t>
            </a:r>
            <a:r>
              <a:rPr lang="ru-RU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жыл</a:t>
            </a:r>
            <a:endParaRPr lang="en-US" altLang="en-US" sz="1600" b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514" name="Object 11">
            <a:extLst>
              <a:ext uri="{FF2B5EF4-FFF2-40B4-BE49-F238E27FC236}">
                <a16:creationId xmlns:a16="http://schemas.microsoft.com/office/drawing/2014/main" id="{BEFFACE5-17CF-6E24-01D2-A23C16E47B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8315173"/>
              </p:ext>
            </p:extLst>
          </p:nvPr>
        </p:nvGraphicFramePr>
        <p:xfrm>
          <a:off x="576886" y="1186640"/>
          <a:ext cx="1362075" cy="163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0" r:id="rId3" imgW="2324424" imgH="3142857" progId="PBrush">
                  <p:embed/>
                </p:oleObj>
              </mc:Choice>
              <mc:Fallback>
                <p:oleObj r:id="rId3" imgW="2324424" imgH="3142857" progId="PBrush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886" y="1186640"/>
                        <a:ext cx="1362075" cy="163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515" name="Text Box 13">
            <a:extLst>
              <a:ext uri="{FF2B5EF4-FFF2-40B4-BE49-F238E27FC236}">
                <a16:creationId xmlns:a16="http://schemas.microsoft.com/office/drawing/2014/main" id="{A0EA7A95-430B-E466-CCC0-C49EC1AE52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886" y="2174065"/>
            <a:ext cx="1362075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k-KZ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МӘМС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ОБЯЗАТЕЛЬНОЕ СОЦИАЛЬНАЯ МЕДИЦИНСКОЕ СТРАХОВАНИЕ</a:t>
            </a:r>
          </a:p>
        </p:txBody>
      </p:sp>
      <p:graphicFrame>
        <p:nvGraphicFramePr>
          <p:cNvPr id="18516" name="Object 14">
            <a:extLst>
              <a:ext uri="{FF2B5EF4-FFF2-40B4-BE49-F238E27FC236}">
                <a16:creationId xmlns:a16="http://schemas.microsoft.com/office/drawing/2014/main" id="{061C94DB-D63E-B3DF-C335-9743BE5FA9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2810072"/>
              </p:ext>
            </p:extLst>
          </p:nvPr>
        </p:nvGraphicFramePr>
        <p:xfrm>
          <a:off x="6525153" y="1273170"/>
          <a:ext cx="1362075" cy="26259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1" name="Точечный рисунок" r:id="rId3" imgW="2324424" imgH="3142857" progId="PBrush">
                  <p:embed/>
                </p:oleObj>
              </mc:Choice>
              <mc:Fallback>
                <p:oleObj name="Точечный рисунок" r:id="rId3" imgW="2324424" imgH="3142857" progId="PBrush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5153" y="1273170"/>
                        <a:ext cx="1362075" cy="26259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517" name="Text Box 16">
            <a:extLst>
              <a:ext uri="{FF2B5EF4-FFF2-40B4-BE49-F238E27FC236}">
                <a16:creationId xmlns:a16="http://schemas.microsoft.com/office/drawing/2014/main" id="{7658E4C1-84D7-1C9B-BD15-CB1D52F55A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9496" y="3235750"/>
            <a:ext cx="1362075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k-KZ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МӘМС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ОБЯЗАТЕЛЬНОЕ СОЦИАЛЬНАЯ МЕДИЦИНСКОЕ СТРАХОВАНИЕ</a:t>
            </a:r>
          </a:p>
        </p:txBody>
      </p:sp>
      <p:graphicFrame>
        <p:nvGraphicFramePr>
          <p:cNvPr id="11" name="Content Placeholder 6">
            <a:extLst>
              <a:ext uri="{FF2B5EF4-FFF2-40B4-BE49-F238E27FC236}">
                <a16:creationId xmlns:a16="http://schemas.microsoft.com/office/drawing/2014/main" id="{714EC292-68A7-78B5-CA22-1BDF532AC6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2562400"/>
              </p:ext>
            </p:extLst>
          </p:nvPr>
        </p:nvGraphicFramePr>
        <p:xfrm>
          <a:off x="280145" y="5605733"/>
          <a:ext cx="5773576" cy="1143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17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51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7666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altLang="en-US" sz="1800" dirty="0" err="1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Жергілікті</a:t>
                      </a:r>
                      <a:r>
                        <a:rPr lang="ru-RU" altLang="en-US" sz="18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бюджет</a:t>
                      </a:r>
                    </a:p>
                    <a:p>
                      <a:pPr algn="ctr">
                        <a:buNone/>
                      </a:pPr>
                      <a:r>
                        <a:rPr lang="ru-RU" altLang="en-US" sz="1800" dirty="0" err="1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Әскери</a:t>
                      </a:r>
                      <a:r>
                        <a:rPr lang="ru-RU" altLang="en-US" sz="18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комитет</a:t>
                      </a:r>
                      <a:endParaRPr lang="en-US" altLang="en-US" sz="1800" dirty="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91447" marR="91447" marT="45728" marB="4572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050" b="1" dirty="0">
                          <a:latin typeface="Times New Roman"/>
                          <a:cs typeface="Times New Roman"/>
                        </a:rPr>
                        <a:t>Атауы </a:t>
                      </a:r>
                    </a:p>
                  </a:txBody>
                  <a:tcPr marL="91447" marR="91447" marT="45728" marB="45728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050" b="1" dirty="0">
                          <a:latin typeface="Times New Roman"/>
                          <a:cs typeface="Times New Roman"/>
                        </a:rPr>
                        <a:t>Соммасы</a:t>
                      </a:r>
                    </a:p>
                  </a:txBody>
                  <a:tcPr marL="91447" marR="91447" marT="45728" marB="4572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6310">
                <a:tc vMerge="1"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altLang="en-US" sz="1050" dirty="0">
                          <a:latin typeface="Times New Roman"/>
                          <a:cs typeface="Times New Roman"/>
                        </a:rPr>
                        <a:t>Алматы </a:t>
                      </a:r>
                      <a:r>
                        <a:rPr lang="ru-RU" altLang="en-US" sz="1050" dirty="0" err="1">
                          <a:latin typeface="Times New Roman"/>
                          <a:cs typeface="Times New Roman"/>
                        </a:rPr>
                        <a:t>қаласы</a:t>
                      </a:r>
                      <a:r>
                        <a:rPr lang="ru-RU" altLang="en-US" sz="10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altLang="en-US" sz="1050" dirty="0" err="1">
                          <a:latin typeface="Times New Roman"/>
                          <a:cs typeface="Times New Roman"/>
                        </a:rPr>
                        <a:t>аудандық</a:t>
                      </a:r>
                      <a:r>
                        <a:rPr lang="ru-RU" altLang="en-US" sz="10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altLang="en-US" sz="1050" dirty="0" err="1">
                          <a:latin typeface="Times New Roman"/>
                          <a:cs typeface="Times New Roman"/>
                        </a:rPr>
                        <a:t>және</a:t>
                      </a:r>
                      <a:r>
                        <a:rPr lang="ru-RU" altLang="en-US" sz="10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altLang="en-US" sz="1050" dirty="0" err="1">
                          <a:latin typeface="Times New Roman"/>
                          <a:cs typeface="Times New Roman"/>
                        </a:rPr>
                        <a:t>қалалық</a:t>
                      </a:r>
                      <a:r>
                        <a:rPr lang="ru-RU" altLang="en-US" sz="10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altLang="en-US" sz="1050" dirty="0" err="1">
                          <a:latin typeface="Times New Roman"/>
                          <a:cs typeface="Times New Roman"/>
                        </a:rPr>
                        <a:t>әскери</a:t>
                      </a:r>
                      <a:r>
                        <a:rPr lang="ru-RU" altLang="en-US" sz="10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altLang="en-US" sz="1050" dirty="0" err="1">
                          <a:latin typeface="Times New Roman"/>
                          <a:cs typeface="Times New Roman"/>
                        </a:rPr>
                        <a:t>комиссариаттарының</a:t>
                      </a:r>
                      <a:r>
                        <a:rPr lang="ru-RU" altLang="en-US" sz="10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altLang="en-US" sz="1050" dirty="0" err="1">
                          <a:latin typeface="Times New Roman"/>
                          <a:cs typeface="Times New Roman"/>
                        </a:rPr>
                        <a:t>медициналық</a:t>
                      </a:r>
                      <a:r>
                        <a:rPr lang="ru-RU" altLang="en-US" sz="10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altLang="en-US" sz="1050" dirty="0" err="1">
                          <a:latin typeface="Times New Roman"/>
                          <a:cs typeface="Times New Roman"/>
                        </a:rPr>
                        <a:t>шақыру</a:t>
                      </a:r>
                      <a:r>
                        <a:rPr lang="ru-RU" altLang="en-US" sz="10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altLang="en-US" sz="1050" dirty="0" err="1">
                          <a:latin typeface="Times New Roman"/>
                          <a:cs typeface="Times New Roman"/>
                        </a:rPr>
                        <a:t>және</a:t>
                      </a:r>
                      <a:r>
                        <a:rPr lang="ru-RU" altLang="en-US" sz="10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altLang="en-US" sz="1050" dirty="0" err="1">
                          <a:latin typeface="Times New Roman"/>
                          <a:cs typeface="Times New Roman"/>
                        </a:rPr>
                        <a:t>тіркеу</a:t>
                      </a:r>
                      <a:r>
                        <a:rPr lang="ru-RU" altLang="en-US" sz="10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altLang="en-US" sz="1050" dirty="0" err="1">
                          <a:latin typeface="Times New Roman"/>
                          <a:cs typeface="Times New Roman"/>
                        </a:rPr>
                        <a:t>комиссияларының</a:t>
                      </a:r>
                      <a:r>
                        <a:rPr lang="ru-RU" altLang="en-US" sz="10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altLang="en-US" sz="1050" dirty="0" err="1">
                          <a:latin typeface="Times New Roman"/>
                          <a:cs typeface="Times New Roman"/>
                        </a:rPr>
                        <a:t>жұмысын</a:t>
                      </a:r>
                      <a:r>
                        <a:rPr lang="ru-RU" altLang="en-US" sz="10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altLang="en-US" sz="1050" dirty="0" err="1">
                          <a:latin typeface="Times New Roman"/>
                          <a:cs typeface="Times New Roman"/>
                        </a:rPr>
                        <a:t>қамтамасыз</a:t>
                      </a:r>
                      <a:r>
                        <a:rPr lang="ru-RU" altLang="en-US" sz="10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altLang="en-US" sz="1050" dirty="0" err="1">
                          <a:latin typeface="Times New Roman"/>
                          <a:cs typeface="Times New Roman"/>
                        </a:rPr>
                        <a:t>ету</a:t>
                      </a:r>
                      <a:r>
                        <a:rPr lang="ru-RU" altLang="en-US" sz="1050" dirty="0">
                          <a:latin typeface="Times New Roman"/>
                          <a:cs typeface="Times New Roman"/>
                        </a:rPr>
                        <a:t>.</a:t>
                      </a:r>
                      <a:endParaRPr lang="en-US" altLang="en-US" sz="1050" dirty="0">
                        <a:latin typeface="Times New Roman"/>
                        <a:cs typeface="Times New Roman"/>
                      </a:endParaRPr>
                    </a:p>
                  </a:txBody>
                  <a:tcPr marL="91447" marR="91447" marT="45728" marB="45728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altLang="en-US" sz="1050" dirty="0">
                          <a:latin typeface="Times New Roman"/>
                          <a:cs typeface="Times New Roman"/>
                        </a:rPr>
                        <a:t>-</a:t>
                      </a:r>
                    </a:p>
                  </a:txBody>
                  <a:tcPr marL="91447" marR="91447" marT="45728" marB="4572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Content Placeholder 7">
            <a:extLst>
              <a:ext uri="{FF2B5EF4-FFF2-40B4-BE49-F238E27FC236}">
                <a16:creationId xmlns:a16="http://schemas.microsoft.com/office/drawing/2014/main" id="{31DD6554-60E4-2BF8-DE87-9DC2F52023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5195406"/>
              </p:ext>
            </p:extLst>
          </p:nvPr>
        </p:nvGraphicFramePr>
        <p:xfrm>
          <a:off x="6137834" y="5514330"/>
          <a:ext cx="5713413" cy="13214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3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55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46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9355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altLang="en-US" sz="1600" dirty="0" err="1">
                          <a:solidFill>
                            <a:schemeClr val="bg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Жергілікті</a:t>
                      </a:r>
                      <a:r>
                        <a:rPr lang="ru-RU" altLang="en-US" sz="1600" dirty="0">
                          <a:solidFill>
                            <a:schemeClr val="bg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 бюджет</a:t>
                      </a:r>
                    </a:p>
                    <a:p>
                      <a:pPr algn="ctr">
                        <a:buNone/>
                      </a:pPr>
                      <a:r>
                        <a:rPr lang="ru-RU" altLang="en-US" sz="1600" dirty="0" err="1">
                          <a:solidFill>
                            <a:schemeClr val="bg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Әскери</a:t>
                      </a:r>
                      <a:r>
                        <a:rPr lang="ru-RU" altLang="en-US" sz="1600" dirty="0">
                          <a:solidFill>
                            <a:schemeClr val="bg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 комитет</a:t>
                      </a:r>
                      <a:endParaRPr lang="en-US" altLang="en-US" sz="1600" dirty="0">
                        <a:solidFill>
                          <a:schemeClr val="bg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30" marR="91430" marT="45743" marB="4574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2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Атауы</a:t>
                      </a:r>
                    </a:p>
                  </a:txBody>
                  <a:tcPr marL="91430" marR="91430" marT="45743" marB="45743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2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Соммасы</a:t>
                      </a:r>
                    </a:p>
                  </a:txBody>
                  <a:tcPr marL="91430" marR="91430" marT="45743" marB="4574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7129">
                <a:tc vMerge="1"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altLang="en-US" sz="11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Алматы </a:t>
                      </a:r>
                      <a:r>
                        <a:rPr lang="ru-RU" altLang="en-US" sz="110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қаласы</a:t>
                      </a:r>
                      <a:r>
                        <a:rPr lang="ru-RU" altLang="en-US" sz="11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ru-RU" altLang="en-US" sz="110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аудандық</a:t>
                      </a:r>
                      <a:r>
                        <a:rPr lang="ru-RU" altLang="en-US" sz="11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ru-RU" altLang="en-US" sz="110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және</a:t>
                      </a:r>
                      <a:r>
                        <a:rPr lang="ru-RU" altLang="en-US" sz="11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ru-RU" altLang="en-US" sz="110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қалалық</a:t>
                      </a:r>
                      <a:r>
                        <a:rPr lang="ru-RU" altLang="en-US" sz="11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ru-RU" altLang="en-US" sz="110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әскери</a:t>
                      </a:r>
                      <a:r>
                        <a:rPr lang="ru-RU" altLang="en-US" sz="11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ru-RU" altLang="en-US" sz="110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комиссариаттарының</a:t>
                      </a:r>
                      <a:r>
                        <a:rPr lang="ru-RU" altLang="en-US" sz="11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ru-RU" altLang="en-US" sz="110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медициналық</a:t>
                      </a:r>
                      <a:r>
                        <a:rPr lang="ru-RU" altLang="en-US" sz="11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ru-RU" altLang="en-US" sz="110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шақыру</a:t>
                      </a:r>
                      <a:r>
                        <a:rPr lang="ru-RU" altLang="en-US" sz="11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ru-RU" altLang="en-US" sz="110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және</a:t>
                      </a:r>
                      <a:r>
                        <a:rPr lang="ru-RU" altLang="en-US" sz="11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ru-RU" altLang="en-US" sz="110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тіркеу</a:t>
                      </a:r>
                      <a:r>
                        <a:rPr lang="ru-RU" altLang="en-US" sz="11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ru-RU" altLang="en-US" sz="110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комиссияларының</a:t>
                      </a:r>
                      <a:r>
                        <a:rPr lang="ru-RU" altLang="en-US" sz="11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ru-RU" altLang="en-US" sz="110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жұмысын</a:t>
                      </a:r>
                      <a:r>
                        <a:rPr lang="ru-RU" altLang="en-US" sz="11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ru-RU" altLang="en-US" sz="110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қамтамасыз</a:t>
                      </a:r>
                      <a:r>
                        <a:rPr lang="ru-RU" altLang="en-US" sz="11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ru-RU" altLang="en-US" sz="110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ету</a:t>
                      </a:r>
                      <a:r>
                        <a:rPr lang="ru-RU" altLang="en-US" sz="11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.</a:t>
                      </a:r>
                      <a:endParaRPr lang="en-US" altLang="en-US" sz="11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30" marR="91430" marT="45743" marB="45743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1 773 506,0</a:t>
                      </a:r>
                    </a:p>
                  </a:txBody>
                  <a:tcPr marL="91430" marR="91430" marT="45743" marB="4574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" name="Object 11">
            <a:extLst>
              <a:ext uri="{FF2B5EF4-FFF2-40B4-BE49-F238E27FC236}">
                <a16:creationId xmlns:a16="http://schemas.microsoft.com/office/drawing/2014/main" id="{E538327E-76FA-4FFF-93DD-56B1517511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1665896"/>
              </p:ext>
            </p:extLst>
          </p:nvPr>
        </p:nvGraphicFramePr>
        <p:xfrm>
          <a:off x="576886" y="3213911"/>
          <a:ext cx="1362075" cy="163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2" r:id="rId3" imgW="2324424" imgH="3142857" progId="PBrush">
                  <p:embed/>
                </p:oleObj>
              </mc:Choice>
              <mc:Fallback>
                <p:oleObj r:id="rId3" imgW="2324424" imgH="3142857" progId="PBrush">
                  <p:embed/>
                  <p:pic>
                    <p:nvPicPr>
                      <p:cNvPr id="18514" name="Object 11">
                        <a:extLst>
                          <a:ext uri="{FF2B5EF4-FFF2-40B4-BE49-F238E27FC236}">
                            <a16:creationId xmlns:a16="http://schemas.microsoft.com/office/drawing/2014/main" id="{BEFFACE5-17CF-6E24-01D2-A23C16E47B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886" y="3213911"/>
                        <a:ext cx="1362075" cy="163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13">
            <a:extLst>
              <a:ext uri="{FF2B5EF4-FFF2-40B4-BE49-F238E27FC236}">
                <a16:creationId xmlns:a16="http://schemas.microsoft.com/office/drawing/2014/main" id="{A4A4BDA0-87BC-4366-927C-9837C0C2FD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886" y="4201336"/>
            <a:ext cx="13620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noProof="0" dirty="0">
                <a:solidFill>
                  <a:srgbClr val="000000"/>
                </a:solidFill>
                <a:latin typeface="Times New Roman"/>
              </a:rPr>
              <a:t>ТМККК</a:t>
            </a:r>
            <a:endParaRPr lang="ru-RU" sz="2000" dirty="0">
              <a:latin typeface="Times New Roman"/>
            </a:endParaRPr>
          </a:p>
        </p:txBody>
      </p:sp>
      <p:graphicFrame>
        <p:nvGraphicFramePr>
          <p:cNvPr id="16" name="Object 14">
            <a:extLst>
              <a:ext uri="{FF2B5EF4-FFF2-40B4-BE49-F238E27FC236}">
                <a16:creationId xmlns:a16="http://schemas.microsoft.com/office/drawing/2014/main" id="{2A22A335-3C65-4B3D-9F31-B331515793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2580559"/>
              </p:ext>
            </p:extLst>
          </p:nvPr>
        </p:nvGraphicFramePr>
        <p:xfrm>
          <a:off x="6509495" y="3925113"/>
          <a:ext cx="1362075" cy="15632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" name="Точечный рисунок" r:id="rId5" imgW="2324424" imgH="3142857" progId="PBrush">
                  <p:embed/>
                </p:oleObj>
              </mc:Choice>
              <mc:Fallback>
                <p:oleObj name="Точечный рисунок" r:id="rId5" imgW="2324424" imgH="3142857" progId="PBrush">
                  <p:embed/>
                  <p:pic>
                    <p:nvPicPr>
                      <p:cNvPr id="18516" name="Object 14">
                        <a:extLst>
                          <a:ext uri="{FF2B5EF4-FFF2-40B4-BE49-F238E27FC236}">
                            <a16:creationId xmlns:a16="http://schemas.microsoft.com/office/drawing/2014/main" id="{061C94DB-D63E-B3DF-C335-9743BE5FA9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9495" y="3925113"/>
                        <a:ext cx="1362075" cy="15632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16">
            <a:extLst>
              <a:ext uri="{FF2B5EF4-FFF2-40B4-BE49-F238E27FC236}">
                <a16:creationId xmlns:a16="http://schemas.microsoft.com/office/drawing/2014/main" id="{58782E80-4AAA-4F8D-8F9C-C724765E11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9494" y="4872660"/>
            <a:ext cx="13620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noProof="0" dirty="0">
                <a:solidFill>
                  <a:srgbClr val="000000"/>
                </a:solidFill>
                <a:latin typeface="Times New Roman"/>
              </a:rPr>
              <a:t>ТМККК</a:t>
            </a:r>
            <a:endParaRPr lang="ru-RU" sz="2000" dirty="0">
              <a:latin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Прямоугольник 5">
            <a:extLst>
              <a:ext uri="{FF2B5EF4-FFF2-40B4-BE49-F238E27FC236}">
                <a16:creationId xmlns:a16="http://schemas.microsoft.com/office/drawing/2014/main" id="{21DA0D42-2144-F062-68D3-C11556915E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0113" y="76200"/>
            <a:ext cx="30924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Орташа жалақы деңгейі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8" name="Content Placeholder 4">
            <a:extLst>
              <a:ext uri="{FF2B5EF4-FFF2-40B4-BE49-F238E27FC236}">
                <a16:creationId xmlns:a16="http://schemas.microsoft.com/office/drawing/2014/main" id="{DC66EBDC-A8A3-45C8-8835-DEFA0443D1FF}"/>
              </a:ext>
            </a:extLst>
          </p:cNvPr>
          <p:cNvGraphicFramePr>
            <a:graphicFrameLocks/>
          </p:cNvGraphicFramePr>
          <p:nvPr/>
        </p:nvGraphicFramePr>
        <p:xfrm>
          <a:off x="6738938" y="3195638"/>
          <a:ext cx="5021262" cy="3395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5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5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10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2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k-KZ" altLang="en-US" sz="10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Атауы</a:t>
                      </a:r>
                      <a:endParaRPr lang="" altLang="en-US" sz="10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50" marR="91450" marT="45728" marB="45728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" altLang="en-US" sz="10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202</a:t>
                      </a:r>
                      <a:r>
                        <a:rPr lang="ru-RU" altLang="en-US" sz="10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4ж</a:t>
                      </a:r>
                      <a:endParaRPr lang="" altLang="en-US" sz="10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50" marR="91450" marT="45728" marB="45728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" altLang="en-US" sz="10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202</a:t>
                      </a:r>
                      <a:r>
                        <a:rPr lang="ru-RU" altLang="en-US" sz="10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5ж</a:t>
                      </a:r>
                      <a:endParaRPr lang="" altLang="en-US" sz="10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50" marR="91450" marT="45728" marB="4572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k-KZ" sz="1000" dirty="0"/>
                        <a:t>Қосымша ақы</a:t>
                      </a:r>
                      <a:endParaRPr lang="" altLang="en-US" sz="10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50" marR="91450" marT="45728" marB="45728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19400,00</a:t>
                      </a:r>
                    </a:p>
                  </a:txBody>
                  <a:tcPr marL="91450" marR="91450" marT="45728" marB="45728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1</a:t>
                      </a:r>
                      <a:r>
                        <a:rPr lang="ru-RU" sz="1000" baseline="0" dirty="0"/>
                        <a:t> 503 315,00</a:t>
                      </a:r>
                      <a:endParaRPr lang="ru-RU" sz="1000" dirty="0"/>
                    </a:p>
                  </a:txBody>
                  <a:tcPr marL="91450" marR="91450" marT="45728" marB="4572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3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k-KZ" sz="1000" dirty="0"/>
                        <a:t>Бақылау кеңесінің жалақысы (НС)</a:t>
                      </a:r>
                      <a:endParaRPr lang="" altLang="en-US" sz="10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50" marR="91450" marT="45728" marB="45728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sz="10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50" marR="91450" marT="45728" marB="45728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900</a:t>
                      </a:r>
                      <a:r>
                        <a:rPr lang="ru-RU" sz="1000" baseline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000,00</a:t>
                      </a:r>
                      <a:endParaRPr lang="en-US" sz="10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50" marR="91450" marT="45728" marB="4572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4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k-KZ" sz="1000" dirty="0"/>
                        <a:t>Салық көзінен салық салынатын басқа табыстар</a:t>
                      </a:r>
                      <a:endParaRPr lang="" altLang="en-US" sz="10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50" marR="91450" marT="45728" marB="45728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sz="10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50" marR="91450" marT="45728" marB="45728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3</a:t>
                      </a:r>
                      <a:r>
                        <a:rPr lang="ru-RU" sz="1000" baseline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037 513,00</a:t>
                      </a:r>
                      <a:endParaRPr lang="en-US" sz="10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50" marR="91450" marT="45728" marB="4572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k-KZ" sz="1000" dirty="0"/>
                        <a:t>Жұмыстан босатылған кезде өтемақы</a:t>
                      </a:r>
                      <a:endParaRPr lang="" altLang="en-US" sz="10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50" marR="91450" marT="45728" marB="45728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260 718,00</a:t>
                      </a:r>
                      <a:endParaRPr lang="en-US" sz="10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50" marR="91450" marT="45728" marB="45728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8</a:t>
                      </a:r>
                      <a:r>
                        <a:rPr lang="ru-RU" sz="10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 878 426,69</a:t>
                      </a:r>
                      <a:endParaRPr lang="en-US" sz="1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50" marR="91450" marT="45728" marB="4572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2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k-KZ" sz="1000" dirty="0"/>
                        <a:t>Күндік жалақы 1,0</a:t>
                      </a:r>
                      <a:endParaRPr lang="" altLang="en-US" sz="10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50" marR="91450" marT="45728" marB="45728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61 846 513,03</a:t>
                      </a:r>
                      <a:endParaRPr lang="en-US" sz="10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50" marR="91450" marT="45728" marB="45728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330 625</a:t>
                      </a:r>
                      <a:r>
                        <a:rPr lang="ru-RU" sz="1000" baseline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929,00</a:t>
                      </a:r>
                      <a:endParaRPr lang="en-US" sz="10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50" marR="91450" marT="45728" marB="45728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2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k-KZ" sz="1000" dirty="0"/>
                        <a:t>Уақытша еңбекке жарамсыздық парағын төлеу</a:t>
                      </a:r>
                      <a:endParaRPr lang="" altLang="en-US" sz="10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50" marR="91450" marT="45728" marB="45728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406 057,55</a:t>
                      </a:r>
                      <a:endParaRPr lang="en-US" sz="10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50" marR="91450" marT="45728" marB="45728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4</a:t>
                      </a:r>
                      <a:r>
                        <a:rPr lang="ru-RU" sz="1000" baseline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956 062,29</a:t>
                      </a:r>
                      <a:endParaRPr lang="en-US" sz="10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50" marR="91450" marT="45728" marB="45728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2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k-KZ" sz="1000" dirty="0"/>
                        <a:t>Еңбек демалысы төлемі</a:t>
                      </a:r>
                      <a:endParaRPr lang="" altLang="en-US" sz="10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50" marR="91450" marT="45728" marB="45728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sz="10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50" marR="91450" marT="45728" marB="45728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21</a:t>
                      </a:r>
                      <a:r>
                        <a:rPr lang="ru-RU" sz="1000" baseline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014 395,00</a:t>
                      </a:r>
                      <a:endParaRPr lang="en-US" sz="10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50" marR="91450" marT="45728" marB="45728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2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k-KZ" sz="1000" dirty="0"/>
                        <a:t>Денсаулықты жақсарту үшін пайда</a:t>
                      </a:r>
                      <a:endParaRPr lang="" altLang="en-US" sz="10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50" marR="91450" marT="45728" marB="45728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sz="10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50" marR="91450" marT="45728" marB="45728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12</a:t>
                      </a:r>
                      <a:r>
                        <a:rPr lang="ru-RU" sz="1000" baseline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351 956,00</a:t>
                      </a:r>
                      <a:endParaRPr lang="en-US" sz="10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50" marR="91450" marT="45728" marB="45728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2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k-KZ" sz="1000" dirty="0"/>
                        <a:t>Мерекелік төлем</a:t>
                      </a:r>
                      <a:endParaRPr lang="" altLang="en-US" sz="10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50" marR="91450" marT="45728" marB="45728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sz="10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50" marR="91450" marT="45728" marB="45728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292</a:t>
                      </a:r>
                      <a:r>
                        <a:rPr lang="ru-RU" sz="1000" baseline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135,00</a:t>
                      </a:r>
                      <a:endParaRPr lang="en-US" sz="10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50" marR="91450" marT="45728" marB="45728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2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altLang="en-US" sz="100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Үстем</a:t>
                      </a:r>
                      <a:r>
                        <a:rPr lang="ru-RU" altLang="en-US" sz="10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ru-RU" altLang="en-US" sz="100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ақы</a:t>
                      </a:r>
                      <a:endParaRPr lang="" altLang="en-US" sz="10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50" marR="91450" marT="45728" marB="45728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sz="10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50" marR="91450" marT="45728" marB="45728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sz="10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50" marR="91450" marT="45728" marB="45728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2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altLang="en-US" sz="100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Ынталандырушы</a:t>
                      </a:r>
                      <a:r>
                        <a:rPr lang="ru-RU" altLang="en-US" sz="10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компонент </a:t>
                      </a:r>
                      <a:r>
                        <a:rPr lang="ru-RU" altLang="en-US" sz="100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қаражаты</a:t>
                      </a:r>
                      <a:endParaRPr lang="" altLang="en-US" sz="10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50" marR="91450" marT="45728" marB="45728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1 166 762,00</a:t>
                      </a:r>
                      <a:endParaRPr lang="en-US" sz="10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50" marR="91450" marT="45728" marB="45728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10</a:t>
                      </a:r>
                      <a:r>
                        <a:rPr lang="ru-RU" sz="1000" baseline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942 306,04</a:t>
                      </a:r>
                      <a:endParaRPr lang="en-US" sz="10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50" marR="91450" marT="45728" marB="45728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2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k-KZ" altLang="en-US" sz="10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Барлығы</a:t>
                      </a:r>
                      <a:endParaRPr lang="" altLang="en-US" sz="10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50" marR="91450" marT="45728" marB="45728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63</a:t>
                      </a:r>
                      <a:r>
                        <a:rPr lang="ru-RU" sz="1000" baseline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699 468,58</a:t>
                      </a:r>
                      <a:endParaRPr lang="en-US" sz="10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50" marR="91450" marT="45728" marB="45728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394</a:t>
                      </a:r>
                      <a:r>
                        <a:rPr lang="ru-RU" sz="1000" baseline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502 038,02</a:t>
                      </a:r>
                      <a:endParaRPr lang="en-US" sz="10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50" marR="91450" marT="45728" marB="45728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9520" name="Прямоугольник 9">
            <a:extLst>
              <a:ext uri="{FF2B5EF4-FFF2-40B4-BE49-F238E27FC236}">
                <a16:creationId xmlns:a16="http://schemas.microsoft.com/office/drawing/2014/main" id="{60C33A4C-C7BB-B452-EE81-0982C72825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1550" y="2509838"/>
            <a:ext cx="26289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b="1" err="1">
                <a:solidFill>
                  <a:srgbClr val="00225E"/>
                </a:solidFill>
                <a:latin typeface="Times New Roman"/>
                <a:cs typeface="Times New Roman"/>
              </a:rPr>
              <a:t>Жалақы</a:t>
            </a:r>
            <a:r>
              <a:rPr lang="en-US" altLang="en-US" b="1" dirty="0">
                <a:solidFill>
                  <a:srgbClr val="00225E"/>
                </a:solidFill>
                <a:latin typeface="Times New Roman"/>
                <a:cs typeface="Times New Roman"/>
              </a:rPr>
              <a:t> </a:t>
            </a:r>
            <a:r>
              <a:rPr lang="en-US" altLang="en-US" b="1" err="1">
                <a:solidFill>
                  <a:srgbClr val="00225E"/>
                </a:solidFill>
                <a:latin typeface="Times New Roman"/>
                <a:cs typeface="Times New Roman"/>
              </a:rPr>
              <a:t>қоры</a:t>
            </a:r>
            <a:r>
              <a:rPr lang="en-US" altLang="en-US" b="1" dirty="0">
                <a:solidFill>
                  <a:srgbClr val="00225E"/>
                </a:solidFill>
                <a:latin typeface="Times New Roman"/>
                <a:cs typeface="Times New Roman"/>
              </a:rPr>
              <a:t> </a:t>
            </a:r>
          </a:p>
        </p:txBody>
      </p:sp>
      <p:graphicFrame>
        <p:nvGraphicFramePr>
          <p:cNvPr id="10" name="Диаграмма 9">
            <a:extLst>
              <a:ext uri="{FF2B5EF4-FFF2-40B4-BE49-F238E27FC236}">
                <a16:creationId xmlns:a16="http://schemas.microsoft.com/office/drawing/2014/main" id="{F2F35DA4-2A72-4FAE-A5D3-5D3E571C9DFF}"/>
              </a:ext>
            </a:extLst>
          </p:cNvPr>
          <p:cNvGraphicFramePr/>
          <p:nvPr/>
        </p:nvGraphicFramePr>
        <p:xfrm>
          <a:off x="431799" y="110320"/>
          <a:ext cx="5088467" cy="26626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Содержимое 6">
            <a:extLst>
              <a:ext uri="{FF2B5EF4-FFF2-40B4-BE49-F238E27FC236}">
                <a16:creationId xmlns:a16="http://schemas.microsoft.com/office/drawing/2014/main" id="{8611F61F-EE13-4CD9-BBC9-FB4A9A8CC012}"/>
              </a:ext>
            </a:extLst>
          </p:cNvPr>
          <p:cNvGraphicFramePr/>
          <p:nvPr/>
        </p:nvGraphicFramePr>
        <p:xfrm>
          <a:off x="5935133" y="523220"/>
          <a:ext cx="5825068" cy="22497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Объект 7">
            <a:extLst>
              <a:ext uri="{FF2B5EF4-FFF2-40B4-BE49-F238E27FC236}">
                <a16:creationId xmlns:a16="http://schemas.microsoft.com/office/drawing/2014/main" id="{DD9EB88C-C86A-473B-BEB3-3827E3DBBBE4}"/>
              </a:ext>
            </a:extLst>
          </p:cNvPr>
          <p:cNvGraphicFramePr/>
          <p:nvPr/>
        </p:nvGraphicFramePr>
        <p:xfrm>
          <a:off x="431799" y="3107267"/>
          <a:ext cx="6197601" cy="36404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Содержимое 9">
            <a:extLst>
              <a:ext uri="{FF2B5EF4-FFF2-40B4-BE49-F238E27FC236}">
                <a16:creationId xmlns:a16="http://schemas.microsoft.com/office/drawing/2014/main" id="{8E6B5AEB-3409-EFFE-FDD1-2C721885A7F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31775" y="177800"/>
          <a:ext cx="11728450" cy="426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0483" name="Rectangle 2">
            <a:extLst>
              <a:ext uri="{FF2B5EF4-FFF2-40B4-BE49-F238E27FC236}">
                <a16:creationId xmlns:a16="http://schemas.microsoft.com/office/drawing/2014/main" id="{8C58C9E6-7D01-180A-7755-E0B71A1A62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47200" y="284163"/>
            <a:ext cx="2617788" cy="466725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-12696" rIns="0" bIns="-12696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 b="1" dirty="0" err="1">
                <a:solidFill>
                  <a:srgbClr val="00225E"/>
                </a:solidFill>
                <a:latin typeface="Times New Roman"/>
                <a:cs typeface="Times New Roman"/>
              </a:rPr>
              <a:t>Шығындар</a:t>
            </a:r>
            <a:r>
              <a:rPr lang="en-US" altLang="en-US" sz="3200" b="1" dirty="0">
                <a:solidFill>
                  <a:srgbClr val="00225E"/>
                </a:solidFill>
                <a:latin typeface="Times New Roman"/>
                <a:cs typeface="Times New Roman"/>
              </a:rPr>
              <a:t> </a:t>
            </a:r>
          </a:p>
        </p:txBody>
      </p:sp>
      <p:sp>
        <p:nvSpPr>
          <p:cNvPr id="20484" name="Прямоугольник 1">
            <a:extLst>
              <a:ext uri="{FF2B5EF4-FFF2-40B4-BE49-F238E27FC236}">
                <a16:creationId xmlns:a16="http://schemas.microsoft.com/office/drawing/2014/main" id="{D0A7A5CF-19EF-DEE0-9D05-1BD00F84B1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138" y="4368800"/>
            <a:ext cx="10753725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 </a:t>
            </a:r>
            <a:r>
              <a:rPr lang="en-US" altLang="en-US" sz="2400" dirty="0" err="1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жылы</a:t>
            </a:r>
            <a:r>
              <a:rPr lang="en-US" altLang="en-US" sz="2400" dirty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қызметкерлерді</a:t>
            </a:r>
            <a:r>
              <a:rPr lang="en-US" altLang="en-US" sz="2400" dirty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ынталандыру</a:t>
            </a:r>
            <a:r>
              <a:rPr lang="en-US" altLang="en-US" sz="2400" dirty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төлемінің</a:t>
            </a:r>
            <a:r>
              <a:rPr lang="en-US" altLang="en-US" sz="2400" dirty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жалпы</a:t>
            </a:r>
            <a:r>
              <a:rPr lang="en-US" altLang="en-US" sz="2400" dirty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сомасы</a:t>
            </a:r>
            <a:r>
              <a:rPr lang="en-US" altLang="en-US" sz="2400" dirty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16609,2 </a:t>
            </a:r>
            <a:r>
              <a:rPr lang="en-US" altLang="en-US" sz="2400" dirty="0" err="1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мың</a:t>
            </a:r>
            <a:r>
              <a:rPr lang="en-US" altLang="en-US" sz="2400" dirty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теңгені</a:t>
            </a:r>
            <a:r>
              <a:rPr lang="en-US" altLang="en-US" sz="2400" dirty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құрап</a:t>
            </a:r>
            <a:r>
              <a:rPr lang="en-US" altLang="en-US" sz="2400" dirty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2024 </a:t>
            </a:r>
            <a:r>
              <a:rPr lang="en-US" altLang="en-US" sz="2400" dirty="0" err="1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жылмен</a:t>
            </a:r>
            <a:r>
              <a:rPr lang="en-US" altLang="en-US" sz="2400" dirty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салыстырғанда</a:t>
            </a:r>
            <a:r>
              <a:rPr lang="en-US" altLang="en-US" sz="2400" dirty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24,7%-</a:t>
            </a:r>
            <a:r>
              <a:rPr lang="en-US" altLang="en-US" sz="2400" dirty="0" err="1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ға</a:t>
            </a:r>
            <a:r>
              <a:rPr lang="en-US" altLang="en-US" sz="2400" dirty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(2024 ж. – 4104,3 </a:t>
            </a:r>
            <a:r>
              <a:rPr lang="en-US" altLang="en-US" sz="2400" dirty="0" err="1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мың</a:t>
            </a:r>
            <a:r>
              <a:rPr lang="en-US" altLang="en-US" sz="2400" dirty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теңге</a:t>
            </a:r>
            <a:r>
              <a:rPr lang="en-US" altLang="en-US" sz="2400" dirty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2400" dirty="0" err="1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өсті</a:t>
            </a:r>
            <a:r>
              <a:rPr lang="en-US" altLang="en-US" sz="2400" dirty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en-US" altLang="en-US" sz="2400" dirty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нақты</a:t>
            </a:r>
            <a:r>
              <a:rPr lang="en-US" altLang="en-US" sz="2400" dirty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еңбекақы</a:t>
            </a:r>
            <a:r>
              <a:rPr lang="en-US" altLang="en-US" sz="2400" dirty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қорының</a:t>
            </a:r>
            <a:r>
              <a:rPr lang="en-US" altLang="en-US" sz="2400" dirty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15%-</a:t>
            </a:r>
            <a:r>
              <a:rPr lang="en-US" altLang="en-US" sz="2400" dirty="0" err="1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ын</a:t>
            </a:r>
            <a:r>
              <a:rPr lang="en-US" altLang="en-US" sz="2400" dirty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құрайды</a:t>
            </a:r>
            <a:r>
              <a:rPr lang="en-US" altLang="en-US" sz="2400" dirty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 sz="2400" dirty="0" err="1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Дәрігерлердің</a:t>
            </a:r>
            <a:r>
              <a:rPr lang="en-US" altLang="en-US" sz="2400" dirty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орташа</a:t>
            </a:r>
            <a:r>
              <a:rPr lang="en-US" altLang="en-US" sz="2400" dirty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айлық</a:t>
            </a:r>
            <a:r>
              <a:rPr lang="en-US" altLang="en-US" sz="2400" dirty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ынталандыру</a:t>
            </a:r>
            <a:r>
              <a:rPr lang="en-US" altLang="en-US" sz="2400" dirty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төлемі</a:t>
            </a:r>
            <a:r>
              <a:rPr lang="en-US" altLang="en-US" sz="2400" dirty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26 918 </a:t>
            </a:r>
            <a:r>
              <a:rPr lang="en-US" altLang="en-US" sz="2400" dirty="0" err="1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теңгені</a:t>
            </a:r>
            <a:r>
              <a:rPr lang="en-US" altLang="en-US" sz="2400" dirty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(2024 ж. – 21 329 </a:t>
            </a:r>
            <a:r>
              <a:rPr lang="en-US" altLang="en-US" sz="2400" dirty="0" err="1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теңге</a:t>
            </a:r>
            <a:r>
              <a:rPr lang="en-US" altLang="en-US" sz="2400" dirty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altLang="en-US" sz="2400" dirty="0" err="1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орта</a:t>
            </a:r>
            <a:r>
              <a:rPr lang="en-US" altLang="en-US" sz="2400" dirty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буын</a:t>
            </a:r>
            <a:r>
              <a:rPr lang="en-US" altLang="en-US" sz="2400" dirty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медицина</a:t>
            </a:r>
            <a:r>
              <a:rPr lang="en-US" altLang="en-US" sz="2400" dirty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қызметкерлеріне</a:t>
            </a:r>
            <a:r>
              <a:rPr lang="en-US" altLang="en-US" sz="2400" dirty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14 449 </a:t>
            </a:r>
            <a:r>
              <a:rPr lang="en-US" altLang="en-US" sz="2400" dirty="0" err="1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теңгені</a:t>
            </a:r>
            <a:r>
              <a:rPr lang="en-US" altLang="en-US" sz="2400" dirty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(2024 ж. – 17 145 </a:t>
            </a:r>
            <a:r>
              <a:rPr lang="en-US" altLang="en-US" sz="2400" dirty="0" err="1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теңге</a:t>
            </a:r>
            <a:r>
              <a:rPr lang="en-US" altLang="en-US" sz="2400" dirty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2400" dirty="0" err="1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құрады</a:t>
            </a:r>
            <a:r>
              <a:rPr lang="en-US" altLang="en-US" sz="2400" dirty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CFF5D1E4-3DD8-45BA-925D-5A7A25FCC161}"/>
              </a:ext>
            </a:extLst>
          </p:cNvPr>
          <p:cNvSpPr/>
          <p:nvPr/>
        </p:nvSpPr>
        <p:spPr>
          <a:xfrm>
            <a:off x="3268009" y="141941"/>
            <a:ext cx="5659438" cy="584775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3200" b="1" cap="all" err="1">
                <a:ln w="0"/>
                <a:solidFill>
                  <a:srgbClr val="00225E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Times New Roman"/>
                <a:cs typeface="Times New Roman"/>
              </a:rPr>
              <a:t>Тіркелген</a:t>
            </a:r>
            <a:r>
              <a:rPr lang="ru-RU" sz="3200" b="1" cap="all" dirty="0">
                <a:ln w="0"/>
                <a:solidFill>
                  <a:srgbClr val="00225E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Times New Roman"/>
                <a:cs typeface="Times New Roman"/>
              </a:rPr>
              <a:t> </a:t>
            </a:r>
            <a:r>
              <a:rPr lang="ru-RU" sz="3200" b="1" cap="all" err="1">
                <a:ln w="0"/>
                <a:solidFill>
                  <a:srgbClr val="00225E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Times New Roman"/>
                <a:cs typeface="Times New Roman"/>
              </a:rPr>
              <a:t>халық</a:t>
            </a:r>
            <a:r>
              <a:rPr lang="ru-RU" sz="3200" b="1" cap="all" dirty="0">
                <a:ln w="0"/>
                <a:solidFill>
                  <a:srgbClr val="00225E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Times New Roman"/>
                <a:cs typeface="Times New Roman"/>
              </a:rPr>
              <a:t> саны </a:t>
            </a:r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F58276D3-1BAC-0A8B-EB8B-833C5AA77FF2}"/>
              </a:ext>
            </a:extLst>
          </p:cNvPr>
          <p:cNvSpPr/>
          <p:nvPr/>
        </p:nvSpPr>
        <p:spPr>
          <a:xfrm>
            <a:off x="-976313" y="136525"/>
            <a:ext cx="1568451" cy="2462213"/>
          </a:xfrm>
          <a:prstGeom prst="ellipse">
            <a:avLst/>
          </a:prstGeom>
          <a:solidFill>
            <a:schemeClr val="accent5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>
              <a:solidFill>
                <a:srgbClr val="FFFFFF"/>
              </a:solidFill>
            </a:endParaRPr>
          </a:p>
        </p:txBody>
      </p:sp>
      <p:sp>
        <p:nvSpPr>
          <p:cNvPr id="21510" name="TextBox 19">
            <a:extLst>
              <a:ext uri="{FF2B5EF4-FFF2-40B4-BE49-F238E27FC236}">
                <a16:creationId xmlns:a16="http://schemas.microsoft.com/office/drawing/2014/main" id="{AA6CFF4D-7546-7958-5DE5-C636EAF57871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-794544" y="1167607"/>
            <a:ext cx="2049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POPULATION</a:t>
            </a:r>
            <a:endParaRPr lang="en-US" altLang="en-US" sz="2400" b="1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512" name="Picture 2">
            <a:extLst>
              <a:ext uri="{FF2B5EF4-FFF2-40B4-BE49-F238E27FC236}">
                <a16:creationId xmlns:a16="http://schemas.microsoft.com/office/drawing/2014/main" id="{5AC1A9D3-43AF-23B7-4F57-F6FA537BFB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124" t="7303" r="7092" b="68195"/>
          <a:stretch>
            <a:fillRect/>
          </a:stretch>
        </p:blipFill>
        <p:spPr bwMode="auto">
          <a:xfrm>
            <a:off x="9631363" y="1150938"/>
            <a:ext cx="1776412" cy="1357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3" name="TextBox 1">
            <a:extLst>
              <a:ext uri="{FF2B5EF4-FFF2-40B4-BE49-F238E27FC236}">
                <a16:creationId xmlns:a16="http://schemas.microsoft.com/office/drawing/2014/main" id="{11BD1D1B-FE96-F088-2BCC-B9FBF88D86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4013" y="1584325"/>
            <a:ext cx="29273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en-US" sz="2400" b="1" dirty="0" err="1">
                <a:solidFill>
                  <a:srgbClr val="00225E"/>
                </a:solidFill>
                <a:latin typeface="Times New Roman"/>
                <a:cs typeface="Times New Roman"/>
              </a:rPr>
              <a:t>Гендерлік</a:t>
            </a:r>
            <a:r>
              <a:rPr lang="ru-RU" altLang="en-US" sz="2400" b="1" dirty="0">
                <a:solidFill>
                  <a:srgbClr val="00225E"/>
                </a:solidFill>
                <a:latin typeface="Times New Roman"/>
                <a:cs typeface="Times New Roman"/>
              </a:rPr>
              <a:t> </a:t>
            </a:r>
            <a:r>
              <a:rPr lang="ru-RU" altLang="en-US" sz="2400" b="1" dirty="0" err="1">
                <a:solidFill>
                  <a:srgbClr val="00225E"/>
                </a:solidFill>
                <a:latin typeface="Times New Roman"/>
                <a:cs typeface="Times New Roman"/>
              </a:rPr>
              <a:t>құрам</a:t>
            </a:r>
            <a:endParaRPr lang="ru-RU" altLang="en-US" sz="2400" b="1" dirty="0">
              <a:solidFill>
                <a:srgbClr val="00225E"/>
              </a:solidFill>
              <a:latin typeface="Times New Roman"/>
              <a:cs typeface="Times New Roman"/>
            </a:endParaRPr>
          </a:p>
        </p:txBody>
      </p:sp>
      <p:cxnSp>
        <p:nvCxnSpPr>
          <p:cNvPr id="4" name="Прямая со стрелкой 3">
            <a:extLst>
              <a:ext uri="{FF2B5EF4-FFF2-40B4-BE49-F238E27FC236}">
                <a16:creationId xmlns:a16="http://schemas.microsoft.com/office/drawing/2014/main" id="{4F8B847D-0AE0-EFCA-E213-C11106CDBDD6}"/>
              </a:ext>
            </a:extLst>
          </p:cNvPr>
          <p:cNvCxnSpPr/>
          <p:nvPr/>
        </p:nvCxnSpPr>
        <p:spPr>
          <a:xfrm flipH="1" flipV="1">
            <a:off x="3679825" y="1601788"/>
            <a:ext cx="12700" cy="4556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515" name="TextBox 6">
            <a:extLst>
              <a:ext uri="{FF2B5EF4-FFF2-40B4-BE49-F238E27FC236}">
                <a16:creationId xmlns:a16="http://schemas.microsoft.com/office/drawing/2014/main" id="{D4D2588D-9D4A-4C62-C462-C82F9C1957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31363" y="2582863"/>
            <a:ext cx="8413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en-US" sz="18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43,6%</a:t>
            </a:r>
          </a:p>
        </p:txBody>
      </p:sp>
      <p:sp>
        <p:nvSpPr>
          <p:cNvPr id="21516" name="TextBox 7">
            <a:extLst>
              <a:ext uri="{FF2B5EF4-FFF2-40B4-BE49-F238E27FC236}">
                <a16:creationId xmlns:a16="http://schemas.microsoft.com/office/drawing/2014/main" id="{C2DCE7F7-251E-B461-01E5-643C5E9943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67988" y="2582863"/>
            <a:ext cx="8397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en-US" sz="18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56,4%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613C10-5220-F9E8-EFD5-1901310449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2925" y="1147295"/>
            <a:ext cx="408155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ru-RU" sz="2400" b="1" dirty="0" err="1">
                <a:solidFill>
                  <a:srgbClr val="00225E"/>
                </a:solidFill>
                <a:latin typeface="Times New Roman"/>
                <a:ea typeface="Calibri"/>
                <a:cs typeface="Calibri"/>
              </a:rPr>
              <a:t>Өсім</a:t>
            </a:r>
            <a:r>
              <a:rPr lang="ru-RU" sz="2400" b="1" dirty="0">
                <a:solidFill>
                  <a:srgbClr val="00225E"/>
                </a:solidFill>
                <a:latin typeface="Times New Roman"/>
                <a:ea typeface="Calibri"/>
                <a:cs typeface="Calibri"/>
              </a:rPr>
              <a:t> </a:t>
            </a:r>
            <a:r>
              <a:rPr lang="ru-RU" sz="2400" b="1" dirty="0" err="1">
                <a:solidFill>
                  <a:srgbClr val="00225E"/>
                </a:solidFill>
                <a:latin typeface="Times New Roman"/>
                <a:ea typeface="Calibri"/>
                <a:cs typeface="Calibri"/>
              </a:rPr>
              <a:t>халық</a:t>
            </a:r>
            <a:r>
              <a:rPr lang="ru-RU" sz="2400" b="1" dirty="0">
                <a:solidFill>
                  <a:srgbClr val="00225E"/>
                </a:solidFill>
                <a:latin typeface="Times New Roman"/>
                <a:ea typeface="Calibri"/>
                <a:cs typeface="Calibri"/>
              </a:rPr>
              <a:t> саны 19</a:t>
            </a:r>
            <a:r>
              <a:rPr lang="en-US" sz="2400" b="1">
                <a:solidFill>
                  <a:srgbClr val="00225E"/>
                </a:solidFill>
                <a:latin typeface="Times New Roman"/>
                <a:ea typeface="Calibri"/>
                <a:cs typeface="Calibri"/>
              </a:rPr>
              <a:t>82</a:t>
            </a:r>
            <a:r>
              <a:rPr lang="ru-RU" sz="2400" b="1">
                <a:solidFill>
                  <a:srgbClr val="00225E"/>
                </a:solidFill>
                <a:latin typeface="Times New Roman"/>
                <a:ea typeface="Calibri"/>
                <a:cs typeface="Calibri"/>
              </a:rPr>
              <a:t> </a:t>
            </a:r>
            <a:r>
              <a:rPr lang="ru-RU" sz="2400" b="1" dirty="0">
                <a:solidFill>
                  <a:srgbClr val="00225E"/>
                </a:solidFill>
                <a:latin typeface="Times New Roman"/>
                <a:ea typeface="Calibri"/>
                <a:cs typeface="Calibri"/>
              </a:rPr>
              <a:t>адам </a:t>
            </a:r>
            <a:endParaRPr lang="ru-RU" b="1" dirty="0">
              <a:latin typeface="Times New Roman"/>
              <a:ea typeface="Calibri"/>
              <a:cs typeface="Calibri"/>
            </a:endParaRPr>
          </a:p>
        </p:txBody>
      </p:sp>
      <p:graphicFrame>
        <p:nvGraphicFramePr>
          <p:cNvPr id="15" name="Объект 10">
            <a:extLst>
              <a:ext uri="{FF2B5EF4-FFF2-40B4-BE49-F238E27FC236}">
                <a16:creationId xmlns:a16="http://schemas.microsoft.com/office/drawing/2014/main" id="{36676699-FE9D-4FFB-8F4A-0D50A9926C0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350166196"/>
              </p:ext>
            </p:extLst>
          </p:nvPr>
        </p:nvGraphicFramePr>
        <p:xfrm>
          <a:off x="592239" y="1815474"/>
          <a:ext cx="5381870" cy="45975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0" name="Объект 14">
            <a:extLst>
              <a:ext uri="{FF2B5EF4-FFF2-40B4-BE49-F238E27FC236}">
                <a16:creationId xmlns:a16="http://schemas.microsoft.com/office/drawing/2014/main" id="{C851A55C-354A-469B-B84B-51B330583FE4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328228" y="3226737"/>
          <a:ext cx="5384800" cy="31608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Объект 6">
            <a:extLst>
              <a:ext uri="{FF2B5EF4-FFF2-40B4-BE49-F238E27FC236}">
                <a16:creationId xmlns:a16="http://schemas.microsoft.com/office/drawing/2014/main" id="{BEB8FFE5-6799-7AC1-4F67-EA9313F7048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801596174"/>
              </p:ext>
            </p:extLst>
          </p:nvPr>
        </p:nvGraphicFramePr>
        <p:xfrm>
          <a:off x="709613" y="693738"/>
          <a:ext cx="5384800" cy="48847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22532" name="Рисунок 1">
            <a:extLst>
              <a:ext uri="{FF2B5EF4-FFF2-40B4-BE49-F238E27FC236}">
                <a16:creationId xmlns:a16="http://schemas.microsoft.com/office/drawing/2014/main" id="{51113BA2-CC88-8A86-5363-2FBFB4D6E8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57250" y="192088"/>
            <a:ext cx="1566863" cy="246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3" name="Прямоугольник 4">
            <a:extLst>
              <a:ext uri="{FF2B5EF4-FFF2-40B4-BE49-F238E27FC236}">
                <a16:creationId xmlns:a16="http://schemas.microsoft.com/office/drawing/2014/main" id="{7459E08A-083F-6A0C-FE05-76D23D3B38EF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-655638" y="1223963"/>
            <a:ext cx="16922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POPULATIO</a:t>
            </a:r>
            <a:endParaRPr lang="ru-RU" altLang="en-US" sz="1800"/>
          </a:p>
        </p:txBody>
      </p:sp>
      <p:sp>
        <p:nvSpPr>
          <p:cNvPr id="22534" name="TextBox 2">
            <a:extLst>
              <a:ext uri="{FF2B5EF4-FFF2-40B4-BE49-F238E27FC236}">
                <a16:creationId xmlns:a16="http://schemas.microsoft.com/office/drawing/2014/main" id="{E653C6F3-3315-E482-02FE-5B271884B9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613" y="5657850"/>
            <a:ext cx="964882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en-US" sz="1800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Ескерту: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Жас санаты бойынша 0-ден 14 жасқа дейін 719, халықтың саны 0-ден 1 жасқа дейін 85 балаға өскен</a:t>
            </a:r>
          </a:p>
        </p:txBody>
      </p:sp>
      <p:graphicFrame>
        <p:nvGraphicFramePr>
          <p:cNvPr id="13" name="Объект 10">
            <a:extLst>
              <a:ext uri="{FF2B5EF4-FFF2-40B4-BE49-F238E27FC236}">
                <a16:creationId xmlns:a16="http://schemas.microsoft.com/office/drawing/2014/main" id="{44551D11-1DEE-4964-B944-15385EA8356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859696062"/>
              </p:ext>
            </p:extLst>
          </p:nvPr>
        </p:nvGraphicFramePr>
        <p:xfrm>
          <a:off x="6722533" y="960437"/>
          <a:ext cx="5181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74AA310F-C655-FAB8-884B-CCC39462C84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79376" y="332656"/>
          <a:ext cx="10972800" cy="50966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3555" name="TextBox 2">
            <a:extLst>
              <a:ext uri="{FF2B5EF4-FFF2-40B4-BE49-F238E27FC236}">
                <a16:creationId xmlns:a16="http://schemas.microsoft.com/office/drawing/2014/main" id="{8AE6295C-E117-CA8A-0DD2-6E05583347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625" y="5572125"/>
            <a:ext cx="107156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«Бірыңғай медициналық-санитарлық көмек пунктіне шаққандағы халық саны» көрсеткішіне 1700 адам қол жеткізілді.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Прямоугольник 6">
            <a:extLst>
              <a:ext uri="{FF2B5EF4-FFF2-40B4-BE49-F238E27FC236}">
                <a16:creationId xmlns:a16="http://schemas.microsoft.com/office/drawing/2014/main" id="{EEBBF60A-9950-A295-3A96-13E2C32F65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944" y="131639"/>
            <a:ext cx="1200655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en-US" sz="3600" b="1" err="1">
                <a:solidFill>
                  <a:srgbClr val="00225E"/>
                </a:solidFill>
                <a:latin typeface="Times New Roman"/>
                <a:cs typeface="Times New Roman"/>
              </a:rPr>
              <a:t>Амбулаториялық-емханалық</a:t>
            </a:r>
            <a:r>
              <a:rPr lang="ru-RU" altLang="en-US" sz="3600" b="1" dirty="0">
                <a:solidFill>
                  <a:srgbClr val="00225E"/>
                </a:solidFill>
                <a:latin typeface="Times New Roman"/>
                <a:cs typeface="Times New Roman"/>
              </a:rPr>
              <a:t> </a:t>
            </a:r>
            <a:r>
              <a:rPr lang="kk-KZ" altLang="en-US" sz="3600" b="1" dirty="0">
                <a:solidFill>
                  <a:srgbClr val="00225E"/>
                </a:solidFill>
                <a:latin typeface="Times New Roman"/>
                <a:cs typeface="Times New Roman"/>
              </a:rPr>
              <a:t>қызмет көрсетудің көлемі</a:t>
            </a:r>
            <a:r>
              <a:rPr lang="ru-RU" altLang="en-US" sz="3600" b="1" dirty="0">
                <a:solidFill>
                  <a:srgbClr val="00225E"/>
                </a:solidFill>
                <a:latin typeface="Times New Roman"/>
                <a:cs typeface="Times New Roman"/>
              </a:rPr>
              <a:t> </a:t>
            </a:r>
            <a:endParaRPr lang="en-US" altLang="en-US" sz="3600">
              <a:solidFill>
                <a:srgbClr val="00225E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24580" name="TextBox 7">
            <a:extLst>
              <a:ext uri="{FF2B5EF4-FFF2-40B4-BE49-F238E27FC236}">
                <a16:creationId xmlns:a16="http://schemas.microsoft.com/office/drawing/2014/main" id="{DCD7C0AD-B0EC-B60C-98A1-E7DDBD06A9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199" y="5904971"/>
            <a:ext cx="95980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 </a:t>
            </a:r>
            <a:r>
              <a:rPr lang="ru-RU" altLang="en-US" sz="1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жылда</a:t>
            </a:r>
            <a:r>
              <a:rPr lang="ru-RU" alt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1тұрғынның </a:t>
            </a:r>
            <a:r>
              <a:rPr lang="ru-RU" altLang="en-US" sz="1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емханаға</a:t>
            </a:r>
            <a:r>
              <a:rPr lang="ru-RU" alt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sz="1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келу</a:t>
            </a:r>
            <a:r>
              <a:rPr lang="ru-RU" alt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саны-5,6% (1,6 )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1000 </a:t>
            </a:r>
            <a:r>
              <a:rPr lang="ru-RU" altLang="en-US" sz="1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тұрғынға</a:t>
            </a:r>
            <a:r>
              <a:rPr lang="ru-RU" alt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sz="1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шаққанда</a:t>
            </a:r>
            <a:r>
              <a:rPr lang="ru-RU" alt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sz="1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диспансерлік</a:t>
            </a:r>
            <a:r>
              <a:rPr lang="ru-RU" alt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sz="1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бақылауды</a:t>
            </a:r>
            <a:r>
              <a:rPr lang="ru-RU" alt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sz="1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қамту</a:t>
            </a:r>
            <a:r>
              <a:rPr lang="ru-RU" alt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367,5 (271,9)</a:t>
            </a:r>
          </a:p>
        </p:txBody>
      </p:sp>
      <p:graphicFrame>
        <p:nvGraphicFramePr>
          <p:cNvPr id="20" name="Диаграмма 19">
            <a:extLst>
              <a:ext uri="{FF2B5EF4-FFF2-40B4-BE49-F238E27FC236}">
                <a16:creationId xmlns:a16="http://schemas.microsoft.com/office/drawing/2014/main" id="{A45C0146-395C-4F18-8623-EABC9CF87F3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52668007"/>
              </p:ext>
            </p:extLst>
          </p:nvPr>
        </p:nvGraphicFramePr>
        <p:xfrm>
          <a:off x="730779" y="1142999"/>
          <a:ext cx="9812866" cy="40470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8C0F23F4-0BA2-0206-0795-FB5142DDE0B0}"/>
              </a:ext>
            </a:extLst>
          </p:cNvPr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3656715635"/>
              </p:ext>
            </p:extLst>
          </p:nvPr>
        </p:nvGraphicFramePr>
        <p:xfrm>
          <a:off x="560294" y="788241"/>
          <a:ext cx="11058524" cy="1565275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614994">
                  <a:extLst>
                    <a:ext uri="{9D8B030D-6E8A-4147-A177-3AD203B41FA5}">
                      <a16:colId xmlns:a16="http://schemas.microsoft.com/office/drawing/2014/main" val="2054125106"/>
                    </a:ext>
                  </a:extLst>
                </a:gridCol>
                <a:gridCol w="737295">
                  <a:extLst>
                    <a:ext uri="{9D8B030D-6E8A-4147-A177-3AD203B41FA5}">
                      <a16:colId xmlns:a16="http://schemas.microsoft.com/office/drawing/2014/main" val="1726712460"/>
                    </a:ext>
                  </a:extLst>
                </a:gridCol>
                <a:gridCol w="727053">
                  <a:extLst>
                    <a:ext uri="{9D8B030D-6E8A-4147-A177-3AD203B41FA5}">
                      <a16:colId xmlns:a16="http://schemas.microsoft.com/office/drawing/2014/main" val="2078587377"/>
                    </a:ext>
                  </a:extLst>
                </a:gridCol>
                <a:gridCol w="788495">
                  <a:extLst>
                    <a:ext uri="{9D8B030D-6E8A-4147-A177-3AD203B41FA5}">
                      <a16:colId xmlns:a16="http://schemas.microsoft.com/office/drawing/2014/main" val="718543493"/>
                    </a:ext>
                  </a:extLst>
                </a:gridCol>
                <a:gridCol w="818337">
                  <a:extLst>
                    <a:ext uri="{9D8B030D-6E8A-4147-A177-3AD203B41FA5}">
                      <a16:colId xmlns:a16="http://schemas.microsoft.com/office/drawing/2014/main" val="4236395792"/>
                    </a:ext>
                  </a:extLst>
                </a:gridCol>
                <a:gridCol w="737235">
                  <a:extLst>
                    <a:ext uri="{9D8B030D-6E8A-4147-A177-3AD203B41FA5}">
                      <a16:colId xmlns:a16="http://schemas.microsoft.com/office/drawing/2014/main" val="3491934136"/>
                    </a:ext>
                  </a:extLst>
                </a:gridCol>
                <a:gridCol w="737235">
                  <a:extLst>
                    <a:ext uri="{9D8B030D-6E8A-4147-A177-3AD203B41FA5}">
                      <a16:colId xmlns:a16="http://schemas.microsoft.com/office/drawing/2014/main" val="1910401516"/>
                    </a:ext>
                  </a:extLst>
                </a:gridCol>
                <a:gridCol w="737235">
                  <a:extLst>
                    <a:ext uri="{9D8B030D-6E8A-4147-A177-3AD203B41FA5}">
                      <a16:colId xmlns:a16="http://schemas.microsoft.com/office/drawing/2014/main" val="2064960874"/>
                    </a:ext>
                  </a:extLst>
                </a:gridCol>
                <a:gridCol w="737235">
                  <a:extLst>
                    <a:ext uri="{9D8B030D-6E8A-4147-A177-3AD203B41FA5}">
                      <a16:colId xmlns:a16="http://schemas.microsoft.com/office/drawing/2014/main" val="3972003952"/>
                    </a:ext>
                  </a:extLst>
                </a:gridCol>
                <a:gridCol w="737235">
                  <a:extLst>
                    <a:ext uri="{9D8B030D-6E8A-4147-A177-3AD203B41FA5}">
                      <a16:colId xmlns:a16="http://schemas.microsoft.com/office/drawing/2014/main" val="542891272"/>
                    </a:ext>
                  </a:extLst>
                </a:gridCol>
                <a:gridCol w="737235">
                  <a:extLst>
                    <a:ext uri="{9D8B030D-6E8A-4147-A177-3AD203B41FA5}">
                      <a16:colId xmlns:a16="http://schemas.microsoft.com/office/drawing/2014/main" val="1695837943"/>
                    </a:ext>
                  </a:extLst>
                </a:gridCol>
                <a:gridCol w="737235">
                  <a:extLst>
                    <a:ext uri="{9D8B030D-6E8A-4147-A177-3AD203B41FA5}">
                      <a16:colId xmlns:a16="http://schemas.microsoft.com/office/drawing/2014/main" val="3247474100"/>
                    </a:ext>
                  </a:extLst>
                </a:gridCol>
                <a:gridCol w="737235">
                  <a:extLst>
                    <a:ext uri="{9D8B030D-6E8A-4147-A177-3AD203B41FA5}">
                      <a16:colId xmlns:a16="http://schemas.microsoft.com/office/drawing/2014/main" val="1496711861"/>
                    </a:ext>
                  </a:extLst>
                </a:gridCol>
                <a:gridCol w="737235">
                  <a:extLst>
                    <a:ext uri="{9D8B030D-6E8A-4147-A177-3AD203B41FA5}">
                      <a16:colId xmlns:a16="http://schemas.microsoft.com/office/drawing/2014/main" val="114330845"/>
                    </a:ext>
                  </a:extLst>
                </a:gridCol>
                <a:gridCol w="737235">
                  <a:extLst>
                    <a:ext uri="{9D8B030D-6E8A-4147-A177-3AD203B41FA5}">
                      <a16:colId xmlns:a16="http://schemas.microsoft.com/office/drawing/2014/main" val="2038524180"/>
                    </a:ext>
                  </a:extLst>
                </a:gridCol>
              </a:tblGrid>
              <a:tr h="823293">
                <a:tc>
                  <a:txBody>
                    <a:bodyPr/>
                    <a:lstStyle/>
                    <a:p>
                      <a:pPr algn="ctr"/>
                      <a:r>
                        <a:rPr lang="kk-KZ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Жыл</a:t>
                      </a:r>
                      <a:endParaRPr lang="ru-RU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7" marR="91437" marT="45739" marB="457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k-KZ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Барлығы</a:t>
                      </a:r>
                      <a:endParaRPr lang="ru-RU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7" marR="91437" marT="45739" marB="457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k-KZ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Алғашқы</a:t>
                      </a:r>
                      <a:endParaRPr lang="ru-RU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7" marR="91437" marT="45739" marB="457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k-KZ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Энд-к</a:t>
                      </a:r>
                      <a:r>
                        <a:rPr lang="kk-KZ" sz="12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жүйе</a:t>
                      </a:r>
                      <a:endParaRPr lang="ru-RU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7" marR="91437" marT="45739" marB="457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Алғашқы</a:t>
                      </a:r>
                      <a:endParaRPr lang="ru-RU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7" marR="91437" marT="45739" marB="457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Жүйке</a:t>
                      </a:r>
                      <a:r>
                        <a:rPr lang="ru-RU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жүйесі</a:t>
                      </a:r>
                      <a:endParaRPr lang="ru-RU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7" marR="91437" marT="45739" marB="457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Алғашқы</a:t>
                      </a:r>
                      <a:endParaRPr lang="ru-RU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7" marR="91437" marT="45739" marB="457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k-KZ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Жүрек</a:t>
                      </a:r>
                      <a:r>
                        <a:rPr lang="kk-KZ" sz="12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қан тамыр жүйесі</a:t>
                      </a:r>
                      <a:endParaRPr lang="ru-RU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7" marR="91437" marT="45739" marB="457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k-KZ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Алғашқы</a:t>
                      </a:r>
                      <a:endParaRPr lang="ru-RU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7" marR="91437" marT="45739" marB="457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Тыныс</a:t>
                      </a:r>
                      <a:r>
                        <a:rPr lang="ru-RU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алу</a:t>
                      </a:r>
                      <a:r>
                        <a:rPr lang="ru-RU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жүйесі</a:t>
                      </a:r>
                      <a:endParaRPr lang="ru-RU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7" marR="91437" marT="45739" marB="457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Алғашқы</a:t>
                      </a:r>
                      <a:endParaRPr lang="ru-RU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7" marR="91437" marT="45739" marB="457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Ас</a:t>
                      </a:r>
                      <a:r>
                        <a:rPr lang="ru-RU" sz="12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b="1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қорыту</a:t>
                      </a:r>
                      <a:r>
                        <a:rPr lang="ru-RU" sz="12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b="1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жүйесі</a:t>
                      </a:r>
                      <a:r>
                        <a:rPr lang="ru-RU" sz="12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ru-RU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7" marR="91437" marT="45739" marB="457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Алғашқы</a:t>
                      </a:r>
                      <a:endParaRPr lang="ru-RU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7" marR="91437" marT="45739" marB="457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Несеп</a:t>
                      </a:r>
                      <a:r>
                        <a:rPr lang="ru-RU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жыныс</a:t>
                      </a:r>
                      <a:r>
                        <a:rPr lang="ru-RU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жүйесі</a:t>
                      </a:r>
                      <a:endParaRPr lang="ru-RU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7" marR="91437" marT="45739" marB="457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k-KZ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Алашқы</a:t>
                      </a:r>
                      <a:endParaRPr lang="ru-RU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7" marR="91437" marT="45739" marB="457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4261164"/>
                  </a:ext>
                </a:extLst>
              </a:tr>
              <a:tr h="370991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marL="91437" marR="91437" marT="45739" marB="457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5944</a:t>
                      </a:r>
                    </a:p>
                  </a:txBody>
                  <a:tcPr marL="91437" marR="91437" marT="45739" marB="457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2765</a:t>
                      </a:r>
                    </a:p>
                  </a:txBody>
                  <a:tcPr marL="91437" marR="91437" marT="45739" marB="457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619</a:t>
                      </a:r>
                    </a:p>
                  </a:txBody>
                  <a:tcPr marL="91437" marR="91437" marT="45739" marB="457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</a:t>
                      </a:r>
                    </a:p>
                  </a:txBody>
                  <a:tcPr marL="91437" marR="91437" marT="45739" marB="457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230</a:t>
                      </a:r>
                    </a:p>
                  </a:txBody>
                  <a:tcPr marL="91437" marR="91437" marT="45739" marB="457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</a:t>
                      </a:r>
                    </a:p>
                  </a:txBody>
                  <a:tcPr marL="91437" marR="91437" marT="45739" marB="457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1820</a:t>
                      </a:r>
                    </a:p>
                  </a:txBody>
                  <a:tcPr marL="91437" marR="91437" marT="45739" marB="457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336</a:t>
                      </a:r>
                    </a:p>
                  </a:txBody>
                  <a:tcPr marL="91437" marR="91437" marT="45739" marB="457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1085</a:t>
                      </a:r>
                    </a:p>
                  </a:txBody>
                  <a:tcPr marL="91437" marR="91437" marT="45739" marB="457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915</a:t>
                      </a:r>
                    </a:p>
                  </a:txBody>
                  <a:tcPr marL="91437" marR="91437" marT="45739" marB="457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446</a:t>
                      </a:r>
                    </a:p>
                  </a:txBody>
                  <a:tcPr marL="91437" marR="91437" marT="45739" marB="457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334</a:t>
                      </a:r>
                    </a:p>
                  </a:txBody>
                  <a:tcPr marL="91437" marR="91437" marT="45739" marB="457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275</a:t>
                      </a:r>
                    </a:p>
                  </a:txBody>
                  <a:tcPr marL="91437" marR="91437" marT="45739" marB="457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</a:t>
                      </a:r>
                    </a:p>
                  </a:txBody>
                  <a:tcPr marL="91437" marR="91437" marT="45739" marB="457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7697804"/>
                  </a:ext>
                </a:extLst>
              </a:tr>
              <a:tr h="370991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marL="91437" marR="91437" marT="45739" marB="457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23 841</a:t>
                      </a:r>
                    </a:p>
                  </a:txBody>
                  <a:tcPr marL="91437" marR="91437" marT="45739" marB="457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13 536</a:t>
                      </a:r>
                    </a:p>
                  </a:txBody>
                  <a:tcPr marL="91437" marR="91437" marT="45739" marB="457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2 205</a:t>
                      </a:r>
                    </a:p>
                  </a:txBody>
                  <a:tcPr marL="91437" marR="91437" marT="45739" marB="457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520</a:t>
                      </a:r>
                    </a:p>
                  </a:txBody>
                  <a:tcPr marL="91437" marR="91437" marT="45739" marB="457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1 460</a:t>
                      </a:r>
                    </a:p>
                  </a:txBody>
                  <a:tcPr marL="91437" marR="91437" marT="45739" marB="457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596</a:t>
                      </a:r>
                    </a:p>
                  </a:txBody>
                  <a:tcPr marL="91437" marR="91437" marT="45739" marB="457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5 544</a:t>
                      </a:r>
                    </a:p>
                  </a:txBody>
                  <a:tcPr marL="91437" marR="91437" marT="45739" marB="457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1 925</a:t>
                      </a:r>
                    </a:p>
                  </a:txBody>
                  <a:tcPr marL="91437" marR="91437" marT="45739" marB="457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4 183</a:t>
                      </a:r>
                    </a:p>
                  </a:txBody>
                  <a:tcPr marL="91437" marR="91437" marT="45739" marB="457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4 490</a:t>
                      </a:r>
                    </a:p>
                  </a:txBody>
                  <a:tcPr marL="91437" marR="91437" marT="45739" marB="457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1 450</a:t>
                      </a:r>
                    </a:p>
                  </a:txBody>
                  <a:tcPr marL="91437" marR="91437" marT="45739" marB="457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839</a:t>
                      </a:r>
                    </a:p>
                  </a:txBody>
                  <a:tcPr marL="91437" marR="91437" marT="45739" marB="457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1 475</a:t>
                      </a:r>
                    </a:p>
                  </a:txBody>
                  <a:tcPr marL="91437" marR="91437" marT="45739" marB="457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1 065</a:t>
                      </a:r>
                    </a:p>
                  </a:txBody>
                  <a:tcPr marL="91437" marR="91437" marT="45739" marB="457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3425518"/>
                  </a:ext>
                </a:extLst>
              </a:tr>
            </a:tbl>
          </a:graphicData>
        </a:graphic>
      </p:graphicFrame>
      <p:sp>
        <p:nvSpPr>
          <p:cNvPr id="25668" name="TextBox 10">
            <a:extLst>
              <a:ext uri="{FF2B5EF4-FFF2-40B4-BE49-F238E27FC236}">
                <a16:creationId xmlns:a16="http://schemas.microsoft.com/office/drawing/2014/main" id="{3435687E-33AC-34CE-2D94-2C0EDD07D4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6870" y="99498"/>
            <a:ext cx="552730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en-US" b="1" dirty="0" err="1">
                <a:solidFill>
                  <a:srgbClr val="00225E"/>
                </a:solidFill>
                <a:latin typeface="Times New Roman"/>
                <a:cs typeface="Times New Roman"/>
              </a:rPr>
              <a:t>Жалпы</a:t>
            </a:r>
            <a:r>
              <a:rPr lang="ru-RU" altLang="en-US" b="1" dirty="0">
                <a:solidFill>
                  <a:srgbClr val="00225E"/>
                </a:solidFill>
                <a:latin typeface="Times New Roman"/>
                <a:cs typeface="Times New Roman"/>
              </a:rPr>
              <a:t> </a:t>
            </a:r>
            <a:r>
              <a:rPr lang="ru-RU" altLang="en-US" b="1" dirty="0" err="1">
                <a:solidFill>
                  <a:srgbClr val="00225E"/>
                </a:solidFill>
                <a:latin typeface="Times New Roman"/>
                <a:cs typeface="Times New Roman"/>
              </a:rPr>
              <a:t>сырқаттанушылық</a:t>
            </a:r>
          </a:p>
        </p:txBody>
      </p:sp>
      <p:graphicFrame>
        <p:nvGraphicFramePr>
          <p:cNvPr id="7" name="Объект 4">
            <a:extLst>
              <a:ext uri="{FF2B5EF4-FFF2-40B4-BE49-F238E27FC236}">
                <a16:creationId xmlns:a16="http://schemas.microsoft.com/office/drawing/2014/main" id="{D07AEF21-9498-4ECE-B13B-BE667F77A4D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86373405"/>
              </p:ext>
            </p:extLst>
          </p:nvPr>
        </p:nvGraphicFramePr>
        <p:xfrm>
          <a:off x="399383" y="2905125"/>
          <a:ext cx="5595016" cy="3238182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450255">
                  <a:extLst>
                    <a:ext uri="{9D8B030D-6E8A-4147-A177-3AD203B41FA5}">
                      <a16:colId xmlns:a16="http://schemas.microsoft.com/office/drawing/2014/main" val="890116065"/>
                    </a:ext>
                  </a:extLst>
                </a:gridCol>
                <a:gridCol w="660594">
                  <a:extLst>
                    <a:ext uri="{9D8B030D-6E8A-4147-A177-3AD203B41FA5}">
                      <a16:colId xmlns:a16="http://schemas.microsoft.com/office/drawing/2014/main" val="2680297228"/>
                    </a:ext>
                  </a:extLst>
                </a:gridCol>
                <a:gridCol w="682539">
                  <a:extLst>
                    <a:ext uri="{9D8B030D-6E8A-4147-A177-3AD203B41FA5}">
                      <a16:colId xmlns:a16="http://schemas.microsoft.com/office/drawing/2014/main" val="2088313892"/>
                    </a:ext>
                  </a:extLst>
                </a:gridCol>
                <a:gridCol w="636265">
                  <a:extLst>
                    <a:ext uri="{9D8B030D-6E8A-4147-A177-3AD203B41FA5}">
                      <a16:colId xmlns:a16="http://schemas.microsoft.com/office/drawing/2014/main" val="741888134"/>
                    </a:ext>
                  </a:extLst>
                </a:gridCol>
                <a:gridCol w="820613">
                  <a:extLst>
                    <a:ext uri="{9D8B030D-6E8A-4147-A177-3AD203B41FA5}">
                      <a16:colId xmlns:a16="http://schemas.microsoft.com/office/drawing/2014/main" val="3225128081"/>
                    </a:ext>
                  </a:extLst>
                </a:gridCol>
                <a:gridCol w="627863">
                  <a:extLst>
                    <a:ext uri="{9D8B030D-6E8A-4147-A177-3AD203B41FA5}">
                      <a16:colId xmlns:a16="http://schemas.microsoft.com/office/drawing/2014/main" val="3370885480"/>
                    </a:ext>
                  </a:extLst>
                </a:gridCol>
                <a:gridCol w="716887">
                  <a:extLst>
                    <a:ext uri="{9D8B030D-6E8A-4147-A177-3AD203B41FA5}">
                      <a16:colId xmlns:a16="http://schemas.microsoft.com/office/drawing/2014/main" val="3713582124"/>
                    </a:ext>
                  </a:extLst>
                </a:gridCol>
              </a:tblGrid>
              <a:tr h="392988"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kern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Сырқаттанушылық</a:t>
                      </a:r>
                      <a:endParaRPr lang="ru-RU" sz="1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indent="3429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Ересектер</a:t>
                      </a:r>
                      <a:endParaRPr lang="ru-RU" sz="1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Жасөспірімдер</a:t>
                      </a:r>
                      <a:endParaRPr lang="ru-RU" sz="1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indent="3429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Балалар</a:t>
                      </a:r>
                      <a:endParaRPr lang="ru-RU" sz="1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107457"/>
                  </a:ext>
                </a:extLst>
              </a:tr>
              <a:tr h="392988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4572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47240608"/>
                  </a:ext>
                </a:extLst>
              </a:tr>
              <a:tr h="123376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Жалпы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1000 </a:t>
                      </a:r>
                      <a:r>
                        <a:rPr lang="ru-RU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адамға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шаққанда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4806</a:t>
                      </a:r>
                    </a:p>
                    <a:p>
                      <a:pPr indent="4572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</a:p>
                    <a:p>
                      <a:pPr indent="4572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475,5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19018</a:t>
                      </a:r>
                    </a:p>
                    <a:p>
                      <a:pPr indent="4572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</a:p>
                    <a:p>
                      <a:pPr indent="4572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1718,4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138</a:t>
                      </a:r>
                    </a:p>
                    <a:p>
                      <a:pPr indent="4572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</a:p>
                    <a:p>
                      <a:pPr indent="4572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324,7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860</a:t>
                      </a:r>
                    </a:p>
                    <a:p>
                      <a:pPr indent="4572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</a:p>
                    <a:p>
                      <a:pPr indent="4572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1182,9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</a:t>
                      </a:r>
                    </a:p>
                    <a:p>
                      <a:pPr indent="4572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</a:p>
                    <a:p>
                      <a:pPr indent="4572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302,9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3936</a:t>
                      </a:r>
                    </a:p>
                    <a:p>
                      <a:pPr indent="4572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</a:p>
                    <a:p>
                      <a:pPr indent="4572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979,1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06555601"/>
                  </a:ext>
                </a:extLst>
              </a:tr>
              <a:tr h="121843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Алғашқы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1000 </a:t>
                      </a:r>
                      <a:r>
                        <a:rPr lang="ru-RU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адамға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шаққанда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1771</a:t>
                      </a:r>
                    </a:p>
                    <a:p>
                      <a:pPr indent="4572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</a:p>
                    <a:p>
                      <a:pPr indent="4572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175,2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9703</a:t>
                      </a:r>
                    </a:p>
                    <a:p>
                      <a:pPr indent="4572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</a:p>
                    <a:p>
                      <a:pPr indent="4572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876,7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</a:t>
                      </a:r>
                    </a:p>
                    <a:p>
                      <a:pPr indent="4572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</a:p>
                    <a:p>
                      <a:pPr indent="4572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237,6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645</a:t>
                      </a:r>
                    </a:p>
                    <a:p>
                      <a:pPr indent="4572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</a:p>
                    <a:p>
                      <a:pPr indent="4572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887,2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893</a:t>
                      </a:r>
                    </a:p>
                    <a:p>
                      <a:pPr indent="4572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</a:p>
                    <a:p>
                      <a:pPr indent="4572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270,5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3188</a:t>
                      </a:r>
                    </a:p>
                    <a:p>
                      <a:pPr indent="4572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</a:p>
                    <a:p>
                      <a:pPr indent="4572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793,03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59992316"/>
                  </a:ext>
                </a:extLst>
              </a:tr>
            </a:tbl>
          </a:graphicData>
        </a:graphic>
      </p:graphicFrame>
      <p:graphicFrame>
        <p:nvGraphicFramePr>
          <p:cNvPr id="8" name="Диаграмма 7">
            <a:extLst>
              <a:ext uri="{FF2B5EF4-FFF2-40B4-BE49-F238E27FC236}">
                <a16:creationId xmlns:a16="http://schemas.microsoft.com/office/drawing/2014/main" id="{065E1098-4716-4DA6-988F-85A1C2D0B3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28687809"/>
              </p:ext>
            </p:extLst>
          </p:nvPr>
        </p:nvGraphicFramePr>
        <p:xfrm>
          <a:off x="5994399" y="2625725"/>
          <a:ext cx="3022391" cy="26271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Диаграмма 8">
            <a:extLst>
              <a:ext uri="{FF2B5EF4-FFF2-40B4-BE49-F238E27FC236}">
                <a16:creationId xmlns:a16="http://schemas.microsoft.com/office/drawing/2014/main" id="{44C6B067-D30B-4158-8510-BFC119AF68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20813191"/>
              </p:ext>
            </p:extLst>
          </p:nvPr>
        </p:nvGraphicFramePr>
        <p:xfrm>
          <a:off x="8746067" y="3657348"/>
          <a:ext cx="3149600" cy="29069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Google Shape;350;p42">
            <a:extLst>
              <a:ext uri="{FF2B5EF4-FFF2-40B4-BE49-F238E27FC236}">
                <a16:creationId xmlns:a16="http://schemas.microsoft.com/office/drawing/2014/main" id="{1E2E8F07-1754-6757-F11F-9C2415DFE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50" y="249238"/>
            <a:ext cx="10972800" cy="533400"/>
          </a:xfrm>
        </p:spPr>
        <p:txBody>
          <a:bodyPr lIns="91425" tIns="45700" rIns="91425" bIns="45700" anchor="b"/>
          <a:lstStyle/>
          <a:p>
            <a:pPr algn="ctr" eaLnBrk="1" hangingPunct="1">
              <a:buClr>
                <a:srgbClr val="004E6C"/>
              </a:buClr>
              <a:buSzPts val="1800"/>
              <a:buFont typeface="Times New Roman" panose="02020603050405020304" pitchFamily="18" charset="0"/>
              <a:buNone/>
            </a:pPr>
            <a:r>
              <a:rPr lang="kk-KZ" altLang="en-US" sz="2400" b="1" dirty="0">
                <a:solidFill>
                  <a:srgbClr val="00225E"/>
                </a:solidFill>
                <a:latin typeface="Times New Roman"/>
                <a:cs typeface="Times New Roman"/>
                <a:sym typeface="Times New Roman" panose="02020603050405020304" pitchFamily="18" charset="0"/>
              </a:rPr>
              <a:t>СТАЦИОНАРДЫ АЛМАСТЫРАТЫН МЕДИЦИНАЛЫҚ КӨМЕК</a:t>
            </a:r>
            <a:endParaRPr lang="en-US" altLang="en-US" sz="2400" b="1" dirty="0">
              <a:solidFill>
                <a:srgbClr val="00225E"/>
              </a:solidFill>
              <a:latin typeface="Times New Roman"/>
              <a:cs typeface="Times New Roman"/>
            </a:endParaRPr>
          </a:p>
        </p:txBody>
      </p:sp>
      <p:sp>
        <p:nvSpPr>
          <p:cNvPr id="26628" name="Прямоугольник 1">
            <a:extLst>
              <a:ext uri="{FF2B5EF4-FFF2-40B4-BE49-F238E27FC236}">
                <a16:creationId xmlns:a16="http://schemas.microsoft.com/office/drawing/2014/main" id="{E394F673-A918-6CC5-9E1E-66FEDD774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7738" y="966788"/>
            <a:ext cx="10180637" cy="1058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kk-KZ" alt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Емхананың 2024 жылдың қазан айының 1</a:t>
            </a:r>
            <a:r>
              <a:rPr lang="en-US" alt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kk-KZ" alt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да ашылуына байланысты 2024 жылға стационарды алмастыратын медициналық көмекке қаржыландыру бөлінбеуіне орай күндізгі стационар жұмыс жасамады. </a:t>
            </a:r>
            <a:endParaRPr lang="en-US" alt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038AEE83-6318-4C5C-9667-D0ECE013A7A2}"/>
              </a:ext>
            </a:extLst>
          </p:cNvPr>
          <p:cNvSpPr txBox="1">
            <a:spLocks/>
          </p:cNvSpPr>
          <p:nvPr/>
        </p:nvSpPr>
        <p:spPr>
          <a:xfrm>
            <a:off x="7834313" y="2155825"/>
            <a:ext cx="3567112" cy="457200"/>
          </a:xfrm>
          <a:prstGeom prst="rect">
            <a:avLst/>
          </a:prstGeom>
        </p:spPr>
        <p:txBody>
          <a:bodyPr lIns="91440" tIns="45720" rIns="91440" bIns="4572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  <a:defRPr/>
            </a:pPr>
            <a:r>
              <a:rPr lang="kk-KZ" b="1" dirty="0">
                <a:solidFill>
                  <a:srgbClr val="00225E"/>
                </a:solidFill>
                <a:latin typeface="Times New Roman"/>
                <a:cs typeface="Times New Roman"/>
              </a:rPr>
              <a:t>Емдеу нәтижесі</a:t>
            </a:r>
            <a:endParaRPr lang="ru-RU" b="1" dirty="0">
              <a:solidFill>
                <a:srgbClr val="00225E"/>
              </a:solidFill>
              <a:latin typeface="Times New Roman"/>
              <a:cs typeface="Times New Roman"/>
            </a:endParaRPr>
          </a:p>
        </p:txBody>
      </p:sp>
      <p:graphicFrame>
        <p:nvGraphicFramePr>
          <p:cNvPr id="6" name="Объект 3">
            <a:extLst>
              <a:ext uri="{FF2B5EF4-FFF2-40B4-BE49-F238E27FC236}">
                <a16:creationId xmlns:a16="http://schemas.microsoft.com/office/drawing/2014/main" id="{91B55FB3-3BDF-4EFC-9D40-6EA8B1DF430A}"/>
              </a:ext>
            </a:extLst>
          </p:cNvPr>
          <p:cNvGraphicFramePr>
            <a:graphicFrameLocks/>
          </p:cNvGraphicFramePr>
          <p:nvPr/>
        </p:nvGraphicFramePr>
        <p:xfrm>
          <a:off x="7560733" y="2743199"/>
          <a:ext cx="4114799" cy="38401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9" name="Содержимое 7">
            <a:extLst>
              <a:ext uri="{FF2B5EF4-FFF2-40B4-BE49-F238E27FC236}">
                <a16:creationId xmlns:a16="http://schemas.microsoft.com/office/drawing/2014/main" id="{AAF55115-E66A-4D11-8105-88B7E83C68F8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609600" y="2184765"/>
          <a:ext cx="6366932" cy="43985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044232D-53C2-44F9-B3BA-DAF5B6DB39CD}"/>
              </a:ext>
            </a:extLst>
          </p:cNvPr>
          <p:cNvSpPr/>
          <p:nvPr/>
        </p:nvSpPr>
        <p:spPr>
          <a:xfrm>
            <a:off x="2128184" y="261097"/>
            <a:ext cx="7948613" cy="400050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000" b="1" cap="all" dirty="0">
                <a:ln w="0"/>
                <a:solidFill>
                  <a:srgbClr val="00225E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Times New Roman"/>
                <a:cs typeface="Times New Roman"/>
              </a:rPr>
              <a:t>2024-2025 ж. </a:t>
            </a:r>
            <a:r>
              <a:rPr lang="ru-RU" sz="2000" b="1" cap="all" dirty="0" err="1">
                <a:ln w="0"/>
                <a:solidFill>
                  <a:srgbClr val="00225E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Times New Roman"/>
                <a:cs typeface="Times New Roman"/>
              </a:rPr>
              <a:t>бойынша</a:t>
            </a:r>
            <a:r>
              <a:rPr lang="ru-RU" sz="2000" b="1" cap="all" dirty="0">
                <a:ln w="0"/>
                <a:solidFill>
                  <a:srgbClr val="00225E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Times New Roman"/>
                <a:cs typeface="Times New Roman"/>
              </a:rPr>
              <a:t> </a:t>
            </a:r>
            <a:r>
              <a:rPr lang="ru-RU" sz="2000" b="1" cap="all" dirty="0" err="1">
                <a:ln w="0"/>
                <a:solidFill>
                  <a:srgbClr val="00225E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Times New Roman"/>
                <a:cs typeface="Times New Roman"/>
              </a:rPr>
              <a:t>ауруханаға</a:t>
            </a:r>
            <a:r>
              <a:rPr lang="ru-RU" sz="2000" b="1" cap="all" dirty="0">
                <a:ln w="0"/>
                <a:solidFill>
                  <a:srgbClr val="00225E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Times New Roman"/>
                <a:cs typeface="Times New Roman"/>
              </a:rPr>
              <a:t> </a:t>
            </a:r>
            <a:r>
              <a:rPr lang="ru-RU" sz="2000" b="1" cap="all" dirty="0" err="1">
                <a:ln w="0"/>
                <a:solidFill>
                  <a:srgbClr val="00225E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Times New Roman"/>
                <a:cs typeface="Times New Roman"/>
              </a:rPr>
              <a:t>жатқызылғандар</a:t>
            </a:r>
            <a:endParaRPr lang="ru-RU" sz="2000" b="1" cap="all" dirty="0">
              <a:ln w="0"/>
              <a:solidFill>
                <a:srgbClr val="00225E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Times New Roman"/>
              <a:cs typeface="Times New Roman"/>
            </a:endParaRPr>
          </a:p>
        </p:txBody>
      </p:sp>
      <p:pic>
        <p:nvPicPr>
          <p:cNvPr id="27651" name="Рисунок 4" descr="https://www.expressmed.ru/bitrix/templates/main-new/images/shema.png">
            <a:extLst>
              <a:ext uri="{FF2B5EF4-FFF2-40B4-BE49-F238E27FC236}">
                <a16:creationId xmlns:a16="http://schemas.microsoft.com/office/drawing/2014/main" id="{28BED9A4-57E1-FEEE-F779-5F8C323837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6888" y="0"/>
            <a:ext cx="1425575" cy="935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B0D68A7E-515E-7A9A-E298-FFDBC3A4F3A8}"/>
              </a:ext>
            </a:extLst>
          </p:cNvPr>
          <p:cNvGraphicFramePr>
            <a:graphicFrameLocks noGrp="1"/>
          </p:cNvGraphicFramePr>
          <p:nvPr/>
        </p:nvGraphicFramePr>
        <p:xfrm>
          <a:off x="449263" y="1077913"/>
          <a:ext cx="4468812" cy="5308603"/>
        </p:xfrm>
        <a:graphic>
          <a:graphicData uri="http://schemas.openxmlformats.org/drawingml/2006/table">
            <a:tbl>
              <a:tblPr/>
              <a:tblGrid>
                <a:gridCol w="2011362">
                  <a:extLst>
                    <a:ext uri="{9D8B030D-6E8A-4147-A177-3AD203B41FA5}">
                      <a16:colId xmlns:a16="http://schemas.microsoft.com/office/drawing/2014/main" val="1009560023"/>
                    </a:ext>
                  </a:extLst>
                </a:gridCol>
                <a:gridCol w="1127125">
                  <a:extLst>
                    <a:ext uri="{9D8B030D-6E8A-4147-A177-3AD203B41FA5}">
                      <a16:colId xmlns:a16="http://schemas.microsoft.com/office/drawing/2014/main" val="3978104085"/>
                    </a:ext>
                  </a:extLst>
                </a:gridCol>
                <a:gridCol w="1330325">
                  <a:extLst>
                    <a:ext uri="{9D8B030D-6E8A-4147-A177-3AD203B41FA5}">
                      <a16:colId xmlns:a16="http://schemas.microsoft.com/office/drawing/2014/main" val="984678902"/>
                    </a:ext>
                  </a:extLst>
                </a:gridCol>
              </a:tblGrid>
              <a:tr h="454025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onstantia" panose="02030602050306030303" pitchFamily="18" charset="0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50175" marR="50175" marT="79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268288" indent="-635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268288" marR="0" lvl="0" indent="-6350" algn="ctr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 жыл 3 ай бойынша </a:t>
                      </a:r>
                      <a:endParaRPr kumimoji="0" lang="en-US" altLang="en-US" sz="1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68575" marR="26675" marT="38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269875" indent="-635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269875" marR="0" lvl="0" indent="-6350" algn="ctr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</a:t>
                      </a:r>
                      <a:r>
                        <a:rPr kumimoji="0" lang="kk-KZ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kumimoji="0" lang="ru-RU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жыл 12 ай бойынша </a:t>
                      </a:r>
                      <a:endParaRPr kumimoji="0" lang="en-US" altLang="en-US" sz="1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68575" marR="26675" marT="38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8195125"/>
                  </a:ext>
                </a:extLst>
              </a:tr>
              <a:tr h="49371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k-KZ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Барлық емдеуге жатқызу бюросына рәсімделгендер саны </a:t>
                      </a:r>
                    </a:p>
                  </a:txBody>
                  <a:tcPr marL="50175" marR="50175" marT="79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125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1116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787350"/>
                  </a:ext>
                </a:extLst>
              </a:tr>
              <a:tr h="38258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Күту парағынан алынып тасталды</a:t>
                      </a:r>
                      <a:endParaRPr kumimoji="0" lang="ru-RU" altLang="en-US" sz="1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50175" marR="50175" marT="79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145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8863128"/>
                  </a:ext>
                </a:extLst>
              </a:tr>
              <a:tr h="49371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Шұғыл түрде ауруханаға жатқызылды</a:t>
                      </a:r>
                      <a:endParaRPr kumimoji="0" lang="ru-RU" altLang="en-US" sz="1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50175" marR="50175" marT="79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15940"/>
                  </a:ext>
                </a:extLst>
              </a:tr>
              <a:tr h="49371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Ауруханаға жатқызудан жазбаша түрде бас тарту</a:t>
                      </a:r>
                      <a:endParaRPr kumimoji="0" lang="ru-RU" altLang="en-US" sz="1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50175" marR="50175" marT="79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1971371"/>
                  </a:ext>
                </a:extLst>
              </a:tr>
              <a:tr h="49371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k-KZ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Зерттеудің ең аз көлемі жүргізілмеген</a:t>
                      </a:r>
                    </a:p>
                  </a:txBody>
                  <a:tcPr marL="50175" marR="50175" marT="79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256172"/>
                  </a:ext>
                </a:extLst>
              </a:tr>
              <a:tr h="37623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Пациенттің </a:t>
                      </a:r>
                      <a:r>
                        <a:rPr kumimoji="0" lang="ru-RU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емдеуге жатқызу бюросына </a:t>
                      </a:r>
                      <a:r>
                        <a:rPr kumimoji="0" lang="ru-RU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жатуға келмеуі</a:t>
                      </a:r>
                      <a:endParaRPr kumimoji="0" lang="ru-RU" altLang="en-US" sz="1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50175" marR="50175" marT="79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9778704"/>
                  </a:ext>
                </a:extLst>
              </a:tr>
              <a:tr h="49371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k-KZ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Пациенттің ауруханағ дейінгі кезеңдегі өлімі</a:t>
                      </a:r>
                    </a:p>
                  </a:txBody>
                  <a:tcPr marL="50175" marR="50175" marT="79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5157756"/>
                  </a:ext>
                </a:extLst>
              </a:tr>
              <a:tr h="566737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Қате жазбалар, емдеуге жатқызу бюросының порталы бойынша</a:t>
                      </a:r>
                      <a:endParaRPr kumimoji="0" lang="ru-RU" altLang="en-US" sz="1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50175" marR="50175" marT="79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807125"/>
                  </a:ext>
                </a:extLst>
              </a:tr>
              <a:tr h="49371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Емдеуге жатқызуға дейінгі қарсы көрсетілімдердің болуы</a:t>
                      </a:r>
                      <a:endParaRPr kumimoji="0" lang="ru-RU" altLang="en-US" sz="1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50175" marR="50175" marT="79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6728307"/>
                  </a:ext>
                </a:extLst>
              </a:tr>
              <a:tr h="566737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Емдеуге жатқызу бюросы деңгейіне байланысты емес жағдайлар</a:t>
                      </a:r>
                      <a:endParaRPr kumimoji="0" lang="ru-RU" altLang="en-US" sz="1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50175" marR="50175" marT="79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5990029"/>
                  </a:ext>
                </a:extLst>
              </a:tr>
            </a:tbl>
          </a:graphicData>
        </a:graphic>
      </p:graphicFrame>
      <p:graphicFrame>
        <p:nvGraphicFramePr>
          <p:cNvPr id="7" name="Диаграмма 6">
            <a:extLst>
              <a:ext uri="{FF2B5EF4-FFF2-40B4-BE49-F238E27FC236}">
                <a16:creationId xmlns:a16="http://schemas.microsoft.com/office/drawing/2014/main" id="{E4762C09-4697-4917-A40F-14691593EB63}"/>
              </a:ext>
            </a:extLst>
          </p:cNvPr>
          <p:cNvGraphicFramePr/>
          <p:nvPr/>
        </p:nvGraphicFramePr>
        <p:xfrm>
          <a:off x="5080001" y="761654"/>
          <a:ext cx="6832600" cy="59016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object 2">
            <a:extLst>
              <a:ext uri="{FF2B5EF4-FFF2-40B4-BE49-F238E27FC236}">
                <a16:creationId xmlns:a16="http://schemas.microsoft.com/office/drawing/2014/main" id="{2C423E1B-88C5-8914-49E5-3967F115F2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969963"/>
            <a:ext cx="3360738" cy="881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37833922-8F5A-085B-9F1D-F08938E2E1D7}"/>
              </a:ext>
            </a:extLst>
          </p:cNvPr>
          <p:cNvSpPr txBox="1"/>
          <p:nvPr/>
        </p:nvSpPr>
        <p:spPr>
          <a:xfrm>
            <a:off x="1654175" y="1055688"/>
            <a:ext cx="3236913" cy="688975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algn="ctr" eaLnBrk="1" fontAlgn="auto" hangingPunct="1">
              <a:lnSpc>
                <a:spcPts val="1920"/>
              </a:lnSpc>
              <a:spcBef>
                <a:spcPts val="95"/>
              </a:spcBef>
              <a:spcAft>
                <a:spcPts val="0"/>
              </a:spcAft>
              <a:defRPr/>
            </a:pPr>
            <a:r>
              <a:rPr sz="1600" b="1" spc="-25" dirty="0">
                <a:latin typeface="Arial"/>
                <a:cs typeface="Arial"/>
              </a:rPr>
              <a:t>ЖФВ</a:t>
            </a:r>
            <a:endParaRPr sz="1600" dirty="0">
              <a:latin typeface="Arial"/>
              <a:cs typeface="Arial"/>
            </a:endParaRPr>
          </a:p>
          <a:p>
            <a:pPr algn="ctr" eaLnBrk="1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400" b="1" dirty="0">
                <a:latin typeface="Arial"/>
                <a:cs typeface="Arial"/>
              </a:rPr>
              <a:t>202</a:t>
            </a:r>
            <a:r>
              <a:rPr lang="kk-KZ" sz="1400" b="1" dirty="0">
                <a:latin typeface="Arial"/>
                <a:cs typeface="Arial"/>
              </a:rPr>
              <a:t>4</a:t>
            </a:r>
            <a:r>
              <a:rPr sz="1400" b="1" dirty="0">
                <a:latin typeface="Arial"/>
                <a:cs typeface="Arial"/>
              </a:rPr>
              <a:t>г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–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lang="kk-KZ" sz="1400" b="1" spc="-20" dirty="0">
                <a:latin typeface="Arial"/>
                <a:cs typeface="Arial"/>
              </a:rPr>
              <a:t>3</a:t>
            </a:r>
            <a:r>
              <a:rPr lang="ru-RU" sz="1400" b="1" spc="-20" dirty="0">
                <a:latin typeface="Arial"/>
                <a:cs typeface="Arial"/>
              </a:rPr>
              <a:t> 878</a:t>
            </a:r>
            <a:endParaRPr sz="1400" dirty="0">
              <a:latin typeface="Arial"/>
              <a:cs typeface="Arial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400" b="1" dirty="0">
                <a:latin typeface="Arial"/>
                <a:cs typeface="Arial"/>
              </a:rPr>
              <a:t>20</a:t>
            </a:r>
            <a:r>
              <a:rPr lang="ru-RU" sz="1400" b="1" dirty="0">
                <a:latin typeface="Arial"/>
                <a:cs typeface="Arial"/>
              </a:rPr>
              <a:t>25</a:t>
            </a:r>
            <a:r>
              <a:rPr sz="1400" b="1" dirty="0">
                <a:latin typeface="Arial"/>
                <a:cs typeface="Arial"/>
              </a:rPr>
              <a:t>г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–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lang="ru-RU" sz="1400" b="1" spc="-20" dirty="0">
                <a:latin typeface="Arial"/>
                <a:cs typeface="Arial"/>
              </a:rPr>
              <a:t>4 275</a:t>
            </a:r>
            <a:endParaRPr sz="1400" dirty="0">
              <a:latin typeface="Arial"/>
              <a:cs typeface="Arial"/>
            </a:endParaRPr>
          </a:p>
        </p:txBody>
      </p:sp>
      <p:pic>
        <p:nvPicPr>
          <p:cNvPr id="28676" name="object 4">
            <a:extLst>
              <a:ext uri="{FF2B5EF4-FFF2-40B4-BE49-F238E27FC236}">
                <a16:creationId xmlns:a16="http://schemas.microsoft.com/office/drawing/2014/main" id="{F0F53EC6-3566-870D-41E6-F55A41D518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688" y="2457450"/>
            <a:ext cx="3457575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53B972D4-3D86-0C3A-74E2-F7646C98C9BA}"/>
              </a:ext>
            </a:extLst>
          </p:cNvPr>
          <p:cNvSpPr txBox="1"/>
          <p:nvPr/>
        </p:nvSpPr>
        <p:spPr>
          <a:xfrm>
            <a:off x="2424113" y="2522538"/>
            <a:ext cx="2041525" cy="688975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 algn="ctr" eaLnBrk="1" fontAlgn="auto" hangingPunct="1">
              <a:lnSpc>
                <a:spcPts val="1920"/>
              </a:lnSpc>
              <a:spcBef>
                <a:spcPts val="95"/>
              </a:spcBef>
              <a:spcAft>
                <a:spcPts val="0"/>
              </a:spcAft>
              <a:defRPr/>
            </a:pPr>
            <a:r>
              <a:rPr lang="kk-KZ" sz="1600" b="1" spc="-10" dirty="0">
                <a:latin typeface="Arial"/>
                <a:cs typeface="Arial"/>
              </a:rPr>
              <a:t>ЖҮКТІ ӘЙЕЛДЕР</a:t>
            </a:r>
            <a:endParaRPr sz="1600" dirty="0">
              <a:latin typeface="Arial"/>
              <a:cs typeface="Arial"/>
            </a:endParaRPr>
          </a:p>
          <a:p>
            <a:pPr marL="128270" algn="ctr" eaLnBrk="1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400" b="1" dirty="0">
                <a:latin typeface="Arial"/>
                <a:cs typeface="Arial"/>
              </a:rPr>
              <a:t>202</a:t>
            </a:r>
            <a:r>
              <a:rPr lang="kk-KZ" sz="1400" b="1" dirty="0">
                <a:latin typeface="Arial"/>
                <a:cs typeface="Arial"/>
              </a:rPr>
              <a:t>4</a:t>
            </a:r>
            <a:r>
              <a:rPr sz="1400" b="1" dirty="0">
                <a:latin typeface="Arial"/>
                <a:cs typeface="Arial"/>
              </a:rPr>
              <a:t>г</a:t>
            </a:r>
            <a:r>
              <a:rPr sz="1400" b="1" spc="-4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–</a:t>
            </a:r>
            <a:r>
              <a:rPr sz="1400" b="1" spc="-10" dirty="0">
                <a:latin typeface="Arial"/>
                <a:cs typeface="Arial"/>
              </a:rPr>
              <a:t> </a:t>
            </a:r>
            <a:r>
              <a:rPr lang="kk-KZ" sz="1400" b="1" spc="-10" dirty="0">
                <a:latin typeface="Arial"/>
                <a:cs typeface="Arial"/>
              </a:rPr>
              <a:t>119</a:t>
            </a:r>
            <a:endParaRPr sz="1400" dirty="0">
              <a:latin typeface="Arial"/>
              <a:cs typeface="Arial"/>
            </a:endParaRPr>
          </a:p>
          <a:p>
            <a:pPr marL="52069"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400" b="1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20</a:t>
            </a:r>
            <a:r>
              <a:rPr lang="ru-RU" sz="1400" b="1" dirty="0">
                <a:latin typeface="Arial"/>
                <a:cs typeface="Arial"/>
              </a:rPr>
              <a:t>25</a:t>
            </a:r>
            <a:r>
              <a:rPr sz="1400" b="1" dirty="0">
                <a:latin typeface="Arial"/>
                <a:cs typeface="Arial"/>
              </a:rPr>
              <a:t>г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–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lang="ru-RU" sz="1400" b="1" spc="-20" dirty="0">
                <a:latin typeface="Arial"/>
                <a:cs typeface="Arial"/>
              </a:rPr>
              <a:t>108</a:t>
            </a:r>
            <a:endParaRPr sz="1400" dirty="0">
              <a:latin typeface="Arial"/>
              <a:cs typeface="Arial"/>
            </a:endParaRPr>
          </a:p>
        </p:txBody>
      </p:sp>
      <p:pic>
        <p:nvPicPr>
          <p:cNvPr id="28678" name="object 7">
            <a:extLst>
              <a:ext uri="{FF2B5EF4-FFF2-40B4-BE49-F238E27FC236}">
                <a16:creationId xmlns:a16="http://schemas.microsoft.com/office/drawing/2014/main" id="{9607ED7A-6B9F-AFFE-B75F-E877C3ED85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050" y="3971925"/>
            <a:ext cx="3478213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object 9">
            <a:extLst>
              <a:ext uri="{FF2B5EF4-FFF2-40B4-BE49-F238E27FC236}">
                <a16:creationId xmlns:a16="http://schemas.microsoft.com/office/drawing/2014/main" id="{ACDB3B06-9634-9570-F7C6-8ACD985B69E9}"/>
              </a:ext>
            </a:extLst>
          </p:cNvPr>
          <p:cNvSpPr txBox="1"/>
          <p:nvPr/>
        </p:nvSpPr>
        <p:spPr>
          <a:xfrm>
            <a:off x="2222500" y="4033838"/>
            <a:ext cx="2243138" cy="685800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algn="ctr" eaLnBrk="1" fontAlgn="auto" hangingPunct="1">
              <a:lnSpc>
                <a:spcPts val="1920"/>
              </a:lnSpc>
              <a:spcBef>
                <a:spcPts val="95"/>
              </a:spcBef>
              <a:spcAft>
                <a:spcPts val="0"/>
              </a:spcAft>
              <a:defRPr/>
            </a:pPr>
            <a:r>
              <a:rPr lang="kk-KZ" sz="1600" b="1" spc="-20" dirty="0">
                <a:latin typeface="Arial"/>
                <a:cs typeface="Arial"/>
              </a:rPr>
              <a:t>БОСАНҒАН ӘЙЕЛДЕР</a:t>
            </a:r>
            <a:endParaRPr sz="1600" dirty="0">
              <a:latin typeface="Arial"/>
              <a:cs typeface="Arial"/>
            </a:endParaRPr>
          </a:p>
          <a:p>
            <a:pPr marL="2540"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400" b="1" dirty="0">
                <a:latin typeface="Arial"/>
                <a:cs typeface="Arial"/>
              </a:rPr>
              <a:t>202</a:t>
            </a:r>
            <a:r>
              <a:rPr lang="kk-KZ" sz="1400" b="1" dirty="0">
                <a:latin typeface="Arial"/>
                <a:cs typeface="Arial"/>
              </a:rPr>
              <a:t>4</a:t>
            </a:r>
            <a:r>
              <a:rPr sz="1400" b="1" dirty="0">
                <a:latin typeface="Arial"/>
                <a:cs typeface="Arial"/>
              </a:rPr>
              <a:t>г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–</a:t>
            </a:r>
            <a:r>
              <a:rPr sz="1400" b="1" spc="-10" dirty="0">
                <a:latin typeface="Arial"/>
                <a:cs typeface="Arial"/>
              </a:rPr>
              <a:t> </a:t>
            </a:r>
            <a:r>
              <a:rPr lang="kk-KZ" sz="1400" b="1" spc="-10" dirty="0">
                <a:latin typeface="Arial"/>
                <a:cs typeface="Arial"/>
              </a:rPr>
              <a:t>36</a:t>
            </a:r>
            <a:endParaRPr sz="1400" dirty="0">
              <a:latin typeface="Arial"/>
              <a:cs typeface="Arial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400" b="1" dirty="0">
                <a:latin typeface="Arial"/>
                <a:cs typeface="Arial"/>
              </a:rPr>
              <a:t>20</a:t>
            </a:r>
            <a:r>
              <a:rPr lang="ru-RU" sz="1400" b="1" dirty="0">
                <a:latin typeface="Arial"/>
                <a:cs typeface="Arial"/>
              </a:rPr>
              <a:t>25</a:t>
            </a:r>
            <a:r>
              <a:rPr sz="1400" b="1" dirty="0">
                <a:latin typeface="Arial"/>
                <a:cs typeface="Arial"/>
              </a:rPr>
              <a:t>г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–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lang="kk-KZ" sz="1400" b="1" spc="-20" dirty="0">
                <a:latin typeface="Arial"/>
                <a:cs typeface="Arial"/>
              </a:rPr>
              <a:t>268</a:t>
            </a:r>
            <a:endParaRPr sz="1400" dirty="0">
              <a:latin typeface="Arial"/>
              <a:cs typeface="Arial"/>
            </a:endParaRPr>
          </a:p>
        </p:txBody>
      </p:sp>
      <p:pic>
        <p:nvPicPr>
          <p:cNvPr id="28680" name="object 10">
            <a:extLst>
              <a:ext uri="{FF2B5EF4-FFF2-40B4-BE49-F238E27FC236}">
                <a16:creationId xmlns:a16="http://schemas.microsoft.com/office/drawing/2014/main" id="{1C77A1CE-DA3B-97A4-BD73-B6A82FFD89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9550" y="5327650"/>
            <a:ext cx="3411538" cy="92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object 12">
            <a:extLst>
              <a:ext uri="{FF2B5EF4-FFF2-40B4-BE49-F238E27FC236}">
                <a16:creationId xmlns:a16="http://schemas.microsoft.com/office/drawing/2014/main" id="{8E1A7E76-522A-8E9B-ABFC-CE0B9D60F878}"/>
              </a:ext>
            </a:extLst>
          </p:cNvPr>
          <p:cNvSpPr txBox="1"/>
          <p:nvPr/>
        </p:nvSpPr>
        <p:spPr>
          <a:xfrm>
            <a:off x="2222500" y="5438775"/>
            <a:ext cx="2317750" cy="688975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 eaLnBrk="1" fontAlgn="auto" hangingPunct="1">
              <a:lnSpc>
                <a:spcPts val="1920"/>
              </a:lnSpc>
              <a:spcBef>
                <a:spcPts val="95"/>
              </a:spcBef>
              <a:spcAft>
                <a:spcPts val="0"/>
              </a:spcAft>
              <a:defRPr/>
            </a:pPr>
            <a:r>
              <a:rPr lang="kk-KZ" sz="1600" b="1" spc="-10" dirty="0">
                <a:latin typeface="Arial"/>
                <a:cs typeface="Arial"/>
              </a:rPr>
              <a:t>ТІРІ ТУЫЛҒАНДАР</a:t>
            </a:r>
            <a:endParaRPr sz="1600" dirty="0">
              <a:latin typeface="Arial"/>
              <a:cs typeface="Arial"/>
            </a:endParaRPr>
          </a:p>
          <a:p>
            <a:pPr marL="320675" eaLnBrk="1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400" b="1" dirty="0">
                <a:latin typeface="Arial"/>
                <a:cs typeface="Arial"/>
              </a:rPr>
              <a:t>202</a:t>
            </a:r>
            <a:r>
              <a:rPr lang="kk-KZ" sz="1400" b="1" dirty="0">
                <a:latin typeface="Arial"/>
                <a:cs typeface="Arial"/>
              </a:rPr>
              <a:t>4</a:t>
            </a:r>
            <a:r>
              <a:rPr sz="1400" b="1" dirty="0">
                <a:latin typeface="Arial"/>
                <a:cs typeface="Arial"/>
              </a:rPr>
              <a:t>г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–</a:t>
            </a:r>
            <a:r>
              <a:rPr sz="1400" b="1" spc="-10" dirty="0">
                <a:latin typeface="Arial"/>
                <a:cs typeface="Arial"/>
              </a:rPr>
              <a:t> </a:t>
            </a:r>
            <a:r>
              <a:rPr lang="ru-RU" sz="1400" b="1" spc="-10" dirty="0">
                <a:latin typeface="Arial"/>
                <a:cs typeface="Arial"/>
              </a:rPr>
              <a:t>36</a:t>
            </a:r>
            <a:endParaRPr sz="1400" dirty="0">
              <a:latin typeface="Arial"/>
              <a:cs typeface="Arial"/>
            </a:endParaRPr>
          </a:p>
          <a:p>
            <a:pPr marL="36004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400" b="1" dirty="0">
                <a:latin typeface="Arial"/>
                <a:cs typeface="Arial"/>
              </a:rPr>
              <a:t>20</a:t>
            </a:r>
            <a:r>
              <a:rPr lang="ru-RU" sz="1400" b="1" dirty="0">
                <a:latin typeface="Arial"/>
                <a:cs typeface="Arial"/>
              </a:rPr>
              <a:t>25</a:t>
            </a:r>
            <a:r>
              <a:rPr sz="1400" b="1" dirty="0">
                <a:latin typeface="Arial"/>
                <a:cs typeface="Arial"/>
              </a:rPr>
              <a:t>г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–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lang="ru-RU" sz="1400" b="1" spc="-20" dirty="0">
                <a:latin typeface="Arial"/>
                <a:cs typeface="Arial"/>
              </a:rPr>
              <a:t>269</a:t>
            </a:r>
            <a:endParaRPr sz="1400" dirty="0">
              <a:latin typeface="Arial"/>
              <a:cs typeface="Arial"/>
            </a:endParaRPr>
          </a:p>
        </p:txBody>
      </p:sp>
      <p:grpSp>
        <p:nvGrpSpPr>
          <p:cNvPr id="28682" name="object 13">
            <a:extLst>
              <a:ext uri="{FF2B5EF4-FFF2-40B4-BE49-F238E27FC236}">
                <a16:creationId xmlns:a16="http://schemas.microsoft.com/office/drawing/2014/main" id="{E3ABB838-FA43-8D8C-F78A-232B6595B937}"/>
              </a:ext>
            </a:extLst>
          </p:cNvPr>
          <p:cNvGrpSpPr>
            <a:grpSpLocks/>
          </p:cNvGrpSpPr>
          <p:nvPr/>
        </p:nvGrpSpPr>
        <p:grpSpPr bwMode="auto">
          <a:xfrm>
            <a:off x="0" y="763588"/>
            <a:ext cx="1803400" cy="6010275"/>
            <a:chOff x="0" y="763523"/>
            <a:chExt cx="1803400" cy="6009640"/>
          </a:xfrm>
        </p:grpSpPr>
        <p:pic>
          <p:nvPicPr>
            <p:cNvPr id="28688" name="object 14">
              <a:extLst>
                <a:ext uri="{FF2B5EF4-FFF2-40B4-BE49-F238E27FC236}">
                  <a16:creationId xmlns:a16="http://schemas.microsoft.com/office/drawing/2014/main" id="{05E833B7-86A0-6E03-256E-6CE7374FCB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270759"/>
              <a:ext cx="1760220" cy="15194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8689" name="object 15">
              <a:extLst>
                <a:ext uri="{FF2B5EF4-FFF2-40B4-BE49-F238E27FC236}">
                  <a16:creationId xmlns:a16="http://schemas.microsoft.com/office/drawing/2014/main" id="{80BB696B-F20B-A62C-205A-3AC9A037C5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763523"/>
              <a:ext cx="1760220" cy="1606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8690" name="object 16">
              <a:extLst>
                <a:ext uri="{FF2B5EF4-FFF2-40B4-BE49-F238E27FC236}">
                  <a16:creationId xmlns:a16="http://schemas.microsoft.com/office/drawing/2014/main" id="{85E6D637-82F7-2127-8BB7-1CBF37BFD2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3745991"/>
              <a:ext cx="1740408" cy="15575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8691" name="object 17">
              <a:extLst>
                <a:ext uri="{FF2B5EF4-FFF2-40B4-BE49-F238E27FC236}">
                  <a16:creationId xmlns:a16="http://schemas.microsoft.com/office/drawing/2014/main" id="{C0EAFF44-6FF0-CC12-2F58-307FC43DE8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5087110"/>
              <a:ext cx="1802892" cy="1685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8683" name="TextBox 10">
            <a:extLst>
              <a:ext uri="{FF2B5EF4-FFF2-40B4-BE49-F238E27FC236}">
                <a16:creationId xmlns:a16="http://schemas.microsoft.com/office/drawing/2014/main" id="{A825F0B7-E28B-1EE9-912B-21EEA6BEAE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113" y="314325"/>
            <a:ext cx="55594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en-US" sz="2000" b="1" dirty="0" err="1">
                <a:solidFill>
                  <a:srgbClr val="00225E"/>
                </a:solidFill>
                <a:latin typeface="Times New Roman"/>
                <a:cs typeface="Times New Roman"/>
              </a:rPr>
              <a:t>Акушерлік-гинекологиялық</a:t>
            </a:r>
            <a:r>
              <a:rPr lang="ru-RU" altLang="en-US" sz="2000" b="1" dirty="0">
                <a:solidFill>
                  <a:srgbClr val="00225E"/>
                </a:solidFill>
                <a:latin typeface="Times New Roman"/>
                <a:cs typeface="Times New Roman"/>
              </a:rPr>
              <a:t> </a:t>
            </a:r>
            <a:r>
              <a:rPr lang="ru-RU" altLang="en-US" sz="2000" b="1" dirty="0" err="1">
                <a:solidFill>
                  <a:srgbClr val="00225E"/>
                </a:solidFill>
                <a:latin typeface="Times New Roman"/>
                <a:cs typeface="Times New Roman"/>
              </a:rPr>
              <a:t>қызмет</a:t>
            </a:r>
          </a:p>
        </p:txBody>
      </p:sp>
      <p:sp>
        <p:nvSpPr>
          <p:cNvPr id="28685" name="TextBox 4">
            <a:extLst>
              <a:ext uri="{FF2B5EF4-FFF2-40B4-BE49-F238E27FC236}">
                <a16:creationId xmlns:a16="http://schemas.microsoft.com/office/drawing/2014/main" id="{2DE21310-29C7-046B-AAF6-361DEB410A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0738" y="6421438"/>
            <a:ext cx="48545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en-US" sz="16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Табиғи өсім 15,8 (6,6%)</a:t>
            </a:r>
          </a:p>
        </p:txBody>
      </p:sp>
      <p:sp>
        <p:nvSpPr>
          <p:cNvPr id="28687" name="Прямоугольник 21">
            <a:extLst>
              <a:ext uri="{FF2B5EF4-FFF2-40B4-BE49-F238E27FC236}">
                <a16:creationId xmlns:a16="http://schemas.microsoft.com/office/drawing/2014/main" id="{836AD926-674D-0510-FF4A-7123A65350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4950" y="2524125"/>
            <a:ext cx="4770438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 b="1" dirty="0" err="1">
                <a:solidFill>
                  <a:srgbClr val="00225E"/>
                </a:solidFill>
                <a:latin typeface="Times New Roman"/>
                <a:cs typeface="Times New Roman"/>
              </a:rPr>
              <a:t>Перинаталдық</a:t>
            </a:r>
            <a:r>
              <a:rPr lang="en-US" altLang="en-US" sz="2000" b="1" dirty="0">
                <a:solidFill>
                  <a:srgbClr val="00225E"/>
                </a:solidFill>
                <a:latin typeface="Times New Roman"/>
                <a:cs typeface="Times New Roman"/>
              </a:rPr>
              <a:t> </a:t>
            </a:r>
            <a:r>
              <a:rPr lang="en-US" altLang="en-US" sz="2000" b="1" dirty="0" err="1">
                <a:solidFill>
                  <a:srgbClr val="00225E"/>
                </a:solidFill>
                <a:latin typeface="Times New Roman"/>
                <a:cs typeface="Times New Roman"/>
              </a:rPr>
              <a:t>өлімнің</a:t>
            </a:r>
            <a:r>
              <a:rPr lang="en-US" altLang="en-US" sz="2000" b="1" dirty="0">
                <a:solidFill>
                  <a:srgbClr val="00225E"/>
                </a:solidFill>
                <a:latin typeface="Times New Roman"/>
                <a:cs typeface="Times New Roman"/>
              </a:rPr>
              <a:t> </a:t>
            </a:r>
            <a:r>
              <a:rPr lang="en-US" altLang="en-US" sz="2000" b="1" dirty="0" err="1">
                <a:solidFill>
                  <a:srgbClr val="00225E"/>
                </a:solidFill>
                <a:latin typeface="Times New Roman"/>
                <a:cs typeface="Times New Roman"/>
              </a:rPr>
              <a:t>салыстырмалы</a:t>
            </a:r>
            <a:endParaRPr lang="kk-KZ" altLang="en-US" sz="2000" b="1" dirty="0">
              <a:solidFill>
                <a:srgbClr val="00225E"/>
              </a:solidFill>
              <a:latin typeface="Times New Roman"/>
              <a:cs typeface="Times New Roman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rgbClr val="00225E"/>
                </a:solidFill>
                <a:latin typeface="Times New Roman"/>
                <a:cs typeface="Times New Roman"/>
              </a:rPr>
              <a:t> </a:t>
            </a:r>
            <a:r>
              <a:rPr lang="en-US" altLang="en-US" sz="2000" b="1" dirty="0" err="1">
                <a:solidFill>
                  <a:srgbClr val="00225E"/>
                </a:solidFill>
                <a:latin typeface="Times New Roman"/>
                <a:cs typeface="Times New Roman"/>
              </a:rPr>
              <a:t>талдауы</a:t>
            </a:r>
            <a:r>
              <a:rPr lang="en-US" altLang="en-US" sz="2000" b="1" dirty="0">
                <a:solidFill>
                  <a:srgbClr val="00225E"/>
                </a:solidFill>
                <a:latin typeface="Times New Roman"/>
                <a:cs typeface="Times New Roman"/>
              </a:rPr>
              <a:t> </a:t>
            </a:r>
          </a:p>
        </p:txBody>
      </p:sp>
      <p:graphicFrame>
        <p:nvGraphicFramePr>
          <p:cNvPr id="22" name="Содержимое 4">
            <a:extLst>
              <a:ext uri="{FF2B5EF4-FFF2-40B4-BE49-F238E27FC236}">
                <a16:creationId xmlns:a16="http://schemas.microsoft.com/office/drawing/2014/main" id="{F781604E-4C4F-4A26-8F42-82AD44F84F9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45446" y="450448"/>
          <a:ext cx="4691241" cy="19200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23" name="Диаграмма 22">
            <a:extLst>
              <a:ext uri="{FF2B5EF4-FFF2-40B4-BE49-F238E27FC236}">
                <a16:creationId xmlns:a16="http://schemas.microsoft.com/office/drawing/2014/main" id="{E160E1F2-02C1-447C-AE6F-01B9506BF732}"/>
              </a:ext>
            </a:extLst>
          </p:cNvPr>
          <p:cNvGraphicFramePr/>
          <p:nvPr/>
        </p:nvGraphicFramePr>
        <p:xfrm>
          <a:off x="6349736" y="3108692"/>
          <a:ext cx="5241131" cy="34021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D6E35457-7C8D-6454-B61F-7EBF558ABB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4629" y="255107"/>
            <a:ext cx="5494278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40" tIns="45720" rIns="91440" bIns="45720" anchor="ctr">
            <a:spAutoFit/>
          </a:bodyPr>
          <a:lstStyle/>
          <a:p>
            <a:pPr algn="ctr" eaLnBrk="1" hangingPunct="1">
              <a:defRPr/>
            </a:pPr>
            <a:r>
              <a:rPr lang="ru-RU" sz="2000" b="1" cap="all" err="1">
                <a:ln w="9000" cmpd="sng">
                  <a:noFill/>
                  <a:prstDash val="solid"/>
                </a:ln>
                <a:solidFill>
                  <a:srgbClr val="00225E"/>
                </a:solidFill>
                <a:effectLst>
                  <a:reflection blurRad="12700" stA="28000" endPos="45000" dist="1000" dir="5400000" sy="-100000" algn="bl" rotWithShape="0"/>
                </a:effectLst>
                <a:latin typeface="Times New Roman"/>
                <a:ea typeface="Times New Roman" panose="02020603050405020304" pitchFamily="18" charset="0"/>
                <a:cs typeface="Times New Roman"/>
              </a:rPr>
              <a:t>Жүктілік</a:t>
            </a:r>
            <a:r>
              <a:rPr lang="ru-RU" sz="2000" b="1" cap="all" dirty="0">
                <a:ln w="9000" cmpd="sng">
                  <a:noFill/>
                  <a:prstDash val="solid"/>
                </a:ln>
                <a:solidFill>
                  <a:srgbClr val="00225E"/>
                </a:solidFill>
                <a:effectLst>
                  <a:reflection blurRad="12700" stA="28000" endPos="45000" dist="1000" dir="5400000" sy="-100000" algn="bl" rotWithShape="0"/>
                </a:effectLst>
                <a:latin typeface="Times New Roman"/>
                <a:ea typeface="Times New Roman" panose="02020603050405020304" pitchFamily="18" charset="0"/>
                <a:cs typeface="Times New Roman"/>
              </a:rPr>
              <a:t> </a:t>
            </a:r>
            <a:r>
              <a:rPr lang="ru-RU" sz="2000" b="1" cap="all" err="1">
                <a:ln w="9000" cmpd="sng">
                  <a:noFill/>
                  <a:prstDash val="solid"/>
                </a:ln>
                <a:solidFill>
                  <a:srgbClr val="00225E"/>
                </a:solidFill>
                <a:effectLst>
                  <a:reflection blurRad="12700" stA="28000" endPos="45000" dist="1000" dir="5400000" sy="-100000" algn="bl" rotWithShape="0"/>
                </a:effectLst>
                <a:latin typeface="Times New Roman"/>
                <a:ea typeface="Times New Roman" panose="02020603050405020304" pitchFamily="18" charset="0"/>
                <a:cs typeface="Times New Roman"/>
              </a:rPr>
              <a:t>бойынша</a:t>
            </a:r>
            <a:r>
              <a:rPr lang="ru-RU" sz="2000" b="1" cap="all" dirty="0">
                <a:ln w="9000" cmpd="sng">
                  <a:noFill/>
                  <a:prstDash val="solid"/>
                </a:ln>
                <a:solidFill>
                  <a:srgbClr val="00225E"/>
                </a:solidFill>
                <a:effectLst>
                  <a:reflection blurRad="12700" stA="28000" endPos="45000" dist="1000" dir="5400000" sy="-100000" algn="bl" rotWithShape="0"/>
                </a:effectLst>
                <a:latin typeface="Times New Roman"/>
                <a:ea typeface="Times New Roman" panose="02020603050405020304" pitchFamily="18" charset="0"/>
                <a:cs typeface="Times New Roman"/>
              </a:rPr>
              <a:t> </a:t>
            </a:r>
            <a:r>
              <a:rPr lang="ru-RU" sz="2000" b="1" cap="all" err="1">
                <a:ln w="9000" cmpd="sng">
                  <a:noFill/>
                  <a:prstDash val="solid"/>
                </a:ln>
                <a:solidFill>
                  <a:srgbClr val="00225E"/>
                </a:solidFill>
                <a:effectLst>
                  <a:reflection blurRad="12700" stA="28000" endPos="45000" dist="1000" dir="5400000" sy="-100000" algn="bl" rotWithShape="0"/>
                </a:effectLst>
                <a:latin typeface="Times New Roman"/>
                <a:ea typeface="Times New Roman" panose="02020603050405020304" pitchFamily="18" charset="0"/>
                <a:cs typeface="Times New Roman"/>
              </a:rPr>
              <a:t>уақытында</a:t>
            </a:r>
            <a:r>
              <a:rPr lang="ru-RU" sz="2000" b="1" cap="all" dirty="0">
                <a:ln w="9000" cmpd="sng">
                  <a:noFill/>
                  <a:prstDash val="solid"/>
                </a:ln>
                <a:solidFill>
                  <a:srgbClr val="00225E"/>
                </a:solidFill>
                <a:effectLst>
                  <a:reflection blurRad="12700" stA="28000" endPos="45000" dist="1000" dir="5400000" sy="-100000" algn="bl" rotWithShape="0"/>
                </a:effectLst>
                <a:latin typeface="Times New Roman"/>
                <a:ea typeface="Times New Roman" panose="02020603050405020304" pitchFamily="18" charset="0"/>
                <a:cs typeface="Times New Roman"/>
              </a:rPr>
              <a:t> </a:t>
            </a:r>
            <a:r>
              <a:rPr lang="ru-RU" sz="2000" b="1" cap="all" err="1">
                <a:ln w="9000" cmpd="sng">
                  <a:noFill/>
                  <a:prstDash val="solid"/>
                </a:ln>
                <a:solidFill>
                  <a:srgbClr val="00225E"/>
                </a:solidFill>
                <a:effectLst>
                  <a:reflection blurRad="12700" stA="28000" endPos="45000" dist="1000" dir="5400000" sy="-100000" algn="bl" rotWithShape="0"/>
                </a:effectLst>
                <a:latin typeface="Times New Roman"/>
                <a:ea typeface="Times New Roman" panose="02020603050405020304" pitchFamily="18" charset="0"/>
                <a:cs typeface="Times New Roman"/>
              </a:rPr>
              <a:t>есепке</a:t>
            </a:r>
            <a:r>
              <a:rPr lang="ru-RU" sz="2000" b="1" cap="all" dirty="0">
                <a:ln w="9000" cmpd="sng">
                  <a:noFill/>
                  <a:prstDash val="solid"/>
                </a:ln>
                <a:solidFill>
                  <a:srgbClr val="00225E"/>
                </a:solidFill>
                <a:effectLst>
                  <a:reflection blurRad="12700" stA="28000" endPos="45000" dist="1000" dir="5400000" sy="-100000" algn="bl" rotWithShape="0"/>
                </a:effectLst>
                <a:latin typeface="Times New Roman"/>
                <a:ea typeface="Times New Roman" panose="02020603050405020304" pitchFamily="18" charset="0"/>
                <a:cs typeface="Times New Roman"/>
              </a:rPr>
              <a:t> </a:t>
            </a:r>
            <a:r>
              <a:rPr lang="ru-RU" sz="2000" b="1" cap="all" err="1">
                <a:ln w="9000" cmpd="sng">
                  <a:noFill/>
                  <a:prstDash val="solid"/>
                </a:ln>
                <a:solidFill>
                  <a:srgbClr val="00225E"/>
                </a:solidFill>
                <a:effectLst>
                  <a:reflection blurRad="12700" stA="28000" endPos="45000" dist="1000" dir="5400000" sy="-100000" algn="bl" rotWithShape="0"/>
                </a:effectLst>
                <a:latin typeface="Times New Roman"/>
                <a:ea typeface="Times New Roman" panose="02020603050405020304" pitchFamily="18" charset="0"/>
                <a:cs typeface="Times New Roman"/>
              </a:rPr>
              <a:t>тұру</a:t>
            </a:r>
            <a:r>
              <a:rPr lang="ru-RU" sz="2000" b="1" cap="all" dirty="0">
                <a:ln w="9000" cmpd="sng">
                  <a:noFill/>
                  <a:prstDash val="solid"/>
                </a:ln>
                <a:solidFill>
                  <a:srgbClr val="00225E"/>
                </a:solidFill>
                <a:effectLst>
                  <a:reflection blurRad="12700" stA="28000" endPos="45000" dist="1000" dir="5400000" sy="-100000" algn="bl" rotWithShape="0"/>
                </a:effectLst>
                <a:latin typeface="Times New Roman"/>
                <a:ea typeface="Times New Roman" panose="02020603050405020304" pitchFamily="18" charset="0"/>
                <a:cs typeface="Times New Roman"/>
              </a:rPr>
              <a:t> </a:t>
            </a:r>
            <a:r>
              <a:rPr lang="ru-RU" sz="2000" b="1" cap="all" err="1">
                <a:ln w="9000" cmpd="sng">
                  <a:noFill/>
                  <a:prstDash val="solid"/>
                </a:ln>
                <a:solidFill>
                  <a:srgbClr val="00225E"/>
                </a:solidFill>
                <a:effectLst>
                  <a:reflection blurRad="12700" stA="28000" endPos="45000" dist="1000" dir="5400000" sy="-100000" algn="bl" rotWithShape="0"/>
                </a:effectLst>
                <a:latin typeface="Times New Roman"/>
                <a:ea typeface="Times New Roman" panose="02020603050405020304" pitchFamily="18" charset="0"/>
                <a:cs typeface="Times New Roman"/>
              </a:rPr>
              <a:t>көрсеткіші</a:t>
            </a:r>
            <a:endParaRPr lang="ru-RU" sz="2000" b="1" cap="all">
              <a:ln w="9000" cmpd="sng">
                <a:noFill/>
                <a:prstDash val="solid"/>
              </a:ln>
              <a:solidFill>
                <a:srgbClr val="00225E"/>
              </a:solidFill>
              <a:effectLst>
                <a:reflection blurRad="12700" stA="28000" endPos="45000" dist="1000" dir="5400000" sy="-100000" algn="bl" rotWithShape="0"/>
              </a:effectLst>
              <a:latin typeface="Times New Roman"/>
              <a:cs typeface="Times New Roman"/>
            </a:endParaRP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F6175368-409E-F73A-289B-796F019B280E}"/>
              </a:ext>
            </a:extLst>
          </p:cNvPr>
          <p:cNvSpPr/>
          <p:nvPr/>
        </p:nvSpPr>
        <p:spPr>
          <a:xfrm>
            <a:off x="-2268538" y="-200025"/>
            <a:ext cx="3165476" cy="3371850"/>
          </a:xfrm>
          <a:prstGeom prst="ellipse">
            <a:avLst/>
          </a:prstGeom>
          <a:solidFill>
            <a:srgbClr val="1A0F49">
              <a:lumMod val="90000"/>
              <a:lumOff val="1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kern="0">
              <a:solidFill>
                <a:srgbClr val="FFFFFF"/>
              </a:solidFill>
              <a:latin typeface="Calibri Light"/>
            </a:endParaRPr>
          </a:p>
        </p:txBody>
      </p:sp>
      <p:sp>
        <p:nvSpPr>
          <p:cNvPr id="29701" name="TextBox 8">
            <a:extLst>
              <a:ext uri="{FF2B5EF4-FFF2-40B4-BE49-F238E27FC236}">
                <a16:creationId xmlns:a16="http://schemas.microsoft.com/office/drawing/2014/main" id="{AF0996BC-35A5-9B9E-299C-D47CEEAD571C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-1410493" y="946943"/>
            <a:ext cx="2971800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3200" b="1">
              <a:solidFill>
                <a:srgbClr val="FFFFFF"/>
              </a:solidFill>
              <a:latin typeface="Calibri Light" panose="020F0302020204030204" pitchFamily="34" charset="0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 b="1">
                <a:solidFill>
                  <a:srgbClr val="FFFFFF"/>
                </a:solidFill>
              </a:rPr>
              <a:t>PREGNANT</a:t>
            </a:r>
            <a:endParaRPr lang="en-US" altLang="en-US" sz="3200" b="1">
              <a:solidFill>
                <a:srgbClr val="FFFFFF"/>
              </a:solidFill>
              <a:latin typeface="Calibri Light" panose="020F0302020204030204" pitchFamily="34" charset="0"/>
            </a:endParaRPr>
          </a:p>
        </p:txBody>
      </p:sp>
      <p:sp>
        <p:nvSpPr>
          <p:cNvPr id="29702" name="Прямоугольник 3">
            <a:extLst>
              <a:ext uri="{FF2B5EF4-FFF2-40B4-BE49-F238E27FC236}">
                <a16:creationId xmlns:a16="http://schemas.microsoft.com/office/drawing/2014/main" id="{AADCAD0B-FA95-72E1-CB0F-232EB2F04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75" y="347663"/>
            <a:ext cx="174625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en-US" b="1" dirty="0">
                <a:solidFill>
                  <a:srgbClr val="00225E"/>
                </a:solidFill>
                <a:latin typeface="Times New Roman"/>
                <a:cs typeface="Times New Roman"/>
              </a:rPr>
              <a:t>БОСАНУ</a:t>
            </a:r>
          </a:p>
        </p:txBody>
      </p:sp>
      <p:sp>
        <p:nvSpPr>
          <p:cNvPr id="29704" name="TextBox 11">
            <a:extLst>
              <a:ext uri="{FF2B5EF4-FFF2-40B4-BE49-F238E27FC236}">
                <a16:creationId xmlns:a16="http://schemas.microsoft.com/office/drawing/2014/main" id="{2C3C389F-EE31-C8F5-B79F-F7890B649E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857" y="6438060"/>
            <a:ext cx="116713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en-US" sz="1600" b="1" i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2024 жылмен салыстырғанда босану саны 247 әйелге көбейді, негізгі себеп емхана 2024 жылдың қазан айының 15 де ашылды.</a:t>
            </a:r>
          </a:p>
        </p:txBody>
      </p:sp>
      <p:graphicFrame>
        <p:nvGraphicFramePr>
          <p:cNvPr id="9" name="Диаграмма 8">
            <a:extLst>
              <a:ext uri="{FF2B5EF4-FFF2-40B4-BE49-F238E27FC236}">
                <a16:creationId xmlns:a16="http://schemas.microsoft.com/office/drawing/2014/main" id="{726A10EB-AB65-4A52-B028-CC0BF3E841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4107744"/>
              </p:ext>
            </p:extLst>
          </p:nvPr>
        </p:nvGraphicFramePr>
        <p:xfrm>
          <a:off x="896938" y="1214565"/>
          <a:ext cx="4930937" cy="52852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Объект 7">
            <a:extLst>
              <a:ext uri="{FF2B5EF4-FFF2-40B4-BE49-F238E27FC236}">
                <a16:creationId xmlns:a16="http://schemas.microsoft.com/office/drawing/2014/main" id="{C5E88D2A-539A-41FD-B5AF-1BA21FF6D6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4277915"/>
              </p:ext>
            </p:extLst>
          </p:nvPr>
        </p:nvGraphicFramePr>
        <p:xfrm>
          <a:off x="6231617" y="1368844"/>
          <a:ext cx="5296620" cy="47663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Прямоугольник 1">
            <a:extLst>
              <a:ext uri="{FF2B5EF4-FFF2-40B4-BE49-F238E27FC236}">
                <a16:creationId xmlns:a16="http://schemas.microsoft.com/office/drawing/2014/main" id="{1CFF71DB-4D68-383E-8E34-BDEBFCDB0A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163" y="5094288"/>
            <a:ext cx="110744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en-US" sz="18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Ескерту</a:t>
            </a:r>
            <a:r>
              <a:rPr lang="ru-RU" altLang="en-US" sz="1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en-US" sz="1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2024 </a:t>
            </a:r>
            <a:r>
              <a:rPr lang="ru-RU" altLang="en-US" sz="1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жылы</a:t>
            </a:r>
            <a:r>
              <a:rPr lang="ru-RU" altLang="en-US" sz="1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sz="1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скринингтік</a:t>
            </a:r>
            <a:r>
              <a:rPr lang="ru-RU" altLang="en-US" sz="1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sz="1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тексеру</a:t>
            </a:r>
            <a:r>
              <a:rPr lang="ru-RU" altLang="en-US" sz="1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sz="1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қаржы</a:t>
            </a:r>
            <a:r>
              <a:rPr lang="ru-RU" altLang="en-US" sz="1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sz="1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бөлінбеуіне</a:t>
            </a:r>
            <a:r>
              <a:rPr lang="ru-RU" altLang="en-US" sz="1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sz="1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байланысты</a:t>
            </a:r>
            <a:r>
              <a:rPr lang="ru-RU" altLang="en-US" sz="1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sz="1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жүргізілмеді</a:t>
            </a:r>
            <a:r>
              <a:rPr lang="ru-RU" altLang="en-US" sz="1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en-US" sz="1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 </a:t>
            </a:r>
            <a:r>
              <a:rPr lang="ru-RU" altLang="en-US" sz="1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жылы</a:t>
            </a:r>
            <a:r>
              <a:rPr lang="ru-RU" altLang="en-US" sz="1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ҚАЖ </a:t>
            </a:r>
            <a:r>
              <a:rPr lang="ru-RU" altLang="en-US" sz="1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аурулары</a:t>
            </a:r>
            <a:r>
              <a:rPr lang="ru-RU" altLang="en-US" sz="1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sz="1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бойынша</a:t>
            </a:r>
            <a:r>
              <a:rPr lang="ru-RU" altLang="en-US" sz="1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46 адам, Глаукома </a:t>
            </a:r>
            <a:r>
              <a:rPr lang="ru-RU" altLang="en-US" sz="1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бойынша</a:t>
            </a:r>
            <a:r>
              <a:rPr lang="ru-RU" altLang="en-US" sz="1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15, </a:t>
            </a:r>
            <a:r>
              <a:rPr lang="ru-RU" altLang="en-US" sz="1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Қант</a:t>
            </a:r>
            <a:r>
              <a:rPr lang="ru-RU" altLang="en-US" sz="1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sz="1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даибеті</a:t>
            </a:r>
            <a:r>
              <a:rPr lang="ru-RU" altLang="en-US" sz="1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sz="1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бойынша</a:t>
            </a:r>
            <a:r>
              <a:rPr lang="ru-RU" altLang="en-US" sz="1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33 адам </a:t>
            </a:r>
            <a:r>
              <a:rPr lang="ru-RU" altLang="en-US" sz="1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анықталды</a:t>
            </a:r>
            <a:r>
              <a:rPr lang="ru-RU" altLang="en-US" sz="1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altLang="en-US" sz="1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Барлығы</a:t>
            </a:r>
            <a:r>
              <a:rPr lang="ru-RU" altLang="en-US" sz="1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Д </a:t>
            </a:r>
            <a:r>
              <a:rPr lang="ru-RU" altLang="en-US" sz="1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есепке</a:t>
            </a:r>
            <a:r>
              <a:rPr lang="ru-RU" altLang="en-US" sz="1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sz="1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алынды</a:t>
            </a:r>
          </a:p>
        </p:txBody>
      </p:sp>
      <p:sp>
        <p:nvSpPr>
          <p:cNvPr id="31747" name="Заголовок 4">
            <a:extLst>
              <a:ext uri="{FF2B5EF4-FFF2-40B4-BE49-F238E27FC236}">
                <a16:creationId xmlns:a16="http://schemas.microsoft.com/office/drawing/2014/main" id="{DD050A90-CF11-EF80-819D-6B2113B57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9750"/>
            <a:ext cx="10515600" cy="811212"/>
          </a:xfrm>
        </p:spPr>
        <p:txBody>
          <a:bodyPr/>
          <a:lstStyle/>
          <a:p>
            <a:pPr algn="just" eaLnBrk="1" hangingPunct="1"/>
            <a:r>
              <a:rPr lang="ru-RU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40-70 </a:t>
            </a:r>
            <a:r>
              <a:rPr lang="ru-RU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жас</a:t>
            </a:r>
            <a:r>
              <a:rPr lang="ru-RU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арасынд</a:t>
            </a:r>
            <a:r>
              <a:rPr lang="kk-KZ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ағы </a:t>
            </a:r>
            <a:r>
              <a:rPr lang="ru-RU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ерлер</a:t>
            </a:r>
            <a:r>
              <a:rPr lang="ru-RU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мен </a:t>
            </a:r>
            <a:r>
              <a:rPr lang="ru-RU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әйелдерді</a:t>
            </a:r>
            <a:r>
              <a:rPr lang="ru-RU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скринингтік</a:t>
            </a:r>
            <a:r>
              <a:rPr lang="ru-RU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тексеру</a:t>
            </a:r>
            <a:r>
              <a:rPr lang="ru-RU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арқылы</a:t>
            </a:r>
            <a:r>
              <a:rPr lang="ru-RU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профилактикалық</a:t>
            </a:r>
            <a:r>
              <a:rPr lang="ru-RU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медициналық</a:t>
            </a:r>
            <a:r>
              <a:rPr lang="ru-RU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тексеру</a:t>
            </a:r>
            <a:r>
              <a:rPr lang="ru-RU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нәтижелері</a:t>
            </a:r>
            <a:r>
              <a:rPr lang="ru-RU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бойынша</a:t>
            </a:r>
            <a:r>
              <a:rPr lang="ru-RU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есеп</a:t>
            </a:r>
            <a:r>
              <a:rPr lang="ru-RU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ҚАЖ </a:t>
            </a:r>
            <a:r>
              <a:rPr lang="ru-RU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аурулары</a:t>
            </a:r>
            <a:r>
              <a:rPr lang="ru-RU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Глаукома, </a:t>
            </a:r>
            <a:r>
              <a:rPr lang="ru-RU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Қант</a:t>
            </a:r>
            <a:r>
              <a:rPr lang="ru-RU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диабеті</a:t>
            </a:r>
            <a:r>
              <a:rPr lang="ru-RU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15D3B7C7-DA05-485B-BDF8-43B8E92857B5}"/>
              </a:ext>
            </a:extLst>
          </p:cNvPr>
          <p:cNvGraphicFramePr/>
          <p:nvPr/>
        </p:nvGraphicFramePr>
        <p:xfrm>
          <a:off x="526869" y="1652769"/>
          <a:ext cx="11186555" cy="34417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Заголовок 1">
            <a:extLst>
              <a:ext uri="{FF2B5EF4-FFF2-40B4-BE49-F238E27FC236}">
                <a16:creationId xmlns:a16="http://schemas.microsoft.com/office/drawing/2014/main" id="{2DD369ED-7212-204B-5190-CE2B96303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975" y="146050"/>
            <a:ext cx="9988550" cy="977900"/>
          </a:xfrm>
        </p:spPr>
        <p:txBody>
          <a:bodyPr/>
          <a:lstStyle/>
          <a:p>
            <a:pPr algn="ctr" eaLnBrk="1" hangingPunct="1"/>
            <a:r>
              <a:rPr lang="ru-RU" altLang="en-US" sz="2000" b="1" err="1">
                <a:solidFill>
                  <a:srgbClr val="00225E"/>
                </a:solidFill>
                <a:latin typeface="Times New Roman"/>
                <a:cs typeface="Times New Roman"/>
              </a:rPr>
              <a:t>Ерлер</a:t>
            </a:r>
            <a:r>
              <a:rPr lang="ru-RU" altLang="en-US" sz="2000" b="1" dirty="0">
                <a:solidFill>
                  <a:srgbClr val="00225E"/>
                </a:solidFill>
                <a:latin typeface="Times New Roman"/>
                <a:cs typeface="Times New Roman"/>
              </a:rPr>
              <a:t> мен </a:t>
            </a:r>
            <a:r>
              <a:rPr lang="ru-RU" altLang="en-US" sz="2000" b="1" err="1">
                <a:solidFill>
                  <a:srgbClr val="00225E"/>
                </a:solidFill>
                <a:latin typeface="Times New Roman"/>
                <a:cs typeface="Times New Roman"/>
              </a:rPr>
              <a:t>әйелдерді</a:t>
            </a:r>
            <a:r>
              <a:rPr lang="ru-RU" altLang="en-US" sz="2000" b="1" dirty="0">
                <a:solidFill>
                  <a:srgbClr val="00225E"/>
                </a:solidFill>
                <a:latin typeface="Times New Roman"/>
                <a:cs typeface="Times New Roman"/>
              </a:rPr>
              <a:t> </a:t>
            </a:r>
            <a:r>
              <a:rPr lang="ru-RU" altLang="en-US" sz="2000" b="1" err="1">
                <a:solidFill>
                  <a:srgbClr val="00225E"/>
                </a:solidFill>
                <a:latin typeface="Times New Roman"/>
                <a:cs typeface="Times New Roman"/>
              </a:rPr>
              <a:t>скринингтік</a:t>
            </a:r>
            <a:r>
              <a:rPr lang="ru-RU" altLang="en-US" sz="2000" b="1" dirty="0">
                <a:solidFill>
                  <a:srgbClr val="00225E"/>
                </a:solidFill>
                <a:latin typeface="Times New Roman"/>
                <a:cs typeface="Times New Roman"/>
              </a:rPr>
              <a:t> </a:t>
            </a:r>
            <a:r>
              <a:rPr lang="ru-RU" altLang="en-US" sz="2000" b="1" err="1">
                <a:solidFill>
                  <a:srgbClr val="00225E"/>
                </a:solidFill>
                <a:latin typeface="Times New Roman"/>
                <a:cs typeface="Times New Roman"/>
              </a:rPr>
              <a:t>тексеру</a:t>
            </a:r>
            <a:r>
              <a:rPr lang="ru-RU" altLang="en-US" sz="2000" b="1" dirty="0">
                <a:solidFill>
                  <a:srgbClr val="00225E"/>
                </a:solidFill>
                <a:latin typeface="Times New Roman"/>
                <a:cs typeface="Times New Roman"/>
              </a:rPr>
              <a:t> </a:t>
            </a:r>
            <a:r>
              <a:rPr lang="ru-RU" altLang="en-US" sz="2000" b="1" err="1">
                <a:solidFill>
                  <a:srgbClr val="00225E"/>
                </a:solidFill>
                <a:latin typeface="Times New Roman"/>
                <a:cs typeface="Times New Roman"/>
              </a:rPr>
              <a:t>арқылы</a:t>
            </a:r>
            <a:r>
              <a:rPr lang="ru-RU" altLang="en-US" sz="2000" b="1" dirty="0">
                <a:solidFill>
                  <a:srgbClr val="00225E"/>
                </a:solidFill>
                <a:latin typeface="Times New Roman"/>
                <a:cs typeface="Times New Roman"/>
              </a:rPr>
              <a:t> </a:t>
            </a:r>
            <a:r>
              <a:rPr lang="ru-RU" altLang="en-US" sz="2000" b="1" err="1">
                <a:solidFill>
                  <a:srgbClr val="00225E"/>
                </a:solidFill>
                <a:latin typeface="Times New Roman"/>
                <a:cs typeface="Times New Roman"/>
              </a:rPr>
              <a:t>профилактикалық</a:t>
            </a:r>
            <a:r>
              <a:rPr lang="ru-RU" altLang="en-US" sz="2000" b="1" dirty="0">
                <a:solidFill>
                  <a:srgbClr val="00225E"/>
                </a:solidFill>
                <a:latin typeface="Times New Roman"/>
                <a:cs typeface="Times New Roman"/>
              </a:rPr>
              <a:t> </a:t>
            </a:r>
            <a:r>
              <a:rPr lang="ru-RU" altLang="en-US" sz="2000" b="1" err="1">
                <a:solidFill>
                  <a:srgbClr val="00225E"/>
                </a:solidFill>
                <a:latin typeface="Times New Roman"/>
                <a:cs typeface="Times New Roman"/>
              </a:rPr>
              <a:t>медициналық</a:t>
            </a:r>
            <a:r>
              <a:rPr lang="ru-RU" altLang="en-US" sz="2000" b="1" dirty="0">
                <a:solidFill>
                  <a:srgbClr val="00225E"/>
                </a:solidFill>
                <a:latin typeface="Times New Roman"/>
                <a:cs typeface="Times New Roman"/>
              </a:rPr>
              <a:t> </a:t>
            </a:r>
            <a:r>
              <a:rPr lang="ru-RU" altLang="en-US" sz="2000" b="1" err="1">
                <a:solidFill>
                  <a:srgbClr val="00225E"/>
                </a:solidFill>
                <a:latin typeface="Times New Roman"/>
                <a:cs typeface="Times New Roman"/>
              </a:rPr>
              <a:t>тексерулер</a:t>
            </a:r>
            <a:r>
              <a:rPr lang="ru-RU" altLang="en-US" sz="2000" b="1" dirty="0">
                <a:solidFill>
                  <a:srgbClr val="00225E"/>
                </a:solidFill>
                <a:latin typeface="Times New Roman"/>
                <a:cs typeface="Times New Roman"/>
              </a:rPr>
              <a:t> </a:t>
            </a:r>
            <a:r>
              <a:rPr lang="ru-RU" altLang="en-US" sz="2000" b="1" err="1">
                <a:solidFill>
                  <a:srgbClr val="00225E"/>
                </a:solidFill>
                <a:latin typeface="Times New Roman"/>
                <a:cs typeface="Times New Roman"/>
              </a:rPr>
              <a:t>жүргізу</a:t>
            </a:r>
            <a:r>
              <a:rPr lang="ru-RU" altLang="en-US" sz="2000" b="1" dirty="0">
                <a:solidFill>
                  <a:srgbClr val="00225E"/>
                </a:solidFill>
                <a:latin typeface="Times New Roman"/>
                <a:cs typeface="Times New Roman"/>
              </a:rPr>
              <a:t> </a:t>
            </a:r>
            <a:r>
              <a:rPr lang="ru-RU" altLang="en-US" sz="2000" b="1" err="1">
                <a:solidFill>
                  <a:srgbClr val="00225E"/>
                </a:solidFill>
                <a:latin typeface="Times New Roman"/>
                <a:cs typeface="Times New Roman"/>
              </a:rPr>
              <a:t>нәтижелері</a:t>
            </a:r>
            <a:r>
              <a:rPr lang="ru-RU" altLang="en-US" sz="2000" b="1" dirty="0">
                <a:solidFill>
                  <a:srgbClr val="00225E"/>
                </a:solidFill>
                <a:latin typeface="Times New Roman"/>
                <a:cs typeface="Times New Roman"/>
              </a:rPr>
              <a:t> </a:t>
            </a:r>
            <a:r>
              <a:rPr lang="ru-RU" altLang="en-US" sz="2000" b="1" err="1">
                <a:solidFill>
                  <a:srgbClr val="00225E"/>
                </a:solidFill>
                <a:latin typeface="Times New Roman"/>
                <a:cs typeface="Times New Roman"/>
              </a:rPr>
              <a:t>бойынша</a:t>
            </a:r>
            <a:r>
              <a:rPr lang="ru-RU" altLang="en-US" sz="2000" b="1" dirty="0">
                <a:solidFill>
                  <a:srgbClr val="00225E"/>
                </a:solidFill>
                <a:latin typeface="Times New Roman"/>
                <a:cs typeface="Times New Roman"/>
              </a:rPr>
              <a:t> </a:t>
            </a:r>
            <a:r>
              <a:rPr lang="ru-RU" altLang="en-US" sz="2000" b="1" err="1">
                <a:solidFill>
                  <a:srgbClr val="00225E"/>
                </a:solidFill>
                <a:latin typeface="Times New Roman"/>
                <a:cs typeface="Times New Roman"/>
              </a:rPr>
              <a:t>есеп</a:t>
            </a:r>
            <a:r>
              <a:rPr lang="ru-RU" altLang="en-US" sz="2000" b="1" dirty="0">
                <a:solidFill>
                  <a:srgbClr val="00225E"/>
                </a:solidFill>
                <a:latin typeface="Times New Roman"/>
                <a:cs typeface="Times New Roman"/>
              </a:rPr>
              <a:t> (СБО, ЖМО, КРО)</a:t>
            </a:r>
            <a:br>
              <a:rPr lang="ru-RU" altLang="en-US" sz="2000" b="1" dirty="0">
                <a:latin typeface="Times New Roman" panose="02020603050405020304" pitchFamily="18" charset="0"/>
              </a:rPr>
            </a:br>
            <a:br>
              <a:rPr lang="ru-RU" altLang="en-US" sz="1600" b="1" dirty="0">
                <a:latin typeface="Times New Roman" panose="02020603050405020304" pitchFamily="18" charset="0"/>
              </a:rPr>
            </a:br>
            <a:endParaRPr lang="ru-RU" altLang="en-US" sz="1600">
              <a:solidFill>
                <a:srgbClr val="00225E"/>
              </a:solidFill>
              <a:ea typeface="Calibri Light"/>
              <a:cs typeface="Calibri Light"/>
            </a:endParaRP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6051EA63-F724-4906-A95E-543A45F8104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7388" y="2716213"/>
          <a:ext cx="10656887" cy="223837"/>
        </p:xfrm>
        <a:graphic>
          <a:graphicData uri="http://schemas.openxmlformats.org/drawingml/2006/table">
            <a:tbl>
              <a:tblPr/>
              <a:tblGrid>
                <a:gridCol w="10656887">
                  <a:extLst>
                    <a:ext uri="{9D8B030D-6E8A-4147-A177-3AD203B41FA5}">
                      <a16:colId xmlns:a16="http://schemas.microsoft.com/office/drawing/2014/main" val="3350446904"/>
                    </a:ext>
                  </a:extLst>
                </a:gridCol>
              </a:tblGrid>
              <a:tr h="223837">
                <a:tc>
                  <a:txBody>
                    <a:bodyPr/>
                    <a:lstStyle/>
                    <a:p>
                      <a:pPr algn="ctr" fontAlgn="b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66" marB="4591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406361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FC5B0BE-5B4A-9069-497A-EAF55B3126BC}"/>
              </a:ext>
            </a:extLst>
          </p:cNvPr>
          <p:cNvSpPr txBox="1"/>
          <p:nvPr/>
        </p:nvSpPr>
        <p:spPr>
          <a:xfrm>
            <a:off x="728382" y="1299882"/>
            <a:ext cx="885264" cy="4930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4C45A9-D5C0-6A6A-58F2-8BD14CF04737}"/>
              </a:ext>
            </a:extLst>
          </p:cNvPr>
          <p:cNvSpPr txBox="1"/>
          <p:nvPr/>
        </p:nvSpPr>
        <p:spPr>
          <a:xfrm>
            <a:off x="1086971" y="5636559"/>
            <a:ext cx="10634382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1400" b="1" i="1" dirty="0" err="1">
                <a:solidFill>
                  <a:srgbClr val="FF0000"/>
                </a:solidFill>
                <a:latin typeface="Times New Roman"/>
                <a:cs typeface="Times New Roman"/>
              </a:rPr>
              <a:t>Ескерту</a:t>
            </a:r>
            <a:r>
              <a:rPr lang="ru-RU" sz="1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: </a:t>
            </a:r>
            <a:r>
              <a:rPr lang="ru-RU" sz="1400" dirty="0">
                <a:solidFill>
                  <a:srgbClr val="002060"/>
                </a:solidFill>
                <a:latin typeface="Times New Roman"/>
                <a:cs typeface="Times New Roman"/>
              </a:rPr>
              <a:t>2024 </a:t>
            </a:r>
            <a:r>
              <a:rPr lang="ru-RU" sz="1400" dirty="0" err="1">
                <a:solidFill>
                  <a:srgbClr val="002060"/>
                </a:solidFill>
                <a:latin typeface="Times New Roman"/>
                <a:cs typeface="Times New Roman"/>
              </a:rPr>
              <a:t>жылы</a:t>
            </a:r>
            <a:r>
              <a:rPr lang="ru-RU" sz="140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lang="ru-RU" sz="1400" dirty="0" err="1">
                <a:solidFill>
                  <a:srgbClr val="002060"/>
                </a:solidFill>
                <a:latin typeface="Times New Roman"/>
                <a:cs typeface="Times New Roman"/>
              </a:rPr>
              <a:t>скринингтік</a:t>
            </a:r>
            <a:r>
              <a:rPr lang="ru-RU" sz="140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lang="ru-RU" sz="1400" dirty="0" err="1">
                <a:solidFill>
                  <a:srgbClr val="002060"/>
                </a:solidFill>
                <a:latin typeface="Times New Roman"/>
                <a:cs typeface="Times New Roman"/>
              </a:rPr>
              <a:t>тексеру</a:t>
            </a:r>
            <a:r>
              <a:rPr lang="ru-RU" sz="140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lang="ru-RU" sz="1400" dirty="0" err="1">
                <a:solidFill>
                  <a:srgbClr val="002060"/>
                </a:solidFill>
                <a:latin typeface="Times New Roman"/>
                <a:cs typeface="Times New Roman"/>
              </a:rPr>
              <a:t>қаржы</a:t>
            </a:r>
            <a:r>
              <a:rPr lang="ru-RU" sz="140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lang="ru-RU" sz="1400" dirty="0" err="1">
                <a:solidFill>
                  <a:srgbClr val="002060"/>
                </a:solidFill>
                <a:latin typeface="Times New Roman"/>
                <a:cs typeface="Times New Roman"/>
              </a:rPr>
              <a:t>бөлінбеуіне</a:t>
            </a:r>
            <a:r>
              <a:rPr lang="ru-RU" sz="140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lang="ru-RU" sz="1400" dirty="0" err="1">
                <a:solidFill>
                  <a:srgbClr val="002060"/>
                </a:solidFill>
                <a:latin typeface="Times New Roman"/>
                <a:cs typeface="Times New Roman"/>
              </a:rPr>
              <a:t>байланысты</a:t>
            </a:r>
            <a:r>
              <a:rPr lang="ru-RU" sz="140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lang="ru-RU" sz="1400" dirty="0" err="1">
                <a:solidFill>
                  <a:srgbClr val="002060"/>
                </a:solidFill>
                <a:latin typeface="Times New Roman"/>
                <a:cs typeface="Times New Roman"/>
              </a:rPr>
              <a:t>жүргізілмеді</a:t>
            </a:r>
            <a:r>
              <a:rPr lang="ru-RU" sz="1400" dirty="0">
                <a:solidFill>
                  <a:srgbClr val="002060"/>
                </a:solidFill>
                <a:latin typeface="Times New Roman"/>
                <a:cs typeface="Times New Roman"/>
              </a:rPr>
              <a:t>. </a:t>
            </a:r>
            <a:endParaRPr lang="ru-RU" sz="1400" dirty="0">
              <a:latin typeface="Times New Roman"/>
              <a:cs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1400" dirty="0">
                <a:solidFill>
                  <a:srgbClr val="002060"/>
                </a:solidFill>
                <a:latin typeface="Times New Roman"/>
                <a:cs typeface="Times New Roman"/>
              </a:rPr>
              <a:t>2025 </a:t>
            </a:r>
            <a:r>
              <a:rPr lang="ru-RU" sz="1400" dirty="0" err="1">
                <a:solidFill>
                  <a:srgbClr val="002060"/>
                </a:solidFill>
                <a:latin typeface="Times New Roman"/>
                <a:cs typeface="Times New Roman"/>
              </a:rPr>
              <a:t>жылы</a:t>
            </a:r>
            <a:r>
              <a:rPr lang="ru-RU" sz="1400" dirty="0">
                <a:solidFill>
                  <a:srgbClr val="002060"/>
                </a:solidFill>
                <a:latin typeface="Times New Roman"/>
                <a:cs typeface="Times New Roman"/>
              </a:rPr>
              <a:t> СБО </a:t>
            </a:r>
            <a:r>
              <a:rPr lang="ru-RU" sz="1400" dirty="0" err="1">
                <a:solidFill>
                  <a:srgbClr val="002060"/>
                </a:solidFill>
                <a:latin typeface="Times New Roman"/>
                <a:cs typeface="Times New Roman"/>
              </a:rPr>
              <a:t>бойынша</a:t>
            </a:r>
            <a:r>
              <a:rPr lang="ru-RU" sz="1400" dirty="0">
                <a:solidFill>
                  <a:srgbClr val="002060"/>
                </a:solidFill>
                <a:latin typeface="Times New Roman"/>
                <a:cs typeface="Times New Roman"/>
              </a:rPr>
              <a:t> – 5 адам, ЖМО </a:t>
            </a:r>
            <a:r>
              <a:rPr lang="ru-RU" sz="1400" dirty="0" err="1">
                <a:solidFill>
                  <a:srgbClr val="002060"/>
                </a:solidFill>
                <a:latin typeface="Times New Roman"/>
                <a:cs typeface="Times New Roman"/>
              </a:rPr>
              <a:t>бойынша</a:t>
            </a:r>
            <a:r>
              <a:rPr lang="ru-RU" sz="1400" dirty="0">
                <a:solidFill>
                  <a:srgbClr val="002060"/>
                </a:solidFill>
                <a:latin typeface="Times New Roman"/>
                <a:cs typeface="Times New Roman"/>
              </a:rPr>
              <a:t> – 0, КРО </a:t>
            </a:r>
            <a:r>
              <a:rPr lang="ru-RU" sz="1400" dirty="0" err="1">
                <a:solidFill>
                  <a:srgbClr val="002060"/>
                </a:solidFill>
                <a:latin typeface="Times New Roman"/>
                <a:cs typeface="Times New Roman"/>
              </a:rPr>
              <a:t>бойынша</a:t>
            </a:r>
            <a:r>
              <a:rPr lang="ru-RU" sz="1400" dirty="0">
                <a:solidFill>
                  <a:srgbClr val="002060"/>
                </a:solidFill>
                <a:latin typeface="Times New Roman"/>
                <a:cs typeface="Times New Roman"/>
              </a:rPr>
              <a:t> 2024 – 1 адам </a:t>
            </a:r>
            <a:r>
              <a:rPr lang="ru-RU" sz="1400" dirty="0" err="1">
                <a:solidFill>
                  <a:srgbClr val="002060"/>
                </a:solidFill>
                <a:latin typeface="Times New Roman"/>
                <a:cs typeface="Times New Roman"/>
              </a:rPr>
              <a:t>анықталды</a:t>
            </a:r>
            <a:r>
              <a:rPr lang="ru-RU" sz="1400" dirty="0">
                <a:solidFill>
                  <a:srgbClr val="002060"/>
                </a:solidFill>
                <a:latin typeface="Times New Roman"/>
                <a:cs typeface="Times New Roman"/>
              </a:rPr>
              <a:t>.</a:t>
            </a:r>
            <a:endParaRPr lang="ru-RU" sz="1400" dirty="0">
              <a:latin typeface="Times New Roman"/>
              <a:cs typeface="Times New Roman"/>
            </a:endParaRPr>
          </a:p>
          <a:p>
            <a:pPr algn="l"/>
            <a:endParaRPr lang="ru-RU" dirty="0">
              <a:ea typeface="Calibri"/>
              <a:cs typeface="Calibri"/>
            </a:endParaRPr>
          </a:p>
        </p:txBody>
      </p:sp>
      <p:graphicFrame>
        <p:nvGraphicFramePr>
          <p:cNvPr id="14" name="Диаграмма 13">
            <a:extLst>
              <a:ext uri="{FF2B5EF4-FFF2-40B4-BE49-F238E27FC236}">
                <a16:creationId xmlns:a16="http://schemas.microsoft.com/office/drawing/2014/main" id="{65F505B3-4839-480B-BCA7-811C547AD0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46159490"/>
              </p:ext>
            </p:extLst>
          </p:nvPr>
        </p:nvGraphicFramePr>
        <p:xfrm>
          <a:off x="1133475" y="966400"/>
          <a:ext cx="9525000" cy="4348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64F90C89-A791-428B-9810-47285596C9A4}"/>
              </a:ext>
            </a:extLst>
          </p:cNvPr>
          <p:cNvSpPr/>
          <p:nvPr/>
        </p:nvSpPr>
        <p:spPr>
          <a:xfrm>
            <a:off x="1934216" y="3886201"/>
            <a:ext cx="628649" cy="28575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СБО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1776040E-AB94-4680-80EE-F24994348BD4}"/>
              </a:ext>
            </a:extLst>
          </p:cNvPr>
          <p:cNvSpPr/>
          <p:nvPr/>
        </p:nvSpPr>
        <p:spPr>
          <a:xfrm>
            <a:off x="3188649" y="3905255"/>
            <a:ext cx="628651" cy="23812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ЖМО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A451AB90-5C93-402C-BD8A-1C6172237BF9}"/>
              </a:ext>
            </a:extLst>
          </p:cNvPr>
          <p:cNvSpPr/>
          <p:nvPr/>
        </p:nvSpPr>
        <p:spPr>
          <a:xfrm>
            <a:off x="4262893" y="3898199"/>
            <a:ext cx="561975" cy="20955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КРО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4F3C9542-1AC0-4462-82FB-33575953D62E}"/>
              </a:ext>
            </a:extLst>
          </p:cNvPr>
          <p:cNvSpPr/>
          <p:nvPr/>
        </p:nvSpPr>
        <p:spPr>
          <a:xfrm>
            <a:off x="6581922" y="3729347"/>
            <a:ext cx="628649" cy="28575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СБО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D3F3A127-01CC-461C-8963-60A6BAED39B2}"/>
              </a:ext>
            </a:extLst>
          </p:cNvPr>
          <p:cNvSpPr/>
          <p:nvPr/>
        </p:nvSpPr>
        <p:spPr>
          <a:xfrm>
            <a:off x="7810501" y="3886206"/>
            <a:ext cx="628651" cy="23812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ЖМО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99C0A653-F197-40EA-83EF-E61DD488602E}"/>
              </a:ext>
            </a:extLst>
          </p:cNvPr>
          <p:cNvSpPr/>
          <p:nvPr/>
        </p:nvSpPr>
        <p:spPr>
          <a:xfrm>
            <a:off x="8905898" y="3914775"/>
            <a:ext cx="561975" cy="20955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КРО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CBF07C7B-55BF-4924-8796-3F7143555707}"/>
              </a:ext>
            </a:extLst>
          </p:cNvPr>
          <p:cNvGraphicFramePr>
            <a:graphicFrameLocks noGrp="1"/>
          </p:cNvGraphicFramePr>
          <p:nvPr/>
        </p:nvGraphicFramePr>
        <p:xfrm>
          <a:off x="2078038" y="873125"/>
          <a:ext cx="8035925" cy="17351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17325">
                  <a:extLst>
                    <a:ext uri="{9D8B030D-6E8A-4147-A177-3AD203B41FA5}">
                      <a16:colId xmlns:a16="http://schemas.microsoft.com/office/drawing/2014/main" val="323370598"/>
                    </a:ext>
                  </a:extLst>
                </a:gridCol>
                <a:gridCol w="717325">
                  <a:extLst>
                    <a:ext uri="{9D8B030D-6E8A-4147-A177-3AD203B41FA5}">
                      <a16:colId xmlns:a16="http://schemas.microsoft.com/office/drawing/2014/main" val="2235408869"/>
                    </a:ext>
                  </a:extLst>
                </a:gridCol>
                <a:gridCol w="611837">
                  <a:extLst>
                    <a:ext uri="{9D8B030D-6E8A-4147-A177-3AD203B41FA5}">
                      <a16:colId xmlns:a16="http://schemas.microsoft.com/office/drawing/2014/main" val="1854671517"/>
                    </a:ext>
                  </a:extLst>
                </a:gridCol>
                <a:gridCol w="611837">
                  <a:extLst>
                    <a:ext uri="{9D8B030D-6E8A-4147-A177-3AD203B41FA5}">
                      <a16:colId xmlns:a16="http://schemas.microsoft.com/office/drawing/2014/main" val="3514987746"/>
                    </a:ext>
                  </a:extLst>
                </a:gridCol>
                <a:gridCol w="611837">
                  <a:extLst>
                    <a:ext uri="{9D8B030D-6E8A-4147-A177-3AD203B41FA5}">
                      <a16:colId xmlns:a16="http://schemas.microsoft.com/office/drawing/2014/main" val="181991621"/>
                    </a:ext>
                  </a:extLst>
                </a:gridCol>
                <a:gridCol w="1090055">
                  <a:extLst>
                    <a:ext uri="{9D8B030D-6E8A-4147-A177-3AD203B41FA5}">
                      <a16:colId xmlns:a16="http://schemas.microsoft.com/office/drawing/2014/main" val="256843557"/>
                    </a:ext>
                  </a:extLst>
                </a:gridCol>
                <a:gridCol w="853290">
                  <a:extLst>
                    <a:ext uri="{9D8B030D-6E8A-4147-A177-3AD203B41FA5}">
                      <a16:colId xmlns:a16="http://schemas.microsoft.com/office/drawing/2014/main" val="3809994316"/>
                    </a:ext>
                  </a:extLst>
                </a:gridCol>
                <a:gridCol w="853290">
                  <a:extLst>
                    <a:ext uri="{9D8B030D-6E8A-4147-A177-3AD203B41FA5}">
                      <a16:colId xmlns:a16="http://schemas.microsoft.com/office/drawing/2014/main" val="3852077068"/>
                    </a:ext>
                  </a:extLst>
                </a:gridCol>
                <a:gridCol w="1031449">
                  <a:extLst>
                    <a:ext uri="{9D8B030D-6E8A-4147-A177-3AD203B41FA5}">
                      <a16:colId xmlns:a16="http://schemas.microsoft.com/office/drawing/2014/main" val="2323510204"/>
                    </a:ext>
                  </a:extLst>
                </a:gridCol>
                <a:gridCol w="937680">
                  <a:extLst>
                    <a:ext uri="{9D8B030D-6E8A-4147-A177-3AD203B41FA5}">
                      <a16:colId xmlns:a16="http://schemas.microsoft.com/office/drawing/2014/main" val="2222930151"/>
                    </a:ext>
                  </a:extLst>
                </a:gridCol>
              </a:tblGrid>
              <a:tr h="1076406">
                <a:tc gridSpan="2">
                  <a:txBody>
                    <a:bodyPr/>
                    <a:lstStyle/>
                    <a:p>
                      <a:pPr algn="ctr" fontAlgn="t"/>
                      <a:r>
                        <a:rPr lang="ru-RU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</a:t>
                      </a:r>
                      <a:r>
                        <a:rPr lang="ru-RU" sz="14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жасқа</a:t>
                      </a:r>
                      <a:r>
                        <a:rPr lang="ru-RU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дейінгі</a:t>
                      </a:r>
                      <a:r>
                        <a:rPr lang="ru-RU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балаларды</a:t>
                      </a:r>
                      <a:r>
                        <a:rPr lang="ru-RU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қамту</a:t>
                      </a:r>
                      <a:r>
                        <a:rPr lang="ru-RU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%/ дети до 1 года%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04" marR="9204" marT="9206" marB="0"/>
                </a:tc>
                <a:tc hMerge="1"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t"/>
                      <a:r>
                        <a:rPr lang="ru-RU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</a:t>
                      </a:r>
                      <a:r>
                        <a:rPr lang="ru-RU" sz="14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жастағы</a:t>
                      </a:r>
                      <a:r>
                        <a:rPr lang="ru-RU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балаларды</a:t>
                      </a:r>
                      <a:r>
                        <a:rPr lang="ru-RU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қамту</a:t>
                      </a:r>
                      <a:r>
                        <a:rPr lang="ru-RU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%/ дети старше 1 года %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04" marR="9204" marT="9206" marB="0"/>
                </a:tc>
                <a:tc hMerge="1"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 </a:t>
                      </a:r>
                      <a:r>
                        <a:rPr lang="ru-RU" sz="14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айдағы</a:t>
                      </a:r>
                      <a:r>
                        <a:rPr lang="ru-RU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балалар</a:t>
                      </a:r>
                      <a:r>
                        <a:rPr lang="ru-RU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%/ дети 18 мес. %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04" marR="9204" marT="9206" marB="0"/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 жастағы балаларды қамту %/ дети в возрате 6 лет%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04" marR="9204" marT="9206" marB="0"/>
                </a:tc>
                <a:tc hMerge="1"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 жасты қамту %/ дети в возрасте 16 лет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04" marR="9204" marT="9206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Ересекте рді қамту %/ взрослые %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04" marR="9204" marT="9206" marB="0"/>
                </a:tc>
                <a:extLst>
                  <a:ext uri="{0D108BD9-81ED-4DB2-BD59-A6C34878D82A}">
                    <a16:rowId xmlns:a16="http://schemas.microsoft.com/office/drawing/2014/main" val="712939143"/>
                  </a:ext>
                </a:extLst>
              </a:tr>
              <a:tr h="436086">
                <a:tc>
                  <a:txBody>
                    <a:bodyPr/>
                    <a:lstStyle/>
                    <a:p>
                      <a:pPr algn="ctr" fontAlgn="t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Пневмо 2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04" marR="9204" marT="9206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АбКДС 3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04" marR="9204" marT="9206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ККП1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04" marR="9204" marT="9206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14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Пневмо</a:t>
                      </a:r>
                      <a:r>
                        <a:rPr lang="ru-RU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3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04" marR="9204" marT="9206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ОПВ4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04" marR="9204" marT="9206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АКДС4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04" marR="9204" marT="9206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ККП2 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04" marR="9204" marT="9206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АбКДС5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04" marR="9204" marT="9206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АДС-М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04" marR="9204" marT="9206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АДС-М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04" marR="9204" marT="9206" marB="0"/>
                </a:tc>
                <a:extLst>
                  <a:ext uri="{0D108BD9-81ED-4DB2-BD59-A6C34878D82A}">
                    <a16:rowId xmlns:a16="http://schemas.microsoft.com/office/drawing/2014/main" val="2954687257"/>
                  </a:ext>
                </a:extLst>
              </a:tr>
              <a:tr h="222646">
                <a:tc>
                  <a:txBody>
                    <a:bodyPr/>
                    <a:lstStyle/>
                    <a:p>
                      <a:pPr algn="ctr" fontAlgn="ctr"/>
                      <a:r>
                        <a:rPr lang="ru-KZ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101,0</a:t>
                      </a:r>
                      <a:endParaRPr lang="ru-KZ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04" marR="9204" marT="920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KZ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99,0</a:t>
                      </a:r>
                      <a:endParaRPr lang="ru-KZ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04" marR="9204" marT="920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KZ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98,0</a:t>
                      </a:r>
                      <a:endParaRPr lang="ru-KZ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04" marR="9204" marT="920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KZ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102,0</a:t>
                      </a:r>
                      <a:endParaRPr lang="ru-KZ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04" marR="9204" marT="920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KZ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101,0</a:t>
                      </a:r>
                      <a:endParaRPr lang="ru-KZ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04" marR="9204" marT="920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KZ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99,0</a:t>
                      </a:r>
                      <a:endParaRPr lang="ru-KZ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04" marR="9204" marT="920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KZ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130,0</a:t>
                      </a:r>
                      <a:endParaRPr lang="ru-KZ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04" marR="9204" marT="920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KZ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97,0</a:t>
                      </a:r>
                      <a:endParaRPr lang="ru-KZ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04" marR="9204" marT="920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KZ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85,0</a:t>
                      </a:r>
                      <a:endParaRPr lang="ru-KZ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04" marR="9204" marT="920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KZ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61,0</a:t>
                      </a:r>
                      <a:endParaRPr lang="ru-KZ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04" marR="9204" marT="9206" marB="0" anchor="ctr"/>
                </a:tc>
                <a:extLst>
                  <a:ext uri="{0D108BD9-81ED-4DB2-BD59-A6C34878D82A}">
                    <a16:rowId xmlns:a16="http://schemas.microsoft.com/office/drawing/2014/main" val="1821910208"/>
                  </a:ext>
                </a:extLst>
              </a:tr>
            </a:tbl>
          </a:graphicData>
        </a:graphic>
      </p:graphicFrame>
      <p:sp>
        <p:nvSpPr>
          <p:cNvPr id="33836" name="Прямоугольник 1">
            <a:extLst>
              <a:ext uri="{FF2B5EF4-FFF2-40B4-BE49-F238E27FC236}">
                <a16:creationId xmlns:a16="http://schemas.microsoft.com/office/drawing/2014/main" id="{D3C7BDE0-AC9C-5583-0FB7-994398EA6D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3938" y="228600"/>
            <a:ext cx="101441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en-US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 жылға жоспарлы профилактикалық екпелермен қамту </a:t>
            </a:r>
          </a:p>
        </p:txBody>
      </p:sp>
      <p:sp>
        <p:nvSpPr>
          <p:cNvPr id="33838" name="Прямоугольник 11">
            <a:extLst>
              <a:ext uri="{FF2B5EF4-FFF2-40B4-BE49-F238E27FC236}">
                <a16:creationId xmlns:a16="http://schemas.microsoft.com/office/drawing/2014/main" id="{EE4AD7C1-B4AD-B47F-2784-7A356692BA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3938" y="5848350"/>
            <a:ext cx="96043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en-US" sz="1800" b="1" i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2024 жылы жоспарлы профилактикалық екпелермен қамтылмады, негізгі себеп емхана 2024 жылдың қазан айының 15 де ашылды, осыған орай жоспар берілмеді.</a:t>
            </a:r>
          </a:p>
        </p:txBody>
      </p:sp>
      <p:sp>
        <p:nvSpPr>
          <p:cNvPr id="33839" name="Rectangle 1">
            <a:extLst>
              <a:ext uri="{FF2B5EF4-FFF2-40B4-BE49-F238E27FC236}">
                <a16:creationId xmlns:a16="http://schemas.microsoft.com/office/drawing/2014/main" id="{795B2782-8E95-0544-BF68-AAAF52A614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3188"/>
            <a:ext cx="0" cy="250825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-12696" rIns="0" bIns="-12696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graphicFrame>
        <p:nvGraphicFramePr>
          <p:cNvPr id="8" name="Объект 10">
            <a:extLst>
              <a:ext uri="{FF2B5EF4-FFF2-40B4-BE49-F238E27FC236}">
                <a16:creationId xmlns:a16="http://schemas.microsoft.com/office/drawing/2014/main" id="{5C361150-FA12-4766-B2E8-51BBB2442BB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078561" y="2729158"/>
          <a:ext cx="8034867" cy="28984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21CADED9-3099-D0FB-FA3D-856B4CF2831A}"/>
              </a:ext>
            </a:extLst>
          </p:cNvPr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3659850873"/>
              </p:ext>
            </p:extLst>
          </p:nvPr>
        </p:nvGraphicFramePr>
        <p:xfrm>
          <a:off x="1429591" y="963706"/>
          <a:ext cx="9339260" cy="193040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334180">
                  <a:extLst>
                    <a:ext uri="{9D8B030D-6E8A-4147-A177-3AD203B41FA5}">
                      <a16:colId xmlns:a16="http://schemas.microsoft.com/office/drawing/2014/main" val="546799442"/>
                    </a:ext>
                  </a:extLst>
                </a:gridCol>
                <a:gridCol w="1334180">
                  <a:extLst>
                    <a:ext uri="{9D8B030D-6E8A-4147-A177-3AD203B41FA5}">
                      <a16:colId xmlns:a16="http://schemas.microsoft.com/office/drawing/2014/main" val="3501333849"/>
                    </a:ext>
                  </a:extLst>
                </a:gridCol>
                <a:gridCol w="1334180">
                  <a:extLst>
                    <a:ext uri="{9D8B030D-6E8A-4147-A177-3AD203B41FA5}">
                      <a16:colId xmlns:a16="http://schemas.microsoft.com/office/drawing/2014/main" val="3062162603"/>
                    </a:ext>
                  </a:extLst>
                </a:gridCol>
                <a:gridCol w="1334180">
                  <a:extLst>
                    <a:ext uri="{9D8B030D-6E8A-4147-A177-3AD203B41FA5}">
                      <a16:colId xmlns:a16="http://schemas.microsoft.com/office/drawing/2014/main" val="387743819"/>
                    </a:ext>
                  </a:extLst>
                </a:gridCol>
                <a:gridCol w="1334180">
                  <a:extLst>
                    <a:ext uri="{9D8B030D-6E8A-4147-A177-3AD203B41FA5}">
                      <a16:colId xmlns:a16="http://schemas.microsoft.com/office/drawing/2014/main" val="2596673576"/>
                    </a:ext>
                  </a:extLst>
                </a:gridCol>
                <a:gridCol w="1334180">
                  <a:extLst>
                    <a:ext uri="{9D8B030D-6E8A-4147-A177-3AD203B41FA5}">
                      <a16:colId xmlns:a16="http://schemas.microsoft.com/office/drawing/2014/main" val="2664057784"/>
                    </a:ext>
                  </a:extLst>
                </a:gridCol>
                <a:gridCol w="1334180">
                  <a:extLst>
                    <a:ext uri="{9D8B030D-6E8A-4147-A177-3AD203B41FA5}">
                      <a16:colId xmlns:a16="http://schemas.microsoft.com/office/drawing/2014/main" val="3912660684"/>
                    </a:ext>
                  </a:extLst>
                </a:gridCol>
              </a:tblGrid>
              <a:tr h="947057">
                <a:tc>
                  <a:txBody>
                    <a:bodyPr/>
                    <a:lstStyle/>
                    <a:p>
                      <a:pPr algn="ctr"/>
                      <a:r>
                        <a:rPr lang="ru-RU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Жыл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3" marR="914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k-KZ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Қант диабеті</a:t>
                      </a:r>
                      <a:r>
                        <a:rPr lang="kk-KZ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k-KZ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«Д» есеп 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3" marR="914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Қант</a:t>
                      </a:r>
                      <a:r>
                        <a:rPr lang="ru-RU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диабеті</a:t>
                      </a:r>
                      <a:r>
                        <a:rPr lang="ru-RU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(ПУЗ)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3" marR="914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АГ</a:t>
                      </a:r>
                    </a:p>
                  </a:txBody>
                  <a:tcPr marL="91433" marR="914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АГ (ПУЗ)</a:t>
                      </a:r>
                    </a:p>
                  </a:txBody>
                  <a:tcPr marL="91433" marR="914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Созылмалы</a:t>
                      </a:r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жүрек</a:t>
                      </a:r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жетіспеушілігі</a:t>
                      </a:r>
                      <a:r>
                        <a:rPr lang="ru-RU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ХСН)</a:t>
                      </a:r>
                    </a:p>
                  </a:txBody>
                  <a:tcPr marL="91433" marR="914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СЖЖ</a:t>
                      </a:r>
                      <a:r>
                        <a:rPr lang="ru-RU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(ПУЗ)</a:t>
                      </a:r>
                    </a:p>
                  </a:txBody>
                  <a:tcPr marL="91433" marR="914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93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marL="91433" marR="914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1433" marR="914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1433" marR="914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1433" marR="914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1433" marR="914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1433" marR="914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1433" marR="914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874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marL="91433" marR="914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439</a:t>
                      </a:r>
                    </a:p>
                  </a:txBody>
                  <a:tcPr marL="91433" marR="914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</a:t>
                      </a:r>
                    </a:p>
                  </a:txBody>
                  <a:tcPr marL="91433" marR="914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939</a:t>
                      </a:r>
                    </a:p>
                  </a:txBody>
                  <a:tcPr marL="91433" marR="914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153</a:t>
                      </a:r>
                    </a:p>
                  </a:txBody>
                  <a:tcPr marL="91433" marR="914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156</a:t>
                      </a:r>
                    </a:p>
                  </a:txBody>
                  <a:tcPr marL="91433" marR="914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 marL="91433" marR="914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7184392"/>
                  </a:ext>
                </a:extLst>
              </a:tr>
            </a:tbl>
          </a:graphicData>
        </a:graphic>
      </p:graphicFrame>
      <p:sp>
        <p:nvSpPr>
          <p:cNvPr id="34852" name="TextBox 7">
            <a:extLst>
              <a:ext uri="{FF2B5EF4-FFF2-40B4-BE49-F238E27FC236}">
                <a16:creationId xmlns:a16="http://schemas.microsoft.com/office/drawing/2014/main" id="{7D9782A6-7EEA-1E93-3247-C2B1672B19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240" y="263712"/>
            <a:ext cx="1159033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en-US" sz="3200" b="1" dirty="0">
                <a:solidFill>
                  <a:srgbClr val="00225E"/>
                </a:solidFill>
                <a:latin typeface="Times New Roman"/>
                <a:cs typeface="Times New Roman"/>
              </a:rPr>
              <a:t>ПУЗ</a:t>
            </a:r>
          </a:p>
        </p:txBody>
      </p:sp>
      <p:sp>
        <p:nvSpPr>
          <p:cNvPr id="34854" name="Прямоугольник 1">
            <a:extLst>
              <a:ext uri="{FF2B5EF4-FFF2-40B4-BE49-F238E27FC236}">
                <a16:creationId xmlns:a16="http://schemas.microsoft.com/office/drawing/2014/main" id="{9461CB6D-E470-A422-BE93-055A31C068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844" y="6225522"/>
            <a:ext cx="87725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en-US" sz="18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2024 жылы қаржы бөлінбеуіне байланысты жүргізілмеді</a:t>
            </a:r>
            <a:endParaRPr lang="en-US" altLang="en-US" sz="1800"/>
          </a:p>
        </p:txBody>
      </p:sp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9E451D4A-0490-4EF1-88A0-DC12686A99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89907500"/>
              </p:ext>
            </p:extLst>
          </p:nvPr>
        </p:nvGraphicFramePr>
        <p:xfrm>
          <a:off x="2779485" y="3096624"/>
          <a:ext cx="6633029" cy="32490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Заголовок 1">
            <a:extLst>
              <a:ext uri="{FF2B5EF4-FFF2-40B4-BE49-F238E27FC236}">
                <a16:creationId xmlns:a16="http://schemas.microsoft.com/office/drawing/2014/main" id="{BCEE51A7-6B00-6A58-B6CA-B141D8C44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906" y="309096"/>
            <a:ext cx="10515600" cy="384175"/>
          </a:xfrm>
        </p:spPr>
        <p:txBody>
          <a:bodyPr/>
          <a:lstStyle/>
          <a:p>
            <a:pPr eaLnBrk="1" hangingPunct="1"/>
            <a:r>
              <a:rPr lang="ru-RU" altLang="en-US" sz="3200" b="1" err="1">
                <a:solidFill>
                  <a:srgbClr val="00225E"/>
                </a:solidFill>
                <a:latin typeface="Times New Roman"/>
                <a:cs typeface="Times New Roman"/>
              </a:rPr>
              <a:t>Онкологиялық</a:t>
            </a:r>
            <a:r>
              <a:rPr lang="ru-RU" altLang="en-US" sz="3200" b="1" dirty="0">
                <a:solidFill>
                  <a:srgbClr val="00225E"/>
                </a:solidFill>
                <a:latin typeface="Times New Roman"/>
                <a:cs typeface="Times New Roman"/>
              </a:rPr>
              <a:t> </a:t>
            </a:r>
            <a:r>
              <a:rPr lang="ru-RU" altLang="en-US" sz="3200" b="1" err="1">
                <a:solidFill>
                  <a:srgbClr val="00225E"/>
                </a:solidFill>
                <a:latin typeface="Times New Roman"/>
                <a:cs typeface="Times New Roman"/>
              </a:rPr>
              <a:t>аурулар</a:t>
            </a:r>
            <a:endParaRPr lang="ru-RU" altLang="en-US" sz="3200" err="1">
              <a:solidFill>
                <a:srgbClr val="00225E"/>
              </a:solidFill>
              <a:latin typeface="Times New Roman"/>
              <a:cs typeface="Times New Roman"/>
            </a:endParaRPr>
          </a:p>
        </p:txBody>
      </p:sp>
      <p:graphicFrame>
        <p:nvGraphicFramePr>
          <p:cNvPr id="4" name="Содержимое 3">
            <a:extLst>
              <a:ext uri="{FF2B5EF4-FFF2-40B4-BE49-F238E27FC236}">
                <a16:creationId xmlns:a16="http://schemas.microsoft.com/office/drawing/2014/main" id="{A9506E41-D74B-98FF-043C-64110B520E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6444316"/>
              </p:ext>
            </p:extLst>
          </p:nvPr>
        </p:nvGraphicFramePr>
        <p:xfrm>
          <a:off x="6664512" y="897218"/>
          <a:ext cx="5202238" cy="4800599"/>
        </p:xfrm>
        <a:graphic>
          <a:graphicData uri="http://schemas.openxmlformats.org/drawingml/2006/table">
            <a:tbl>
              <a:tblPr/>
              <a:tblGrid>
                <a:gridCol w="3117850">
                  <a:extLst>
                    <a:ext uri="{9D8B030D-6E8A-4147-A177-3AD203B41FA5}">
                      <a16:colId xmlns:a16="http://schemas.microsoft.com/office/drawing/2014/main" val="1155734507"/>
                    </a:ext>
                  </a:extLst>
                </a:gridCol>
                <a:gridCol w="987425">
                  <a:extLst>
                    <a:ext uri="{9D8B030D-6E8A-4147-A177-3AD203B41FA5}">
                      <a16:colId xmlns:a16="http://schemas.microsoft.com/office/drawing/2014/main" val="2707492532"/>
                    </a:ext>
                  </a:extLst>
                </a:gridCol>
                <a:gridCol w="1096963">
                  <a:extLst>
                    <a:ext uri="{9D8B030D-6E8A-4147-A177-3AD203B41FA5}">
                      <a16:colId xmlns:a16="http://schemas.microsoft.com/office/drawing/2014/main" val="4228025075"/>
                    </a:ext>
                  </a:extLst>
                </a:gridCol>
              </a:tblGrid>
              <a:tr h="595398">
                <a:tc>
                  <a:txBody>
                    <a:bodyPr/>
                    <a:lstStyle>
                      <a:lvl1pPr marL="4763" indent="-4763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4763" marR="0" lvl="0" indent="-4763" algn="ctr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k-KZ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Көрсеткіштер</a:t>
                      </a: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763" marR="0" lvl="0" indent="-4763" algn="ctr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68575" marR="24775" marT="12077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6350" indent="-635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6350" marR="0" lvl="0" indent="-6350" algn="ctr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 ж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68575" marR="24775" marT="12077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6350" indent="-635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6350" marR="0" lvl="0" indent="-6350" algn="ctr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 ж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68575" marR="24775" marT="12077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673866"/>
                  </a:ext>
                </a:extLst>
              </a:tr>
              <a:tr h="468707">
                <a:tc>
                  <a:txBody>
                    <a:bodyPr/>
                    <a:lstStyle>
                      <a:lvl1pPr marL="19050" indent="-635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19050" marR="0" lvl="0" indent="-635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 мыңға шаққанда сырқаттанушылық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68575" marR="24775" marT="12077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kumimoji="0" lang="ru-RU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58,7</a:t>
                      </a:r>
                      <a:r>
                        <a:rPr kumimoji="0" lang="ru-RU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8575" marR="68575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</a:t>
                      </a:r>
                      <a:r>
                        <a:rPr kumimoji="0" lang="ru-RU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278,8</a:t>
                      </a:r>
                      <a:r>
                        <a:rPr kumimoji="0" lang="ru-RU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%)</a:t>
                      </a:r>
                    </a:p>
                  </a:txBody>
                  <a:tcPr marL="68575" marR="24775" marT="12077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9304343"/>
                  </a:ext>
                </a:extLst>
              </a:tr>
              <a:tr h="306432">
                <a:tc>
                  <a:txBody>
                    <a:bodyPr/>
                    <a:lstStyle>
                      <a:lvl1pPr marL="19050" indent="-635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19050" marR="0" lvl="0" indent="-635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 мыңға шаққанда өлім-жітім 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68575" marR="24775" marT="12077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</a:t>
                      </a:r>
                      <a:r>
                        <a:rPr kumimoji="0" lang="ru-RU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(7,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0" lang="ru-RU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8575" marR="24775" marT="12077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kumimoji="0" lang="ru-RU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r>
                        <a:rPr kumimoji="0" lang="ru-RU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r>
                        <a:rPr kumimoji="0" lang="ru-RU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%)</a:t>
                      </a:r>
                    </a:p>
                  </a:txBody>
                  <a:tcPr marL="68575" marR="24775" marT="12077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177392"/>
                  </a:ext>
                </a:extLst>
              </a:tr>
              <a:tr h="736197">
                <a:tc>
                  <a:txBody>
                    <a:bodyPr/>
                    <a:lstStyle>
                      <a:lvl1pPr defTabSz="68580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6858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6858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6858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6858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6858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6858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6858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6858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6858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  <a:sym typeface="Calibri" panose="020F0502020204030204" pitchFamily="34" charset="0"/>
                        </a:rPr>
                        <a:t>Алғаш рет анықталған 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  <a:sym typeface="Calibri" panose="020F0502020204030204" pitchFamily="34" charset="0"/>
                        </a:rPr>
                        <a:t>O-I </a:t>
                      </a:r>
                      <a:r>
                        <a:rPr kumimoji="0" lang="ru-RU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  <a:sym typeface="Calibri" panose="020F0502020204030204" pitchFamily="34" charset="0"/>
                        </a:rPr>
                        <a:t>сатыдағы </a:t>
                      </a:r>
                      <a:r>
                        <a:rPr kumimoji="0" lang="kk-KZ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  <a:sym typeface="Calibri" panose="020F0502020204030204" pitchFamily="34" charset="0"/>
                        </a:rPr>
                        <a:t>қатерлі ісік </a:t>
                      </a:r>
                      <a:r>
                        <a:rPr kumimoji="0" lang="ru-RU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  <a:sym typeface="Calibri" panose="020F0502020204030204" pitchFamily="34" charset="0"/>
                        </a:rPr>
                        <a:t> науқастарының саны</a:t>
                      </a:r>
                    </a:p>
                  </a:txBody>
                  <a:tcPr marL="68575" marR="68575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0" lang="ru-RU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(3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kumimoji="0" lang="ru-RU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kumimoji="0" lang="ru-RU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8575" marR="68575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 (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</a:t>
                      </a:r>
                      <a:r>
                        <a:rPr kumimoji="0" lang="ru-RU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kumimoji="0" lang="ru-RU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%)</a:t>
                      </a:r>
                    </a:p>
                  </a:txBody>
                  <a:tcPr marL="68575" marR="24775" marT="12077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9571667"/>
                  </a:ext>
                </a:extLst>
              </a:tr>
              <a:tr h="716065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  <a:sym typeface="Calibri" panose="020F0502020204030204" pitchFamily="34" charset="0"/>
                        </a:rPr>
                        <a:t>Алғаш рет анықталған 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  <a:sym typeface="Calibri" panose="020F0502020204030204" pitchFamily="34" charset="0"/>
                        </a:rPr>
                        <a:t>IV </a:t>
                      </a:r>
                      <a:r>
                        <a:rPr kumimoji="0" lang="ru-RU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  <a:sym typeface="Calibri" panose="020F0502020204030204" pitchFamily="34" charset="0"/>
                        </a:rPr>
                        <a:t>сатыдағы қатерлі ісік  науқастарының саны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ym typeface="Calibri" panose="020F0502020204030204" pitchFamily="34" charset="0"/>
                      </a:endParaRPr>
                    </a:p>
                  </a:txBody>
                  <a:tcPr marL="68575" marR="68575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ru-RU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ru-RU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kumimoji="0" lang="ru-RU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8575" marR="68575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ru-RU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4,7</a:t>
                      </a:r>
                      <a:r>
                        <a:rPr kumimoji="0" lang="ru-RU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8575" marR="24775" marT="12077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6474858"/>
                  </a:ext>
                </a:extLst>
              </a:tr>
              <a:tr h="736197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  <a:sym typeface="Calibri" panose="020F0502020204030204" pitchFamily="34" charset="0"/>
                        </a:rPr>
                        <a:t>5 жыл және одан да көп өмір сүретін науқастардың үлес салмағын ұлғайту (%)</a:t>
                      </a:r>
                    </a:p>
                  </a:txBody>
                  <a:tcPr marL="68575" marR="68575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7,1</a:t>
                      </a:r>
                      <a:endParaRPr kumimoji="0" lang="ru-RU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5" marR="68575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34,9</a:t>
                      </a:r>
                      <a:endParaRPr kumimoji="0" lang="ru-RU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5" marR="24775" marT="12077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9453476"/>
                  </a:ext>
                </a:extLst>
              </a:tr>
              <a:tr h="124160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III-IV </a:t>
                      </a:r>
                      <a:r>
                        <a:rPr kumimoji="0" lang="ru-RU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сатыдағы алғаш рет есепке алынған процестің визуалды локализациясы бар науқастардың үлес салмағы. және  %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ym typeface="Calibri" panose="020F0502020204030204" pitchFamily="34" charset="0"/>
                      </a:endParaRPr>
                    </a:p>
                  </a:txBody>
                  <a:tcPr marL="68575" marR="68575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ru-RU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25,0</a:t>
                      </a:r>
                      <a:r>
                        <a:rPr kumimoji="0" lang="ru-RU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8575" marR="68575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(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11,8</a:t>
                      </a:r>
                      <a:r>
                        <a:rPr kumimoji="0" lang="ru-RU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%)</a:t>
                      </a:r>
                    </a:p>
                  </a:txBody>
                  <a:tcPr marL="68575" marR="24775" marT="12077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6314866"/>
                  </a:ext>
                </a:extLst>
              </a:tr>
            </a:tbl>
          </a:graphicData>
        </a:graphic>
      </p:graphicFrame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FE616FF2-23A0-2283-EF1F-67FDA6AC87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6971677"/>
              </p:ext>
            </p:extLst>
          </p:nvPr>
        </p:nvGraphicFramePr>
        <p:xfrm>
          <a:off x="1035050" y="895163"/>
          <a:ext cx="4776788" cy="2103694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2856108">
                  <a:extLst>
                    <a:ext uri="{9D8B030D-6E8A-4147-A177-3AD203B41FA5}">
                      <a16:colId xmlns:a16="http://schemas.microsoft.com/office/drawing/2014/main" val="587324804"/>
                    </a:ext>
                  </a:extLst>
                </a:gridCol>
                <a:gridCol w="1920680">
                  <a:extLst>
                    <a:ext uri="{9D8B030D-6E8A-4147-A177-3AD203B41FA5}">
                      <a16:colId xmlns:a16="http://schemas.microsoft.com/office/drawing/2014/main" val="4271613855"/>
                    </a:ext>
                  </a:extLst>
                </a:gridCol>
              </a:tblGrid>
              <a:tr h="274411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err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Көрсеткіштер</a:t>
                      </a:r>
                      <a:endParaRPr lang="ru-RU" sz="12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5" marR="91455" marT="45735" marB="457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err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Динамикалық</a:t>
                      </a:r>
                      <a:r>
                        <a:rPr lang="ru-RU" sz="12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b="1" dirty="0" err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корсеткіш</a:t>
                      </a:r>
                      <a:endParaRPr lang="ru-RU" sz="12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5" marR="91455" marT="45735" marB="457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383330"/>
                  </a:ext>
                </a:extLst>
              </a:tr>
              <a:tr h="457351">
                <a:tc>
                  <a:txBody>
                    <a:bodyPr/>
                    <a:lstStyle/>
                    <a:p>
                      <a:r>
                        <a:rPr lang="ru-RU" sz="12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Сырқаттанушылық</a:t>
                      </a:r>
                      <a:r>
                        <a:rPr lang="ru-RU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көрсеткішінің</a:t>
                      </a:r>
                      <a:r>
                        <a:rPr lang="ru-RU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динамикасы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5" marR="91455" marT="45735" marB="457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375,3</a:t>
                      </a:r>
                    </a:p>
                    <a:p>
                      <a:pPr algn="ctr"/>
                      <a:endParaRPr lang="ru-RU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5" marR="91455" marT="45735" marB="457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7258487"/>
                  </a:ext>
                </a:extLst>
              </a:tr>
              <a:tr h="274411">
                <a:tc>
                  <a:txBody>
                    <a:bodyPr/>
                    <a:lstStyle/>
                    <a:p>
                      <a:r>
                        <a:rPr lang="ru-RU" sz="12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Өлім</a:t>
                      </a:r>
                      <a:r>
                        <a:rPr lang="ru-RU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көрсеткішінің</a:t>
                      </a:r>
                      <a:r>
                        <a:rPr lang="ru-RU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динамикасы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5" marR="91455" marT="45735" marB="457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253,7</a:t>
                      </a:r>
                      <a:endParaRPr lang="ru-RU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5" marR="91455" marT="45735" marB="457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2713988"/>
                  </a:ext>
                </a:extLst>
              </a:tr>
              <a:tr h="457351">
                <a:tc>
                  <a:txBody>
                    <a:bodyPr/>
                    <a:lstStyle/>
                    <a:p>
                      <a:r>
                        <a:rPr lang="ru-RU" sz="12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Ерте</a:t>
                      </a:r>
                      <a:r>
                        <a:rPr lang="ru-RU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анықтаудың</a:t>
                      </a:r>
                      <a:r>
                        <a:rPr lang="ru-RU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үлес</a:t>
                      </a:r>
                      <a:r>
                        <a:rPr lang="ru-RU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салмағының</a:t>
                      </a:r>
                      <a:r>
                        <a:rPr lang="ru-RU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динамикасы</a:t>
                      </a:r>
                      <a:r>
                        <a:rPr lang="ru-RU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%</a:t>
                      </a:r>
                    </a:p>
                  </a:txBody>
                  <a:tcPr marL="91455" marR="91455" marT="45735" marB="457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24,0</a:t>
                      </a:r>
                      <a:endParaRPr lang="ru-RU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5" marR="91455" marT="45735" marB="457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2575987"/>
                  </a:ext>
                </a:extLst>
              </a:tr>
              <a:tr h="457351">
                <a:tc>
                  <a:txBody>
                    <a:bodyPr/>
                    <a:lstStyle/>
                    <a:p>
                      <a:r>
                        <a:rPr lang="ru-RU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Кеш </a:t>
                      </a:r>
                      <a:r>
                        <a:rPr lang="ru-RU" sz="12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анықтаудың</a:t>
                      </a:r>
                      <a:r>
                        <a:rPr lang="ru-RU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үлес</a:t>
                      </a:r>
                      <a:r>
                        <a:rPr lang="ru-RU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салмағының</a:t>
                      </a:r>
                      <a:r>
                        <a:rPr lang="ru-RU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динамикасы</a:t>
                      </a:r>
                      <a:r>
                        <a:rPr lang="ru-RU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IV </a:t>
                      </a:r>
                      <a:r>
                        <a:rPr lang="ru-RU" sz="12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кезең</a:t>
                      </a:r>
                      <a:r>
                        <a:rPr lang="ru-RU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)%</a:t>
                      </a:r>
                    </a:p>
                  </a:txBody>
                  <a:tcPr marL="91455" marR="91455" marT="45735" marB="457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</a:t>
                      </a:r>
                      <a:r>
                        <a:rPr lang="ru-RU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ru-RU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5" marR="91455" marT="45735" marB="457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2219988"/>
                  </a:ext>
                </a:extLst>
              </a:tr>
            </a:tbl>
          </a:graphicData>
        </a:graphic>
      </p:graphicFrame>
      <p:sp>
        <p:nvSpPr>
          <p:cNvPr id="11" name="Овал 10">
            <a:extLst>
              <a:ext uri="{FF2B5EF4-FFF2-40B4-BE49-F238E27FC236}">
                <a16:creationId xmlns:a16="http://schemas.microsoft.com/office/drawing/2014/main" id="{B629AB03-EA44-B898-331D-2566C96F8F63}"/>
              </a:ext>
            </a:extLst>
          </p:cNvPr>
          <p:cNvSpPr/>
          <p:nvPr/>
        </p:nvSpPr>
        <p:spPr>
          <a:xfrm>
            <a:off x="-976815" y="136759"/>
            <a:ext cx="1569054" cy="2462750"/>
          </a:xfrm>
          <a:prstGeom prst="ellipse">
            <a:avLst/>
          </a:prstGeom>
          <a:solidFill>
            <a:schemeClr val="accent5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sz="24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sz="24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</a:t>
            </a:r>
            <a:r>
              <a:rPr lang="en-US" sz="2400" b="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ncology</a:t>
            </a:r>
            <a:endParaRPr lang="ru-RU" sz="24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Диаграмма 6">
            <a:extLst>
              <a:ext uri="{FF2B5EF4-FFF2-40B4-BE49-F238E27FC236}">
                <a16:creationId xmlns:a16="http://schemas.microsoft.com/office/drawing/2014/main" id="{C851A250-4036-42D6-9E11-7C3CD64574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70065512"/>
              </p:ext>
            </p:extLst>
          </p:nvPr>
        </p:nvGraphicFramePr>
        <p:xfrm>
          <a:off x="838200" y="3007360"/>
          <a:ext cx="5169989" cy="35801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Заголовок 1">
            <a:extLst>
              <a:ext uri="{FF2B5EF4-FFF2-40B4-BE49-F238E27FC236}">
                <a16:creationId xmlns:a16="http://schemas.microsoft.com/office/drawing/2014/main" id="{570E0EC4-5479-AEC3-C156-97EBDAE4C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6476"/>
          </a:xfrm>
        </p:spPr>
        <p:txBody>
          <a:bodyPr/>
          <a:lstStyle/>
          <a:p>
            <a:pPr algn="ctr" eaLnBrk="1" hangingPunct="1"/>
            <a:r>
              <a:rPr lang="ru-RU" altLang="en-US" b="1" err="1">
                <a:solidFill>
                  <a:srgbClr val="00225E"/>
                </a:solidFill>
                <a:latin typeface="Times New Roman"/>
                <a:cs typeface="Times New Roman"/>
              </a:rPr>
              <a:t>Туберкулезбен</a:t>
            </a:r>
            <a:r>
              <a:rPr lang="ru-RU" altLang="en-US" b="1" dirty="0">
                <a:solidFill>
                  <a:srgbClr val="00225E"/>
                </a:solidFill>
                <a:latin typeface="Times New Roman"/>
                <a:cs typeface="Times New Roman"/>
              </a:rPr>
              <a:t> </a:t>
            </a:r>
            <a:r>
              <a:rPr lang="ru-RU" altLang="en-US" b="1" err="1">
                <a:solidFill>
                  <a:srgbClr val="00225E"/>
                </a:solidFill>
                <a:latin typeface="Times New Roman"/>
                <a:cs typeface="Times New Roman"/>
              </a:rPr>
              <a:t>сырқаттанушылық</a:t>
            </a:r>
            <a:endParaRPr lang="ru-RU" altLang="en-US">
              <a:solidFill>
                <a:srgbClr val="00225E"/>
              </a:solidFill>
              <a:latin typeface="Times New Roman"/>
              <a:cs typeface="Times New Roman"/>
            </a:endParaRPr>
          </a:p>
        </p:txBody>
      </p:sp>
      <p:graphicFrame>
        <p:nvGraphicFramePr>
          <p:cNvPr id="4" name="Содержимое 3">
            <a:extLst>
              <a:ext uri="{FF2B5EF4-FFF2-40B4-BE49-F238E27FC236}">
                <a16:creationId xmlns:a16="http://schemas.microsoft.com/office/drawing/2014/main" id="{D6816855-C38E-89B1-E925-C8858574A3F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105979562"/>
              </p:ext>
            </p:extLst>
          </p:nvPr>
        </p:nvGraphicFramePr>
        <p:xfrm>
          <a:off x="6591581" y="1305579"/>
          <a:ext cx="5332412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2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31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31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7718">
                <a:tc>
                  <a:txBody>
                    <a:bodyPr/>
                    <a:lstStyle/>
                    <a:p>
                      <a:pPr marL="5715" marR="0" lvl="0" indent="-5715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1" dirty="0">
                          <a:latin typeface="Times New Roman" pitchFamily="18" charset="0"/>
                          <a:cs typeface="Times New Roman" pitchFamily="18" charset="0"/>
                        </a:rPr>
                        <a:t>№п/п </a:t>
                      </a:r>
                      <a:endParaRPr sz="1200" b="1" dirty="0">
                        <a:solidFill>
                          <a:schemeClr val="dk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83124" marR="72366" marT="6976" marB="0" anchor="ctr"/>
                </a:tc>
                <a:tc>
                  <a:txBody>
                    <a:bodyPr/>
                    <a:lstStyle/>
                    <a:p>
                      <a:pPr marL="5080" marR="0" lvl="0" indent="-508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1" dirty="0" err="1">
                          <a:latin typeface="Times New Roman" pitchFamily="18" charset="0"/>
                          <a:cs typeface="Times New Roman" pitchFamily="18" charset="0"/>
                        </a:rPr>
                        <a:t>Көрсеткіштер</a:t>
                      </a:r>
                      <a:endParaRPr sz="1200" b="1" dirty="0">
                        <a:solidFill>
                          <a:schemeClr val="dk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83124" marR="72366" marT="6976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onstantia"/>
                        <a:buNone/>
                      </a:pPr>
                      <a:r>
                        <a:rPr lang="ru-RU" sz="1200" b="1" dirty="0">
                          <a:latin typeface="Times New Roman" pitchFamily="18" charset="0"/>
                          <a:cs typeface="Times New Roman" pitchFamily="18" charset="0"/>
                        </a:rPr>
                        <a:t> 2024 </a:t>
                      </a:r>
                      <a:r>
                        <a:rPr lang="ru-RU" sz="1200" b="1" dirty="0" err="1">
                          <a:latin typeface="Times New Roman" pitchFamily="18" charset="0"/>
                          <a:cs typeface="Times New Roman" pitchFamily="18" charset="0"/>
                        </a:rPr>
                        <a:t>жыл</a:t>
                      </a:r>
                      <a:r>
                        <a:rPr lang="ru-RU" sz="1200" b="1" dirty="0">
                          <a:latin typeface="Times New Roman" pitchFamily="18" charset="0"/>
                          <a:cs typeface="Times New Roman" pitchFamily="18" charset="0"/>
                        </a:rPr>
                        <a:t> 3 ай б-</a:t>
                      </a:r>
                      <a:r>
                        <a:rPr lang="ru-RU" sz="1200" b="1" dirty="0" err="1">
                          <a:latin typeface="Times New Roman" pitchFamily="18" charset="0"/>
                          <a:cs typeface="Times New Roman" pitchFamily="18" charset="0"/>
                        </a:rPr>
                        <a:t>ша</a:t>
                      </a:r>
                      <a:endParaRPr lang="ru-RU" sz="12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83124" marR="72366" marT="6976" marB="0"/>
                </a:tc>
                <a:tc>
                  <a:txBody>
                    <a:bodyPr/>
                    <a:lstStyle/>
                    <a:p>
                      <a:pPr marL="5080" marR="0" lvl="0" indent="-508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1" dirty="0">
                          <a:latin typeface="Times New Roman" pitchFamily="18" charset="0"/>
                          <a:cs typeface="Times New Roman" pitchFamily="18" charset="0"/>
                        </a:rPr>
                        <a:t>2025 </a:t>
                      </a:r>
                      <a:r>
                        <a:rPr lang="ru-RU" sz="1200" b="1" dirty="0" err="1">
                          <a:latin typeface="Times New Roman" pitchFamily="18" charset="0"/>
                          <a:cs typeface="Times New Roman" pitchFamily="18" charset="0"/>
                        </a:rPr>
                        <a:t>жыл</a:t>
                      </a:r>
                      <a:r>
                        <a:rPr lang="ru-RU" sz="1200" b="1" dirty="0">
                          <a:latin typeface="Times New Roman" pitchFamily="18" charset="0"/>
                          <a:cs typeface="Times New Roman" pitchFamily="18" charset="0"/>
                        </a:rPr>
                        <a:t> 12 ай б-</a:t>
                      </a:r>
                      <a:r>
                        <a:rPr lang="ru-RU" sz="1200" b="1" dirty="0" err="1">
                          <a:latin typeface="Times New Roman" pitchFamily="18" charset="0"/>
                          <a:cs typeface="Times New Roman" pitchFamily="18" charset="0"/>
                        </a:rPr>
                        <a:t>ша</a:t>
                      </a:r>
                      <a:endParaRPr sz="1200" b="1" dirty="0">
                        <a:solidFill>
                          <a:schemeClr val="dk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83124" marR="72366" marT="6976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664">
                <a:tc>
                  <a:txBody>
                    <a:bodyPr/>
                    <a:lstStyle/>
                    <a:p>
                      <a:pPr marL="5715" marR="0" lvl="0" indent="-5715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1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sz="1200" b="1" dirty="0">
                        <a:solidFill>
                          <a:schemeClr val="dk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83124" marR="72366" marT="6976" marB="0"/>
                </a:tc>
                <a:tc>
                  <a:txBody>
                    <a:bodyPr/>
                    <a:lstStyle/>
                    <a:p>
                      <a:pPr marL="5080" marR="0" lvl="0" indent="-508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 err="1">
                          <a:latin typeface="Times New Roman" pitchFamily="18" charset="0"/>
                          <a:cs typeface="Times New Roman" pitchFamily="18" charset="0"/>
                        </a:rPr>
                        <a:t>Анықталған</a:t>
                      </a:r>
                      <a:r>
                        <a:rPr lang="ru-RU" sz="12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1200" dirty="0" err="1">
                          <a:latin typeface="Times New Roman" pitchFamily="18" charset="0"/>
                          <a:cs typeface="Times New Roman" pitchFamily="18" charset="0"/>
                        </a:rPr>
                        <a:t>науқастардың</a:t>
                      </a:r>
                      <a:r>
                        <a:rPr lang="ru-RU" sz="1200" dirty="0">
                          <a:latin typeface="Times New Roman" pitchFamily="18" charset="0"/>
                          <a:cs typeface="Times New Roman" pitchFamily="18" charset="0"/>
                        </a:rPr>
                        <a:t> саны</a:t>
                      </a:r>
                      <a:endParaRPr sz="1200" dirty="0">
                        <a:solidFill>
                          <a:schemeClr val="dk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83124" marR="72366" marT="6976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83124" marR="72366" marT="6976" marB="0"/>
                </a:tc>
                <a:tc>
                  <a:txBody>
                    <a:bodyPr/>
                    <a:lstStyle/>
                    <a:p>
                      <a:pPr marL="5080" marR="0" lvl="0" indent="-508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1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  <a:sym typeface="Times New Roman"/>
                        </a:rPr>
                        <a:t>6</a:t>
                      </a:r>
                      <a:endParaRPr sz="1200" b="1" dirty="0">
                        <a:solidFill>
                          <a:schemeClr val="dk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83124" marR="72366" marT="6976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422">
                <a:tc>
                  <a:txBody>
                    <a:bodyPr/>
                    <a:lstStyle/>
                    <a:p>
                      <a:pPr marL="5715" marR="0" lvl="0" indent="-5715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1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sz="1200" b="1" dirty="0">
                        <a:solidFill>
                          <a:schemeClr val="dk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83124" marR="72366" marT="6976" marB="0"/>
                </a:tc>
                <a:tc>
                  <a:txBody>
                    <a:bodyPr/>
                    <a:lstStyle/>
                    <a:p>
                      <a:pPr marL="5080" marR="0" lvl="0" indent="-508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>
                          <a:latin typeface="Times New Roman" pitchFamily="18" charset="0"/>
                          <a:cs typeface="Times New Roman" pitchFamily="18" charset="0"/>
                        </a:rPr>
                        <a:t>100 </a:t>
                      </a:r>
                      <a:r>
                        <a:rPr lang="ru-RU" sz="1200" dirty="0" err="1">
                          <a:latin typeface="Times New Roman" pitchFamily="18" charset="0"/>
                          <a:cs typeface="Times New Roman" pitchFamily="18" charset="0"/>
                        </a:rPr>
                        <a:t>мың</a:t>
                      </a:r>
                      <a:r>
                        <a:rPr lang="ru-RU" sz="12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1200" dirty="0" err="1">
                          <a:latin typeface="Times New Roman" pitchFamily="18" charset="0"/>
                          <a:cs typeface="Times New Roman" pitchFamily="18" charset="0"/>
                        </a:rPr>
                        <a:t>тұрғынға</a:t>
                      </a:r>
                      <a:r>
                        <a:rPr lang="ru-RU" sz="12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1200" dirty="0" err="1">
                          <a:latin typeface="Times New Roman" pitchFamily="18" charset="0"/>
                          <a:cs typeface="Times New Roman" pitchFamily="18" charset="0"/>
                        </a:rPr>
                        <a:t>шаққандағы</a:t>
                      </a:r>
                      <a:r>
                        <a:rPr lang="ru-RU" sz="12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1200" dirty="0" err="1">
                          <a:latin typeface="Times New Roman" pitchFamily="18" charset="0"/>
                          <a:cs typeface="Times New Roman" pitchFamily="18" charset="0"/>
                        </a:rPr>
                        <a:t>сырқаттанушы</a:t>
                      </a:r>
                      <a:r>
                        <a:rPr lang="ru-RU" sz="1200" baseline="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1200" baseline="0" dirty="0" err="1">
                          <a:latin typeface="Times New Roman" pitchFamily="18" charset="0"/>
                          <a:cs typeface="Times New Roman" pitchFamily="18" charset="0"/>
                        </a:rPr>
                        <a:t>көрсеткіші</a:t>
                      </a:r>
                      <a:r>
                        <a:rPr lang="ru-RU" sz="1200" baseline="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sz="1200" dirty="0">
                        <a:solidFill>
                          <a:schemeClr val="dk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83124" marR="72366" marT="6976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124" marR="72366" marT="6976" marB="0"/>
                </a:tc>
                <a:tc>
                  <a:txBody>
                    <a:bodyPr/>
                    <a:lstStyle/>
                    <a:p>
                      <a:pPr marL="5080" marR="0" lvl="0" indent="-508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1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  <a:sym typeface="Times New Roman"/>
                        </a:rPr>
                        <a:t>38,9%</a:t>
                      </a:r>
                      <a:endParaRPr sz="1200" b="1" dirty="0">
                        <a:solidFill>
                          <a:schemeClr val="dk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83124" marR="72366" marT="6976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269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83124" marR="72366" marT="6976" marB="0"/>
                </a:tc>
                <a:tc>
                  <a:txBody>
                    <a:bodyPr/>
                    <a:lstStyle/>
                    <a:p>
                      <a:pPr marL="6350" marR="0" lvl="0" indent="-635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 err="1">
                          <a:latin typeface="Times New Roman" pitchFamily="18" charset="0"/>
                          <a:cs typeface="Times New Roman" pitchFamily="18" charset="0"/>
                        </a:rPr>
                        <a:t>Оның</a:t>
                      </a:r>
                      <a:r>
                        <a:rPr lang="ru-RU" sz="1200" baseline="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1200" baseline="0" dirty="0" err="1">
                          <a:latin typeface="Times New Roman" pitchFamily="18" charset="0"/>
                          <a:cs typeface="Times New Roman" pitchFamily="18" charset="0"/>
                        </a:rPr>
                        <a:t>ішінде</a:t>
                      </a:r>
                      <a:r>
                        <a:rPr lang="ru-RU" sz="1200" dirty="0">
                          <a:latin typeface="Times New Roman" pitchFamily="18" charset="0"/>
                          <a:cs typeface="Times New Roman" pitchFamily="18" charset="0"/>
                        </a:rPr>
                        <a:t>  БК+ </a:t>
                      </a:r>
                      <a:endParaRPr sz="1200" dirty="0">
                        <a:solidFill>
                          <a:schemeClr val="dk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83124" marR="72366" marT="6976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124" marR="72366" marT="6976" marB="0"/>
                </a:tc>
                <a:tc>
                  <a:txBody>
                    <a:bodyPr/>
                    <a:lstStyle/>
                    <a:p>
                      <a:pPr marL="5080" marR="0" lvl="0" indent="-508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1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  <a:sym typeface="Times New Roman"/>
                        </a:rPr>
                        <a:t>1</a:t>
                      </a:r>
                      <a:endParaRPr sz="1200" b="1" dirty="0">
                        <a:solidFill>
                          <a:schemeClr val="dk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83124" marR="72366" marT="6976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269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83124" marR="72366" marT="6976" marB="0"/>
                </a:tc>
                <a:tc>
                  <a:txBody>
                    <a:bodyPr/>
                    <a:lstStyle/>
                    <a:p>
                      <a:pPr marL="5080" marR="0" lvl="0" indent="-508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k-KZ" sz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Times New Roman"/>
                        </a:rPr>
                        <a:t>Оның</a:t>
                      </a:r>
                      <a:r>
                        <a:rPr lang="kk-KZ" sz="1200" baseline="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Times New Roman"/>
                        </a:rPr>
                        <a:t> ішінде ыдыраған т.б.</a:t>
                      </a:r>
                      <a:endParaRPr sz="1200" dirty="0">
                        <a:solidFill>
                          <a:schemeClr val="dk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83124" marR="72366" marT="6976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124" marR="72366" marT="6976" marB="0"/>
                </a:tc>
                <a:tc>
                  <a:txBody>
                    <a:bodyPr/>
                    <a:lstStyle/>
                    <a:p>
                      <a:pPr marL="5080" marR="0" lvl="0" indent="-508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1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  <a:sym typeface="Times New Roman"/>
                        </a:rPr>
                        <a:t>2</a:t>
                      </a:r>
                      <a:endParaRPr sz="1200" b="1" dirty="0">
                        <a:solidFill>
                          <a:schemeClr val="dk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83124" marR="72366" marT="6976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36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1" dirty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sz="1200" b="1" dirty="0">
                        <a:solidFill>
                          <a:schemeClr val="dk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83124" marR="72366" marT="6976" marB="0"/>
                </a:tc>
                <a:tc>
                  <a:txBody>
                    <a:bodyPr/>
                    <a:lstStyle/>
                    <a:p>
                      <a:pPr marL="5080" marR="0" lvl="0" indent="-508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 err="1">
                          <a:latin typeface="Times New Roman" pitchFamily="18" charset="0"/>
                          <a:cs typeface="Times New Roman" pitchFamily="18" charset="0"/>
                        </a:rPr>
                        <a:t>Асқынған</a:t>
                      </a:r>
                      <a:r>
                        <a:rPr lang="ru-RU" sz="12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1200" dirty="0" err="1">
                          <a:latin typeface="Times New Roman" pitchFamily="18" charset="0"/>
                          <a:cs typeface="Times New Roman" pitchFamily="18" charset="0"/>
                        </a:rPr>
                        <a:t>жағдай</a:t>
                      </a:r>
                      <a:endParaRPr sz="1200" dirty="0">
                        <a:solidFill>
                          <a:schemeClr val="dk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83124" marR="72366" marT="6976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124" marR="72366" marT="6976" marB="0"/>
                </a:tc>
                <a:tc>
                  <a:txBody>
                    <a:bodyPr/>
                    <a:lstStyle/>
                    <a:p>
                      <a:pPr marL="5080" marR="0" lvl="0" indent="-508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  <a:sym typeface="Times New Roman"/>
                        </a:rPr>
                        <a:t>0</a:t>
                      </a:r>
                      <a:endParaRPr sz="1200" b="1" dirty="0">
                        <a:solidFill>
                          <a:schemeClr val="dk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83124" marR="72366" marT="6976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269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1" dirty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sz="1200" b="1" dirty="0">
                        <a:solidFill>
                          <a:schemeClr val="dk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83124" marR="72366" marT="6976" marB="0"/>
                </a:tc>
                <a:tc>
                  <a:txBody>
                    <a:bodyPr/>
                    <a:lstStyle/>
                    <a:p>
                      <a:pPr marL="5080" marR="0" lvl="0" indent="-508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 err="1">
                          <a:latin typeface="Times New Roman" pitchFamily="18" charset="0"/>
                          <a:cs typeface="Times New Roman" pitchFamily="18" charset="0"/>
                        </a:rPr>
                        <a:t>Босанған</a:t>
                      </a:r>
                      <a:r>
                        <a:rPr lang="ru-RU" sz="12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1200" dirty="0" err="1">
                          <a:latin typeface="Times New Roman" pitchFamily="18" charset="0"/>
                          <a:cs typeface="Times New Roman" pitchFamily="18" charset="0"/>
                        </a:rPr>
                        <a:t>әйелдер</a:t>
                      </a:r>
                      <a:endParaRPr sz="1200" dirty="0">
                        <a:solidFill>
                          <a:schemeClr val="dk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83124" marR="72366" marT="6976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124" marR="72366" marT="6976" marB="0"/>
                </a:tc>
                <a:tc>
                  <a:txBody>
                    <a:bodyPr/>
                    <a:lstStyle/>
                    <a:p>
                      <a:pPr marL="5080" marR="0" lvl="0" indent="-508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  <a:sym typeface="Times New Roman"/>
                        </a:rPr>
                        <a:t>0</a:t>
                      </a:r>
                      <a:endParaRPr sz="1200" b="1" dirty="0">
                        <a:solidFill>
                          <a:schemeClr val="dk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83124" marR="72366" marT="6976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269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1" dirty="0"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sz="1200" b="1" dirty="0">
                        <a:solidFill>
                          <a:schemeClr val="dk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83124" marR="72366" marT="6976" marB="0"/>
                </a:tc>
                <a:tc>
                  <a:txBody>
                    <a:bodyPr/>
                    <a:lstStyle/>
                    <a:p>
                      <a:pPr marL="5080" marR="0" lvl="0" indent="-508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k-KZ" sz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Times New Roman"/>
                        </a:rPr>
                        <a:t>Басқа</a:t>
                      </a:r>
                      <a:r>
                        <a:rPr lang="kk-KZ" sz="1200" baseline="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Times New Roman"/>
                        </a:rPr>
                        <a:t> қаладан келген адамдар</a:t>
                      </a:r>
                      <a:endParaRPr sz="1200" dirty="0">
                        <a:solidFill>
                          <a:schemeClr val="dk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83124" marR="72366" marT="6976" marB="0"/>
                </a:tc>
                <a:tc>
                  <a:txBody>
                    <a:bodyPr/>
                    <a:lstStyle/>
                    <a:p>
                      <a:pPr marL="6350" marR="0" lvl="0" indent="-635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  <a:sym typeface="Times New Roman"/>
                        </a:rPr>
                        <a:t>0</a:t>
                      </a:r>
                      <a:endParaRPr sz="1200" b="1" dirty="0">
                        <a:solidFill>
                          <a:schemeClr val="dk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83124" marR="72366" marT="6976" marB="0"/>
                </a:tc>
                <a:tc>
                  <a:txBody>
                    <a:bodyPr/>
                    <a:lstStyle/>
                    <a:p>
                      <a:pPr marL="5080" marR="0" lvl="0" indent="-508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1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  <a:sym typeface="Times New Roman"/>
                        </a:rPr>
                        <a:t>0</a:t>
                      </a:r>
                      <a:endParaRPr sz="1200" b="1" dirty="0">
                        <a:solidFill>
                          <a:schemeClr val="dk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83124" marR="72366" marT="6976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98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1" dirty="0"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sz="1200" b="1" dirty="0">
                        <a:solidFill>
                          <a:schemeClr val="dk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83124" marR="72366" marT="6976" marB="0"/>
                </a:tc>
                <a:tc>
                  <a:txBody>
                    <a:bodyPr/>
                    <a:lstStyle/>
                    <a:p>
                      <a:pPr marL="5080" marR="0" lvl="0" indent="-508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k-KZ" sz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Times New Roman"/>
                        </a:rPr>
                        <a:t>Белсенді</a:t>
                      </a:r>
                      <a:r>
                        <a:rPr lang="kk-KZ" sz="1200" baseline="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Times New Roman"/>
                        </a:rPr>
                        <a:t> науқастар саны </a:t>
                      </a:r>
                      <a:endParaRPr sz="1200" dirty="0">
                        <a:solidFill>
                          <a:schemeClr val="dk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83124" marR="72366" marT="6976" marB="0"/>
                </a:tc>
                <a:tc>
                  <a:txBody>
                    <a:bodyPr/>
                    <a:lstStyle/>
                    <a:p>
                      <a:pPr marL="6350" marR="0" lvl="0" indent="-635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1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1200" b="1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83124" marR="72366" marT="6976" marB="0"/>
                </a:tc>
                <a:tc>
                  <a:txBody>
                    <a:bodyPr/>
                    <a:lstStyle/>
                    <a:p>
                      <a:pPr marL="5080" marR="0" lvl="0" indent="-508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1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  <a:sym typeface="Times New Roman"/>
                        </a:rPr>
                        <a:t>6</a:t>
                      </a:r>
                      <a:endParaRPr sz="1200" b="1" dirty="0">
                        <a:solidFill>
                          <a:schemeClr val="dk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83124" marR="72366" marT="6976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98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1" dirty="0"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sz="1200" b="1" dirty="0">
                        <a:solidFill>
                          <a:schemeClr val="dk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83124" marR="72366" marT="6976" marB="0"/>
                </a:tc>
                <a:tc>
                  <a:txBody>
                    <a:bodyPr/>
                    <a:lstStyle/>
                    <a:p>
                      <a:pPr marL="5080" marR="0" lvl="0" indent="-508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 err="1">
                          <a:latin typeface="Times New Roman" pitchFamily="18" charset="0"/>
                          <a:cs typeface="Times New Roman" pitchFamily="18" charset="0"/>
                        </a:rPr>
                        <a:t>Рецидивті</a:t>
                      </a:r>
                      <a:r>
                        <a:rPr lang="ru-RU" sz="1200" baseline="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1200" baseline="0" dirty="0" err="1">
                          <a:latin typeface="Times New Roman" pitchFamily="18" charset="0"/>
                          <a:cs typeface="Times New Roman" pitchFamily="18" charset="0"/>
                        </a:rPr>
                        <a:t>аурулар</a:t>
                      </a:r>
                      <a:r>
                        <a:rPr lang="ru-RU" sz="1200" baseline="0" dirty="0">
                          <a:latin typeface="Times New Roman" pitchFamily="18" charset="0"/>
                          <a:cs typeface="Times New Roman" pitchFamily="18" charset="0"/>
                        </a:rPr>
                        <a:t> саны </a:t>
                      </a:r>
                      <a:r>
                        <a:rPr lang="ru-RU" sz="12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sz="1200" dirty="0">
                        <a:solidFill>
                          <a:schemeClr val="dk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83124" marR="72366" marT="6976" marB="0"/>
                </a:tc>
                <a:tc>
                  <a:txBody>
                    <a:bodyPr/>
                    <a:lstStyle/>
                    <a:p>
                      <a:pPr marL="6350" marR="0" lvl="0" indent="-635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  <a:sym typeface="Times New Roman"/>
                        </a:rPr>
                        <a:t>0</a:t>
                      </a:r>
                      <a:endParaRPr sz="1200" b="1" dirty="0">
                        <a:solidFill>
                          <a:schemeClr val="dk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83124" marR="72366" marT="6976" marB="0"/>
                </a:tc>
                <a:tc>
                  <a:txBody>
                    <a:bodyPr/>
                    <a:lstStyle/>
                    <a:p>
                      <a:pPr marL="5080" marR="0" lvl="0" indent="-508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1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  <a:sym typeface="Times New Roman"/>
                        </a:rPr>
                        <a:t>1</a:t>
                      </a:r>
                      <a:endParaRPr sz="1200" b="1" dirty="0">
                        <a:solidFill>
                          <a:schemeClr val="dk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83124" marR="72366" marT="6976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842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1" dirty="0"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sz="1200" b="1" dirty="0">
                        <a:solidFill>
                          <a:schemeClr val="dk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83124" marR="72366" marT="6976" marB="0"/>
                </a:tc>
                <a:tc>
                  <a:txBody>
                    <a:bodyPr/>
                    <a:lstStyle/>
                    <a:p>
                      <a:pPr marL="5080" marR="0" lvl="0" indent="-508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>
                          <a:latin typeface="Times New Roman" pitchFamily="18" charset="0"/>
                          <a:cs typeface="Times New Roman" pitchFamily="18" charset="0"/>
                        </a:rPr>
                        <a:t>% выявления по ПЦР G-</a:t>
                      </a:r>
                      <a:r>
                        <a:rPr lang="ru-RU" sz="1200" dirty="0" err="1">
                          <a:latin typeface="Times New Roman" pitchFamily="18" charset="0"/>
                          <a:cs typeface="Times New Roman" pitchFamily="18" charset="0"/>
                        </a:rPr>
                        <a:t>Xpert</a:t>
                      </a:r>
                      <a:r>
                        <a:rPr lang="ru-RU" sz="1200" dirty="0">
                          <a:latin typeface="Times New Roman" pitchFamily="18" charset="0"/>
                          <a:cs typeface="Times New Roman" pitchFamily="18" charset="0"/>
                        </a:rPr>
                        <a:t> среди взрослых-0; </a:t>
                      </a:r>
                      <a:endParaRPr sz="1200" dirty="0">
                        <a:solidFill>
                          <a:schemeClr val="dk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83124" marR="72366" marT="6976" marB="0"/>
                </a:tc>
                <a:tc>
                  <a:txBody>
                    <a:bodyPr/>
                    <a:lstStyle/>
                    <a:p>
                      <a:pPr marL="6350" marR="0" lvl="0" indent="-635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  <a:sym typeface="Times New Roman"/>
                        </a:rPr>
                        <a:t>0</a:t>
                      </a:r>
                      <a:endParaRPr sz="1200" b="1" dirty="0">
                        <a:solidFill>
                          <a:schemeClr val="dk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83124" marR="72366" marT="6976" marB="0"/>
                </a:tc>
                <a:tc>
                  <a:txBody>
                    <a:bodyPr/>
                    <a:lstStyle/>
                    <a:p>
                      <a:pPr marL="5080" marR="0" lvl="0" indent="-508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1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  <a:sym typeface="Times New Roman"/>
                        </a:rPr>
                        <a:t>0</a:t>
                      </a:r>
                      <a:endParaRPr sz="1200" b="1" dirty="0">
                        <a:solidFill>
                          <a:schemeClr val="dk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83124" marR="72366" marT="6976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269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83124" marR="72366" marT="6976" marB="0"/>
                </a:tc>
                <a:tc>
                  <a:txBody>
                    <a:bodyPr/>
                    <a:lstStyle/>
                    <a:p>
                      <a:pPr marL="5080" marR="0" lvl="0" indent="-508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k-KZ" sz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Times New Roman"/>
                        </a:rPr>
                        <a:t>Оның</a:t>
                      </a:r>
                      <a:r>
                        <a:rPr lang="kk-KZ" sz="1200" baseline="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Times New Roman"/>
                        </a:rPr>
                        <a:t> ішінде БК+</a:t>
                      </a:r>
                      <a:endParaRPr sz="1200" dirty="0">
                        <a:solidFill>
                          <a:schemeClr val="dk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83124" marR="72366" marT="6976" marB="0"/>
                </a:tc>
                <a:tc>
                  <a:txBody>
                    <a:bodyPr/>
                    <a:lstStyle/>
                    <a:p>
                      <a:pPr marL="6350" marR="0" lvl="0" indent="-635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  <a:sym typeface="Times New Roman"/>
                        </a:rPr>
                        <a:t>0</a:t>
                      </a:r>
                      <a:endParaRPr sz="1200" b="1" dirty="0">
                        <a:solidFill>
                          <a:schemeClr val="dk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83124" marR="72366" marT="6976" marB="0"/>
                </a:tc>
                <a:tc>
                  <a:txBody>
                    <a:bodyPr/>
                    <a:lstStyle/>
                    <a:p>
                      <a:pPr marL="5080" marR="0" lvl="0" indent="-508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1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  <a:sym typeface="Times New Roman"/>
                        </a:rPr>
                        <a:t>0</a:t>
                      </a:r>
                      <a:endParaRPr sz="1200" b="1" dirty="0">
                        <a:solidFill>
                          <a:schemeClr val="dk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83124" marR="72366" marT="6976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8166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1" dirty="0"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endParaRPr sz="1200" b="1" dirty="0">
                        <a:solidFill>
                          <a:schemeClr val="dk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83124" marR="72366" marT="6976" marB="0"/>
                </a:tc>
                <a:tc>
                  <a:txBody>
                    <a:bodyPr/>
                    <a:lstStyle/>
                    <a:p>
                      <a:pPr marL="5080" marR="0" lvl="0" indent="-5080" algn="just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>
                          <a:latin typeface="Times New Roman" pitchFamily="18" charset="0"/>
                          <a:cs typeface="Times New Roman" pitchFamily="18" charset="0"/>
                        </a:rPr>
                        <a:t>100 </a:t>
                      </a:r>
                      <a:r>
                        <a:rPr lang="ru-RU" sz="1200" dirty="0" err="1">
                          <a:latin typeface="Times New Roman" pitchFamily="18" charset="0"/>
                          <a:cs typeface="Times New Roman" pitchFamily="18" charset="0"/>
                        </a:rPr>
                        <a:t>мың</a:t>
                      </a:r>
                      <a:r>
                        <a:rPr lang="ru-RU" sz="1200" baseline="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1200" baseline="0" dirty="0" err="1">
                          <a:latin typeface="Times New Roman" pitchFamily="18" charset="0"/>
                          <a:cs typeface="Times New Roman" pitchFamily="18" charset="0"/>
                        </a:rPr>
                        <a:t>адамға</a:t>
                      </a:r>
                      <a:r>
                        <a:rPr lang="ru-RU" sz="1200" baseline="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1200" baseline="0" dirty="0" err="1">
                          <a:latin typeface="Times New Roman" pitchFamily="18" charset="0"/>
                          <a:cs typeface="Times New Roman" pitchFamily="18" charset="0"/>
                        </a:rPr>
                        <a:t>шаққанда</a:t>
                      </a:r>
                      <a:endParaRPr sz="1200" dirty="0">
                        <a:solidFill>
                          <a:schemeClr val="dk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83124" marR="72366" marT="6976" marB="0"/>
                </a:tc>
                <a:tc>
                  <a:txBody>
                    <a:bodyPr/>
                    <a:lstStyle/>
                    <a:p>
                      <a:pPr marL="6350" marR="0" lvl="0" indent="-635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  <a:sym typeface="Times New Roman"/>
                        </a:rPr>
                        <a:t>0</a:t>
                      </a:r>
                      <a:endParaRPr sz="1200" b="1" dirty="0">
                        <a:solidFill>
                          <a:schemeClr val="dk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83124" marR="72366" marT="6976" marB="0"/>
                </a:tc>
                <a:tc>
                  <a:txBody>
                    <a:bodyPr/>
                    <a:lstStyle/>
                    <a:p>
                      <a:pPr marL="6350" marR="0" lvl="0" indent="-635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  <a:sym typeface="Times New Roman"/>
                        </a:rPr>
                        <a:t>0</a:t>
                      </a:r>
                      <a:endParaRPr sz="1200" b="1" dirty="0">
                        <a:solidFill>
                          <a:schemeClr val="dk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83124" marR="72366" marT="6976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98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1" dirty="0"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sz="1200" b="1" dirty="0">
                        <a:solidFill>
                          <a:schemeClr val="dk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83124" marR="72366" marT="6976" marB="0"/>
                </a:tc>
                <a:tc>
                  <a:txBody>
                    <a:bodyPr/>
                    <a:lstStyle/>
                    <a:p>
                      <a:pPr marL="5080" marR="0" lvl="0" indent="-508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k-KZ" sz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Times New Roman"/>
                        </a:rPr>
                        <a:t>Қамау</a:t>
                      </a:r>
                      <a:r>
                        <a:rPr lang="kk-KZ" sz="1200" baseline="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Times New Roman"/>
                        </a:rPr>
                        <a:t> орындарынан келгендер</a:t>
                      </a:r>
                      <a:endParaRPr sz="1200" dirty="0">
                        <a:solidFill>
                          <a:schemeClr val="dk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83124" marR="72366" marT="6976" marB="0"/>
                </a:tc>
                <a:tc>
                  <a:txBody>
                    <a:bodyPr/>
                    <a:lstStyle/>
                    <a:p>
                      <a:pPr marL="6350" marR="0" lvl="0" indent="-635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  <a:sym typeface="Times New Roman"/>
                        </a:rPr>
                        <a:t>0</a:t>
                      </a:r>
                      <a:endParaRPr sz="1200" b="1" dirty="0">
                        <a:solidFill>
                          <a:schemeClr val="dk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83124" marR="72366" marT="6976" marB="0"/>
                </a:tc>
                <a:tc>
                  <a:txBody>
                    <a:bodyPr/>
                    <a:lstStyle/>
                    <a:p>
                      <a:pPr marL="6350" marR="0" lvl="0" indent="-635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1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  <a:sym typeface="Times New Roman"/>
                        </a:rPr>
                        <a:t>0</a:t>
                      </a:r>
                      <a:endParaRPr sz="1200" b="1" dirty="0">
                        <a:solidFill>
                          <a:schemeClr val="dk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83124" marR="72366" marT="6976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pic>
        <p:nvPicPr>
          <p:cNvPr id="36944" name="Рисунок 5">
            <a:extLst>
              <a:ext uri="{FF2B5EF4-FFF2-40B4-BE49-F238E27FC236}">
                <a16:creationId xmlns:a16="http://schemas.microsoft.com/office/drawing/2014/main" id="{AD873B31-FAF6-C542-5449-D5C8892A77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966" y="157069"/>
            <a:ext cx="1192212" cy="119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2895F18-9CFC-4AAD-A107-73ECAC9A9E7A}"/>
              </a:ext>
            </a:extLst>
          </p:cNvPr>
          <p:cNvSpPr/>
          <p:nvPr/>
        </p:nvSpPr>
        <p:spPr>
          <a:xfrm>
            <a:off x="836052" y="4495707"/>
            <a:ext cx="5339604" cy="230832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err="1">
                <a:latin typeface="Times New Roman"/>
                <a:cs typeface="Times New Roman"/>
              </a:rPr>
              <a:t>Бұл</a:t>
            </a:r>
            <a:r>
              <a:rPr lang="ru-RU" sz="1600" dirty="0">
                <a:latin typeface="Times New Roman"/>
                <a:cs typeface="Times New Roman"/>
              </a:rPr>
              <a:t> </a:t>
            </a:r>
            <a:r>
              <a:rPr lang="ru-RU" sz="1600" err="1">
                <a:latin typeface="Times New Roman"/>
                <a:cs typeface="Times New Roman"/>
              </a:rPr>
              <a:t>көрсеткішті</a:t>
            </a:r>
            <a:r>
              <a:rPr lang="ru-RU" sz="1600" dirty="0">
                <a:latin typeface="Times New Roman"/>
                <a:cs typeface="Times New Roman"/>
              </a:rPr>
              <a:t> </a:t>
            </a:r>
            <a:r>
              <a:rPr lang="ru-RU" sz="1600" err="1">
                <a:latin typeface="Times New Roman"/>
                <a:cs typeface="Times New Roman"/>
              </a:rPr>
              <a:t>одан</a:t>
            </a:r>
            <a:r>
              <a:rPr lang="ru-RU" sz="1600" dirty="0">
                <a:latin typeface="Times New Roman"/>
                <a:cs typeface="Times New Roman"/>
              </a:rPr>
              <a:t> </a:t>
            </a:r>
            <a:r>
              <a:rPr lang="ru-RU" sz="1600" err="1">
                <a:latin typeface="Times New Roman"/>
                <a:cs typeface="Times New Roman"/>
              </a:rPr>
              <a:t>әрі</a:t>
            </a:r>
            <a:r>
              <a:rPr lang="ru-RU" sz="1600" dirty="0">
                <a:latin typeface="Times New Roman"/>
                <a:cs typeface="Times New Roman"/>
              </a:rPr>
              <a:t> </a:t>
            </a:r>
            <a:r>
              <a:rPr lang="ru-RU" sz="1600" err="1">
                <a:latin typeface="Times New Roman"/>
                <a:cs typeface="Times New Roman"/>
              </a:rPr>
              <a:t>жақсарту</a:t>
            </a:r>
            <a:r>
              <a:rPr lang="ru-RU" sz="1600" dirty="0">
                <a:latin typeface="Times New Roman"/>
                <a:cs typeface="Times New Roman"/>
              </a:rPr>
              <a:t> </a:t>
            </a:r>
            <a:r>
              <a:rPr lang="ru-RU" sz="1600" err="1">
                <a:latin typeface="Times New Roman"/>
                <a:cs typeface="Times New Roman"/>
              </a:rPr>
              <a:t>үшін</a:t>
            </a:r>
            <a:r>
              <a:rPr lang="ru-RU" sz="1600" dirty="0">
                <a:latin typeface="Times New Roman"/>
                <a:cs typeface="Times New Roman"/>
              </a:rPr>
              <a:t>: </a:t>
            </a: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r>
              <a:rPr lang="ru-RU" sz="1600" err="1">
                <a:latin typeface="Times New Roman"/>
                <a:cs typeface="Times New Roman"/>
              </a:rPr>
              <a:t>тәуекел</a:t>
            </a:r>
            <a:r>
              <a:rPr lang="ru-RU" sz="1600" dirty="0">
                <a:latin typeface="Times New Roman"/>
                <a:cs typeface="Times New Roman"/>
              </a:rPr>
              <a:t> </a:t>
            </a:r>
            <a:r>
              <a:rPr lang="ru-RU" sz="1600" err="1">
                <a:latin typeface="Times New Roman"/>
                <a:cs typeface="Times New Roman"/>
              </a:rPr>
              <a:t>тобын</a:t>
            </a:r>
            <a:r>
              <a:rPr lang="ru-RU" sz="1600" dirty="0">
                <a:latin typeface="Times New Roman"/>
                <a:cs typeface="Times New Roman"/>
              </a:rPr>
              <a:t> </a:t>
            </a:r>
            <a:r>
              <a:rPr lang="ru-RU" sz="1600" err="1">
                <a:latin typeface="Times New Roman"/>
                <a:cs typeface="Times New Roman"/>
              </a:rPr>
              <a:t>егжей-тегжейлі</a:t>
            </a:r>
            <a:r>
              <a:rPr lang="ru-RU" sz="1600" dirty="0">
                <a:latin typeface="Times New Roman"/>
                <a:cs typeface="Times New Roman"/>
              </a:rPr>
              <a:t> </a:t>
            </a:r>
            <a:r>
              <a:rPr lang="ru-RU" sz="1600" err="1">
                <a:latin typeface="Times New Roman"/>
                <a:cs typeface="Times New Roman"/>
              </a:rPr>
              <a:t>қалыптастыру</a:t>
            </a:r>
            <a:r>
              <a:rPr lang="ru-RU" sz="1600" dirty="0">
                <a:latin typeface="Times New Roman"/>
                <a:cs typeface="Times New Roman"/>
              </a:rPr>
              <a:t>;</a:t>
            </a: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r>
              <a:rPr lang="ru-RU" sz="1600" dirty="0">
                <a:latin typeface="Times New Roman"/>
                <a:cs typeface="Times New Roman"/>
              </a:rPr>
              <a:t>2 </a:t>
            </a:r>
            <a:r>
              <a:rPr lang="ru-RU" sz="1600" err="1">
                <a:latin typeface="Times New Roman"/>
                <a:cs typeface="Times New Roman"/>
              </a:rPr>
              <a:t>жыл</a:t>
            </a:r>
            <a:r>
              <a:rPr lang="ru-RU" sz="1600" dirty="0">
                <a:latin typeface="Times New Roman"/>
                <a:cs typeface="Times New Roman"/>
              </a:rPr>
              <a:t> </a:t>
            </a:r>
            <a:r>
              <a:rPr lang="ru-RU" sz="1600" err="1">
                <a:latin typeface="Times New Roman"/>
                <a:cs typeface="Times New Roman"/>
              </a:rPr>
              <a:t>және</a:t>
            </a:r>
            <a:r>
              <a:rPr lang="ru-RU" sz="1600" dirty="0">
                <a:latin typeface="Times New Roman"/>
                <a:cs typeface="Times New Roman"/>
              </a:rPr>
              <a:t> </a:t>
            </a:r>
            <a:r>
              <a:rPr lang="ru-RU" sz="1600" err="1">
                <a:latin typeface="Times New Roman"/>
                <a:cs typeface="Times New Roman"/>
              </a:rPr>
              <a:t>одан</a:t>
            </a:r>
            <a:r>
              <a:rPr lang="ru-RU" sz="1600" dirty="0">
                <a:latin typeface="Times New Roman"/>
                <a:cs typeface="Times New Roman"/>
              </a:rPr>
              <a:t> да </a:t>
            </a:r>
            <a:r>
              <a:rPr lang="ru-RU" sz="1600" err="1">
                <a:latin typeface="Times New Roman"/>
                <a:cs typeface="Times New Roman"/>
              </a:rPr>
              <a:t>көп</a:t>
            </a:r>
            <a:r>
              <a:rPr lang="ru-RU" sz="1600" dirty="0">
                <a:latin typeface="Times New Roman"/>
                <a:cs typeface="Times New Roman"/>
              </a:rPr>
              <a:t> </a:t>
            </a:r>
            <a:r>
              <a:rPr lang="ru-RU" sz="1600" err="1">
                <a:latin typeface="Times New Roman"/>
                <a:cs typeface="Times New Roman"/>
              </a:rPr>
              <a:t>уақыт</a:t>
            </a:r>
            <a:r>
              <a:rPr lang="ru-RU" sz="1600" dirty="0">
                <a:latin typeface="Times New Roman"/>
                <a:cs typeface="Times New Roman"/>
              </a:rPr>
              <a:t> </a:t>
            </a:r>
            <a:r>
              <a:rPr lang="ru-RU" sz="1600" err="1">
                <a:latin typeface="Times New Roman"/>
                <a:cs typeface="Times New Roman"/>
              </a:rPr>
              <a:t>бойы</a:t>
            </a:r>
            <a:r>
              <a:rPr lang="ru-RU" sz="1600" dirty="0">
                <a:latin typeface="Times New Roman"/>
                <a:cs typeface="Times New Roman"/>
              </a:rPr>
              <a:t> </a:t>
            </a:r>
            <a:r>
              <a:rPr lang="ru-RU" sz="1600" err="1">
                <a:latin typeface="Times New Roman"/>
                <a:cs typeface="Times New Roman"/>
              </a:rPr>
              <a:t>тексерілмеген</a:t>
            </a:r>
            <a:r>
              <a:rPr lang="ru-RU" sz="1600" dirty="0">
                <a:latin typeface="Times New Roman"/>
                <a:cs typeface="Times New Roman"/>
              </a:rPr>
              <a:t> </a:t>
            </a:r>
            <a:r>
              <a:rPr lang="ru-RU" sz="1600" err="1">
                <a:latin typeface="Times New Roman"/>
                <a:cs typeface="Times New Roman"/>
              </a:rPr>
              <a:t>тұрғындарды</a:t>
            </a:r>
            <a:r>
              <a:rPr lang="ru-RU" sz="1600" dirty="0">
                <a:latin typeface="Times New Roman"/>
                <a:cs typeface="Times New Roman"/>
              </a:rPr>
              <a:t> </a:t>
            </a:r>
            <a:r>
              <a:rPr lang="ru-RU" sz="1600" err="1">
                <a:latin typeface="Times New Roman"/>
                <a:cs typeface="Times New Roman"/>
              </a:rPr>
              <a:t>флюорографиялық</a:t>
            </a:r>
            <a:r>
              <a:rPr lang="ru-RU" sz="1600" dirty="0">
                <a:latin typeface="Times New Roman"/>
                <a:cs typeface="Times New Roman"/>
              </a:rPr>
              <a:t> </a:t>
            </a:r>
            <a:r>
              <a:rPr lang="ru-RU" sz="1600" err="1">
                <a:latin typeface="Times New Roman"/>
                <a:cs typeface="Times New Roman"/>
              </a:rPr>
              <a:t>зерттеумен</a:t>
            </a:r>
            <a:r>
              <a:rPr lang="ru-RU" sz="1600" dirty="0">
                <a:latin typeface="Times New Roman"/>
                <a:cs typeface="Times New Roman"/>
              </a:rPr>
              <a:t> </a:t>
            </a:r>
            <a:r>
              <a:rPr lang="ru-RU" sz="1600" err="1">
                <a:latin typeface="Times New Roman"/>
                <a:cs typeface="Times New Roman"/>
              </a:rPr>
              <a:t>қамтуды</a:t>
            </a:r>
            <a:r>
              <a:rPr lang="ru-RU" sz="1600" dirty="0">
                <a:latin typeface="Times New Roman"/>
                <a:cs typeface="Times New Roman"/>
              </a:rPr>
              <a:t> </a:t>
            </a:r>
            <a:r>
              <a:rPr lang="ru-RU" sz="1600" err="1">
                <a:latin typeface="Times New Roman"/>
                <a:cs typeface="Times New Roman"/>
              </a:rPr>
              <a:t>бақылауды</a:t>
            </a:r>
            <a:r>
              <a:rPr lang="ru-RU" sz="1600" dirty="0">
                <a:latin typeface="Times New Roman"/>
                <a:cs typeface="Times New Roman"/>
              </a:rPr>
              <a:t> </a:t>
            </a:r>
            <a:r>
              <a:rPr lang="ru-RU" sz="1600" err="1">
                <a:latin typeface="Times New Roman"/>
                <a:cs typeface="Times New Roman"/>
              </a:rPr>
              <a:t>және</a:t>
            </a:r>
            <a:r>
              <a:rPr lang="ru-RU" sz="1600" dirty="0">
                <a:latin typeface="Times New Roman"/>
                <a:cs typeface="Times New Roman"/>
              </a:rPr>
              <a:t> </a:t>
            </a:r>
            <a:r>
              <a:rPr lang="ru-RU" sz="1600" err="1">
                <a:latin typeface="Times New Roman"/>
                <a:cs typeface="Times New Roman"/>
              </a:rPr>
              <a:t>мониторингті</a:t>
            </a:r>
            <a:r>
              <a:rPr lang="ru-RU" sz="1600" dirty="0">
                <a:latin typeface="Times New Roman"/>
                <a:cs typeface="Times New Roman"/>
              </a:rPr>
              <a:t> </a:t>
            </a:r>
            <a:r>
              <a:rPr lang="ru-RU" sz="1600" err="1">
                <a:latin typeface="Times New Roman"/>
                <a:cs typeface="Times New Roman"/>
              </a:rPr>
              <a:t>қамтамасыз</a:t>
            </a:r>
            <a:r>
              <a:rPr lang="ru-RU" sz="1600" dirty="0">
                <a:latin typeface="Times New Roman"/>
                <a:cs typeface="Times New Roman"/>
              </a:rPr>
              <a:t> </a:t>
            </a:r>
            <a:r>
              <a:rPr lang="ru-RU" sz="1600" err="1">
                <a:latin typeface="Times New Roman"/>
                <a:cs typeface="Times New Roman"/>
              </a:rPr>
              <a:t>ету</a:t>
            </a:r>
            <a:r>
              <a:rPr lang="ru-RU" sz="1600" dirty="0">
                <a:latin typeface="Times New Roman"/>
                <a:cs typeface="Times New Roman"/>
              </a:rPr>
              <a:t>; </a:t>
            </a: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r>
              <a:rPr lang="ru-RU" sz="1600" err="1">
                <a:latin typeface="Times New Roman"/>
                <a:cs typeface="Times New Roman"/>
              </a:rPr>
              <a:t>Бұқаралық</a:t>
            </a:r>
            <a:r>
              <a:rPr lang="ru-RU" sz="1600" dirty="0">
                <a:latin typeface="Times New Roman"/>
                <a:cs typeface="Times New Roman"/>
              </a:rPr>
              <a:t> </a:t>
            </a:r>
            <a:r>
              <a:rPr lang="ru-RU" sz="1600" err="1">
                <a:latin typeface="Times New Roman"/>
                <a:cs typeface="Times New Roman"/>
              </a:rPr>
              <a:t>ақпарат</a:t>
            </a:r>
            <a:r>
              <a:rPr lang="ru-RU" sz="1600" dirty="0">
                <a:latin typeface="Times New Roman"/>
                <a:cs typeface="Times New Roman"/>
              </a:rPr>
              <a:t> </a:t>
            </a:r>
            <a:r>
              <a:rPr lang="ru-RU" sz="1600" err="1">
                <a:latin typeface="Times New Roman"/>
                <a:cs typeface="Times New Roman"/>
              </a:rPr>
              <a:t>құралдары</a:t>
            </a:r>
            <a:r>
              <a:rPr lang="ru-RU" sz="1600" dirty="0">
                <a:latin typeface="Times New Roman"/>
                <a:cs typeface="Times New Roman"/>
              </a:rPr>
              <a:t> </a:t>
            </a:r>
            <a:r>
              <a:rPr lang="ru-RU" sz="1600" err="1">
                <a:latin typeface="Times New Roman"/>
                <a:cs typeface="Times New Roman"/>
              </a:rPr>
              <a:t>және</a:t>
            </a:r>
            <a:r>
              <a:rPr lang="ru-RU" sz="1600" dirty="0">
                <a:latin typeface="Times New Roman"/>
                <a:cs typeface="Times New Roman"/>
              </a:rPr>
              <a:t> </a:t>
            </a:r>
            <a:r>
              <a:rPr lang="ru-RU" sz="1600" err="1">
                <a:latin typeface="Times New Roman"/>
                <a:cs typeface="Times New Roman"/>
              </a:rPr>
              <a:t>жұмыс</a:t>
            </a:r>
            <a:r>
              <a:rPr lang="ru-RU" sz="1600" dirty="0">
                <a:latin typeface="Times New Roman"/>
                <a:cs typeface="Times New Roman"/>
              </a:rPr>
              <a:t> </a:t>
            </a:r>
            <a:r>
              <a:rPr lang="ru-RU" sz="1600" err="1">
                <a:latin typeface="Times New Roman"/>
                <a:cs typeface="Times New Roman"/>
              </a:rPr>
              <a:t>істеп</a:t>
            </a:r>
            <a:r>
              <a:rPr lang="ru-RU" sz="1600" dirty="0">
                <a:latin typeface="Times New Roman"/>
                <a:cs typeface="Times New Roman"/>
              </a:rPr>
              <a:t> </a:t>
            </a:r>
            <a:r>
              <a:rPr lang="ru-RU" sz="1600" err="1">
                <a:latin typeface="Times New Roman"/>
                <a:cs typeface="Times New Roman"/>
              </a:rPr>
              <a:t>тұрған</a:t>
            </a:r>
            <a:r>
              <a:rPr lang="ru-RU" sz="1600" dirty="0">
                <a:latin typeface="Times New Roman"/>
                <a:cs typeface="Times New Roman"/>
              </a:rPr>
              <a:t> веб-сайт </a:t>
            </a:r>
            <a:r>
              <a:rPr lang="ru-RU" sz="1600" err="1">
                <a:latin typeface="Times New Roman"/>
                <a:cs typeface="Times New Roman"/>
              </a:rPr>
              <a:t>арқылы</a:t>
            </a:r>
            <a:r>
              <a:rPr lang="ru-RU" sz="1600" dirty="0">
                <a:latin typeface="Times New Roman"/>
                <a:cs typeface="Times New Roman"/>
              </a:rPr>
              <a:t> </a:t>
            </a:r>
            <a:r>
              <a:rPr lang="ru-RU" sz="1600" err="1">
                <a:latin typeface="Times New Roman"/>
                <a:cs typeface="Times New Roman"/>
              </a:rPr>
              <a:t>халықпен</a:t>
            </a:r>
            <a:r>
              <a:rPr lang="ru-RU" sz="1600" dirty="0">
                <a:latin typeface="Times New Roman"/>
                <a:cs typeface="Times New Roman"/>
              </a:rPr>
              <a:t> </a:t>
            </a:r>
            <a:r>
              <a:rPr lang="ru-RU" sz="1600" err="1">
                <a:latin typeface="Times New Roman"/>
                <a:cs typeface="Times New Roman"/>
              </a:rPr>
              <a:t>вакцинацияның</a:t>
            </a:r>
            <a:r>
              <a:rPr lang="ru-RU" sz="1600" dirty="0">
                <a:latin typeface="Times New Roman"/>
                <a:cs typeface="Times New Roman"/>
              </a:rPr>
              <a:t> </a:t>
            </a:r>
            <a:r>
              <a:rPr lang="ru-RU" sz="1600" err="1">
                <a:latin typeface="Times New Roman"/>
                <a:cs typeface="Times New Roman"/>
              </a:rPr>
              <a:t>қажеттілігі</a:t>
            </a:r>
            <a:r>
              <a:rPr lang="ru-RU" sz="1600" dirty="0">
                <a:latin typeface="Times New Roman"/>
                <a:cs typeface="Times New Roman"/>
              </a:rPr>
              <a:t> </a:t>
            </a:r>
            <a:r>
              <a:rPr lang="ru-RU" sz="1600" err="1">
                <a:latin typeface="Times New Roman"/>
                <a:cs typeface="Times New Roman"/>
              </a:rPr>
              <a:t>туралы</a:t>
            </a:r>
            <a:r>
              <a:rPr lang="ru-RU" sz="1600" dirty="0">
                <a:latin typeface="Times New Roman"/>
                <a:cs typeface="Times New Roman"/>
              </a:rPr>
              <a:t> </a:t>
            </a:r>
            <a:r>
              <a:rPr lang="ru-RU" sz="1600" err="1">
                <a:latin typeface="Times New Roman"/>
                <a:cs typeface="Times New Roman"/>
              </a:rPr>
              <a:t>ақпараттық-ағарту</a:t>
            </a:r>
            <a:r>
              <a:rPr lang="ru-RU" sz="1600" dirty="0">
                <a:latin typeface="Times New Roman"/>
                <a:cs typeface="Times New Roman"/>
              </a:rPr>
              <a:t> </a:t>
            </a:r>
            <a:r>
              <a:rPr lang="ru-RU" sz="1600" err="1">
                <a:latin typeface="Times New Roman"/>
                <a:cs typeface="Times New Roman"/>
              </a:rPr>
              <a:t>жұмыстарын</a:t>
            </a:r>
            <a:r>
              <a:rPr lang="ru-RU" sz="1600" dirty="0">
                <a:latin typeface="Times New Roman"/>
                <a:cs typeface="Times New Roman"/>
              </a:rPr>
              <a:t> </a:t>
            </a:r>
            <a:r>
              <a:rPr lang="ru-RU" sz="1600" err="1">
                <a:latin typeface="Times New Roman"/>
                <a:cs typeface="Times New Roman"/>
              </a:rPr>
              <a:t>жүргізу</a:t>
            </a:r>
            <a:r>
              <a:rPr lang="ru-RU" sz="1600" dirty="0">
                <a:latin typeface="Times New Roman"/>
                <a:cs typeface="Times New Roman"/>
              </a:rPr>
              <a:t>.</a:t>
            </a:r>
          </a:p>
        </p:txBody>
      </p:sp>
      <p:sp>
        <p:nvSpPr>
          <p:cNvPr id="36947" name="Прямоугольник 10">
            <a:extLst>
              <a:ext uri="{FF2B5EF4-FFF2-40B4-BE49-F238E27FC236}">
                <a16:creationId xmlns:a16="http://schemas.microsoft.com/office/drawing/2014/main" id="{82CBDA37-563D-F20A-C4B6-BA83F802E5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188" y="4006850"/>
            <a:ext cx="47307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 </a:t>
            </a:r>
            <a:r>
              <a:rPr lang="en-US" altLang="en-US" sz="1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жылы</a:t>
            </a:r>
            <a:r>
              <a:rPr lang="en-US" altLang="en-US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туберкулезден</a:t>
            </a:r>
            <a:r>
              <a:rPr lang="en-US" altLang="en-US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өлім</a:t>
            </a:r>
            <a:r>
              <a:rPr lang="en-US" altLang="en-US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болған</a:t>
            </a:r>
            <a:r>
              <a:rPr lang="en-US" altLang="en-US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жоқ</a:t>
            </a:r>
            <a:r>
              <a:rPr lang="en-US" altLang="en-US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en-US" sz="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1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948" name="Rectangle 4">
            <a:extLst>
              <a:ext uri="{FF2B5EF4-FFF2-40B4-BE49-F238E27FC236}">
                <a16:creationId xmlns:a16="http://schemas.microsoft.com/office/drawing/2014/main" id="{4C98D9A1-5901-55BB-E148-BF75E964B6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3188"/>
            <a:ext cx="0" cy="250825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-12696" rIns="0" bIns="-12696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36949" name="Rectangle 5">
            <a:extLst>
              <a:ext uri="{FF2B5EF4-FFF2-40B4-BE49-F238E27FC236}">
                <a16:creationId xmlns:a16="http://schemas.microsoft.com/office/drawing/2014/main" id="{3C1FA0BF-1E7C-4D41-9F24-04B5958478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3188"/>
            <a:ext cx="0" cy="250825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-12696" rIns="0" bIns="-12696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36950" name="Rectangle 7">
            <a:extLst>
              <a:ext uri="{FF2B5EF4-FFF2-40B4-BE49-F238E27FC236}">
                <a16:creationId xmlns:a16="http://schemas.microsoft.com/office/drawing/2014/main" id="{81952C76-4512-F2B9-5410-2A91C666C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3188"/>
            <a:ext cx="0" cy="250825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-12696" rIns="0" bIns="-12696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graphicFrame>
        <p:nvGraphicFramePr>
          <p:cNvPr id="11" name="Диаграмма 10">
            <a:extLst>
              <a:ext uri="{FF2B5EF4-FFF2-40B4-BE49-F238E27FC236}">
                <a16:creationId xmlns:a16="http://schemas.microsoft.com/office/drawing/2014/main" id="{6B13679C-44BC-4450-95BE-09FCB0D9CF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26468280"/>
              </p:ext>
            </p:extLst>
          </p:nvPr>
        </p:nvGraphicFramePr>
        <p:xfrm>
          <a:off x="1152197" y="1283336"/>
          <a:ext cx="4707313" cy="2694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Содержимое 3">
            <a:extLst>
              <a:ext uri="{FF2B5EF4-FFF2-40B4-BE49-F238E27FC236}">
                <a16:creationId xmlns:a16="http://schemas.microsoft.com/office/drawing/2014/main" id="{F1F368B6-E6A2-91BA-6D3D-64C6F0C8A018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 flipH="1">
            <a:off x="0" y="5807075"/>
            <a:ext cx="44450" cy="604838"/>
          </a:xfrm>
        </p:spPr>
        <p:txBody>
          <a:bodyPr/>
          <a:lstStyle/>
          <a:p>
            <a:pPr marL="3175" indent="-3175" algn="ctr" eaLnBrk="1" hangingPunct="1">
              <a:lnSpc>
                <a:spcPct val="107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ru-RU" altLang="en-US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3175" indent="-3175" algn="ctr" eaLnBrk="1" hangingPunct="1">
              <a:lnSpc>
                <a:spcPct val="107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ru-RU" altLang="en-US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37891" name="Google Shape;397;p49">
            <a:extLst>
              <a:ext uri="{FF2B5EF4-FFF2-40B4-BE49-F238E27FC236}">
                <a16:creationId xmlns:a16="http://schemas.microsoft.com/office/drawing/2014/main" id="{ED868D82-1330-5847-63CC-4F65D393F46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2205" y="230749"/>
            <a:ext cx="4871945" cy="742389"/>
          </a:xfrm>
        </p:spPr>
        <p:txBody>
          <a:bodyPr lIns="91425" tIns="45700" rIns="91425" bIns="45700" anchor="b"/>
          <a:lstStyle/>
          <a:p>
            <a:pPr algn="ctr" eaLnBrk="1" hangingPunct="1">
              <a:buClr>
                <a:srgbClr val="07674D"/>
              </a:buClr>
              <a:buSzPts val="2400"/>
            </a:pPr>
            <a:r>
              <a:rPr lang="ru-RU" altLang="en-US" sz="2400" b="1" err="1">
                <a:solidFill>
                  <a:srgbClr val="00225E"/>
                </a:solidFill>
                <a:latin typeface="Times New Roman"/>
                <a:cs typeface="Times New Roman"/>
              </a:rPr>
              <a:t>Мүгедектікке</a:t>
            </a:r>
            <a:r>
              <a:rPr lang="ru-RU" altLang="en-US" sz="2400" b="1" dirty="0">
                <a:solidFill>
                  <a:srgbClr val="00225E"/>
                </a:solidFill>
                <a:latin typeface="Times New Roman"/>
                <a:cs typeface="Times New Roman"/>
              </a:rPr>
              <a:t> </a:t>
            </a:r>
            <a:r>
              <a:rPr lang="ru-RU" altLang="en-US" sz="2400" b="1" err="1">
                <a:solidFill>
                  <a:srgbClr val="00225E"/>
                </a:solidFill>
                <a:latin typeface="Times New Roman"/>
                <a:cs typeface="Times New Roman"/>
              </a:rPr>
              <a:t>алғашқы</a:t>
            </a:r>
            <a:r>
              <a:rPr lang="ru-RU" altLang="en-US" sz="2400" b="1" dirty="0">
                <a:solidFill>
                  <a:srgbClr val="00225E"/>
                </a:solidFill>
                <a:latin typeface="Times New Roman"/>
                <a:cs typeface="Times New Roman"/>
              </a:rPr>
              <a:t> </a:t>
            </a:r>
            <a:r>
              <a:rPr lang="ru-RU" altLang="en-US" sz="2400" b="1" err="1">
                <a:solidFill>
                  <a:srgbClr val="00225E"/>
                </a:solidFill>
                <a:latin typeface="Times New Roman"/>
                <a:cs typeface="Times New Roman"/>
              </a:rPr>
              <a:t>шығу</a:t>
            </a:r>
            <a:r>
              <a:rPr lang="ru-RU" altLang="en-US" sz="2400" b="1" dirty="0">
                <a:solidFill>
                  <a:srgbClr val="00225E"/>
                </a:solidFill>
                <a:latin typeface="Times New Roman"/>
                <a:cs typeface="Times New Roman"/>
              </a:rPr>
              <a:t> (</a:t>
            </a:r>
            <a:r>
              <a:rPr lang="ru-RU" altLang="en-US" sz="2400" b="1" err="1">
                <a:solidFill>
                  <a:srgbClr val="00225E"/>
                </a:solidFill>
                <a:latin typeface="Times New Roman"/>
                <a:cs typeface="Times New Roman"/>
              </a:rPr>
              <a:t>еңбекке</a:t>
            </a:r>
            <a:r>
              <a:rPr lang="ru-RU" altLang="en-US" sz="2400" b="1" dirty="0">
                <a:solidFill>
                  <a:srgbClr val="00225E"/>
                </a:solidFill>
                <a:latin typeface="Times New Roman"/>
                <a:cs typeface="Times New Roman"/>
              </a:rPr>
              <a:t> </a:t>
            </a:r>
            <a:r>
              <a:rPr lang="ru-RU" altLang="en-US" sz="2400" b="1" err="1">
                <a:solidFill>
                  <a:srgbClr val="00225E"/>
                </a:solidFill>
                <a:latin typeface="Times New Roman"/>
                <a:cs typeface="Times New Roman"/>
              </a:rPr>
              <a:t>жарамды</a:t>
            </a:r>
            <a:r>
              <a:rPr lang="ru-RU" altLang="en-US" sz="2400" b="1" dirty="0">
                <a:solidFill>
                  <a:srgbClr val="00225E"/>
                </a:solidFill>
                <a:latin typeface="Times New Roman"/>
                <a:cs typeface="Times New Roman"/>
              </a:rPr>
              <a:t> </a:t>
            </a:r>
            <a:r>
              <a:rPr lang="ru-RU" altLang="en-US" sz="2400" b="1" err="1">
                <a:solidFill>
                  <a:srgbClr val="00225E"/>
                </a:solidFill>
                <a:latin typeface="Times New Roman"/>
                <a:cs typeface="Times New Roman"/>
              </a:rPr>
              <a:t>жас</a:t>
            </a:r>
            <a:r>
              <a:rPr lang="ru-RU" altLang="en-US" sz="2400" b="1" dirty="0">
                <a:solidFill>
                  <a:srgbClr val="00225E"/>
                </a:solidFill>
                <a:latin typeface="Times New Roman"/>
                <a:cs typeface="Times New Roman"/>
              </a:rPr>
              <a:t>)</a:t>
            </a:r>
            <a:endParaRPr lang="en-US" altLang="en-US" sz="2400">
              <a:solidFill>
                <a:srgbClr val="00225E"/>
              </a:solidFill>
              <a:latin typeface="Times New Roman"/>
              <a:cs typeface="Times New Roman"/>
            </a:endParaRPr>
          </a:p>
        </p:txBody>
      </p:sp>
      <p:graphicFrame>
        <p:nvGraphicFramePr>
          <p:cNvPr id="8" name="Содержимое 3">
            <a:extLst>
              <a:ext uri="{FF2B5EF4-FFF2-40B4-BE49-F238E27FC236}">
                <a16:creationId xmlns:a16="http://schemas.microsoft.com/office/drawing/2014/main" id="{6980A5F3-0BB2-419E-AFD4-F1A6CB6397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1942016"/>
              </p:ext>
            </p:extLst>
          </p:nvPr>
        </p:nvGraphicFramePr>
        <p:xfrm>
          <a:off x="392113" y="1143000"/>
          <a:ext cx="5543550" cy="3673473"/>
        </p:xfrm>
        <a:graphic>
          <a:graphicData uri="http://schemas.openxmlformats.org/drawingml/2006/table">
            <a:tbl>
              <a:tblPr/>
              <a:tblGrid>
                <a:gridCol w="1703387">
                  <a:extLst>
                    <a:ext uri="{9D8B030D-6E8A-4147-A177-3AD203B41FA5}">
                      <a16:colId xmlns:a16="http://schemas.microsoft.com/office/drawing/2014/main" val="995945482"/>
                    </a:ext>
                  </a:extLst>
                </a:gridCol>
                <a:gridCol w="1106488">
                  <a:extLst>
                    <a:ext uri="{9D8B030D-6E8A-4147-A177-3AD203B41FA5}">
                      <a16:colId xmlns:a16="http://schemas.microsoft.com/office/drawing/2014/main" val="3407847414"/>
                    </a:ext>
                  </a:extLst>
                </a:gridCol>
                <a:gridCol w="608012">
                  <a:extLst>
                    <a:ext uri="{9D8B030D-6E8A-4147-A177-3AD203B41FA5}">
                      <a16:colId xmlns:a16="http://schemas.microsoft.com/office/drawing/2014/main" val="1685193438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3730602602"/>
                    </a:ext>
                  </a:extLst>
                </a:gridCol>
                <a:gridCol w="733425">
                  <a:extLst>
                    <a:ext uri="{9D8B030D-6E8A-4147-A177-3AD203B41FA5}">
                      <a16:colId xmlns:a16="http://schemas.microsoft.com/office/drawing/2014/main" val="3086573246"/>
                    </a:ext>
                  </a:extLst>
                </a:gridCol>
              </a:tblGrid>
              <a:tr h="460343">
                <a:tc>
                  <a:txBody>
                    <a:bodyPr/>
                    <a:lstStyle>
                      <a:lvl1pPr marL="6350" indent="-635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6350" marR="0" lvl="0" indent="-6350" algn="ctr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68575" marR="32375" marT="3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>
                      <a:lvl1pPr marL="6350" indent="-635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6350" marR="0" lvl="0" indent="-6350" algn="ctr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/>
                          <a:cs typeface="Times New Roman"/>
                        </a:rPr>
                        <a:t>2024 </a:t>
                      </a:r>
                      <a:r>
                        <a:rPr kumimoji="0" lang="ru-RU" alt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/>
                          <a:cs typeface="Times New Roman"/>
                        </a:rPr>
                        <a:t>жыл</a:t>
                      </a:r>
                      <a:r>
                        <a:rPr kumimoji="0" lang="ru-RU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/>
                          <a:cs typeface="Times New Roman"/>
                        </a:rPr>
                        <a:t> 3 ай </a:t>
                      </a:r>
                      <a:r>
                        <a:rPr kumimoji="0" lang="ru-RU" alt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/>
                          <a:cs typeface="Times New Roman"/>
                        </a:rPr>
                        <a:t>бойынша</a:t>
                      </a:r>
                      <a:endParaRPr kumimoji="0" lang="en-US" altLang="en-US" sz="14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  <a:sym typeface="Times New Roman" panose="02020603050405020304" pitchFamily="18" charset="0"/>
                      </a:endParaRPr>
                    </a:p>
                  </a:txBody>
                  <a:tcPr marL="68575" marR="32375" marT="3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>
                      <a:lvl1pPr marL="6350" indent="-635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6350" marR="0" lvl="0" indent="-6350" algn="ctr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68575" marR="32375" marT="3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/>
                          <a:cs typeface="Times New Roman"/>
                        </a:rPr>
                        <a:t>2025 </a:t>
                      </a:r>
                      <a:r>
                        <a:rPr kumimoji="0" lang="ru-RU" alt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/>
                          <a:cs typeface="Times New Roman"/>
                        </a:rPr>
                        <a:t>жыл</a:t>
                      </a:r>
                      <a:r>
                        <a:rPr kumimoji="0" lang="ru-RU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/>
                          <a:cs typeface="Times New Roman"/>
                        </a:rPr>
                        <a:t> 12 ай </a:t>
                      </a:r>
                      <a:r>
                        <a:rPr kumimoji="0" lang="ru-RU" alt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/>
                          <a:cs typeface="Times New Roman"/>
                        </a:rPr>
                        <a:t>бойынша</a:t>
                      </a:r>
                      <a:endParaRPr kumimoji="0" lang="en-US" altLang="en-US" sz="14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  <a:sym typeface="Times New Roman" panose="02020603050405020304" pitchFamily="18" charset="0"/>
                      </a:endParaRPr>
                    </a:p>
                  </a:txBody>
                  <a:tcPr marL="68575" marR="32375" marT="3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>
                      <a:lvl1pPr marL="6350" indent="-635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6350" marR="0" lvl="0" indent="-6350" algn="ctr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68575" marR="32375" marT="3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6742909"/>
                  </a:ext>
                </a:extLst>
              </a:tr>
              <a:tr h="232072">
                <a:tc>
                  <a:txBody>
                    <a:bodyPr/>
                    <a:lstStyle>
                      <a:lvl1pPr marL="6350" indent="-635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6350" marR="0" lvl="0" indent="-635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68575" marR="32375" marT="3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>
                      <a:lvl1pPr marL="6350" indent="-635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6350" marR="0" lvl="0" indent="-6350" algn="ctr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барлығы</a:t>
                      </a:r>
                      <a:r>
                        <a:rPr kumimoji="0" lang="ru-RU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endParaRPr kumimoji="0" lang="en-US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  <a:sym typeface="Times New Roman" panose="02020603050405020304" pitchFamily="18" charset="0"/>
                      </a:endParaRPr>
                    </a:p>
                  </a:txBody>
                  <a:tcPr marL="68575" marR="32375" marT="3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>
                      <a:lvl1pPr marL="6350" indent="-635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6350" marR="0" lvl="0" indent="-6350" algn="ctr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е/ж</a:t>
                      </a:r>
                      <a:endParaRPr kumimoji="0" lang="en-US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  <a:sym typeface="Times New Roman" panose="02020603050405020304" pitchFamily="18" charset="0"/>
                      </a:endParaRPr>
                    </a:p>
                  </a:txBody>
                  <a:tcPr marL="68575" marR="32375" marT="3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  <a:sym typeface="Times New Roman" panose="02020603050405020304" pitchFamily="18" charset="0"/>
                        </a:rPr>
                        <a:t>барлығы</a:t>
                      </a:r>
                      <a:endParaRPr kumimoji="0" lang="en-US" altLang="en-US" sz="14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  <a:sym typeface="Times New Roman" panose="02020603050405020304" pitchFamily="18" charset="0"/>
                      </a:endParaRPr>
                    </a:p>
                  </a:txBody>
                  <a:tcPr marL="68575" marR="32375" marT="3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>
                      <a:lvl1pPr marL="6350" indent="-635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6350" marR="0" lvl="0" indent="-6350" algn="ctr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е/ж</a:t>
                      </a:r>
                      <a:endParaRPr kumimoji="0" lang="en-US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  <a:sym typeface="Times New Roman" panose="02020603050405020304" pitchFamily="18" charset="0"/>
                      </a:endParaRPr>
                    </a:p>
                  </a:txBody>
                  <a:tcPr marL="68575" marR="32375" marT="3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6446550"/>
                  </a:ext>
                </a:extLst>
              </a:tr>
              <a:tr h="786591">
                <a:tc>
                  <a:txBody>
                    <a:bodyPr/>
                    <a:lstStyle>
                      <a:lvl1pPr marL="6350" indent="-635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6350" marR="0" lvl="0" indent="-635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  <a:sym typeface="Times New Roman" panose="02020603050405020304" pitchFamily="18" charset="0"/>
                        </a:rPr>
                        <a:t>Барлық</a:t>
                      </a:r>
                      <a:r>
                        <a:rPr kumimoji="0" lang="ru-RU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  <a:sym typeface="Times New Roman" panose="02020603050405020304" pitchFamily="18" charset="0"/>
                        </a:rPr>
                        <a:t> </a:t>
                      </a:r>
                      <a:r>
                        <a:rPr kumimoji="0" lang="ru-RU" alt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  <a:sym typeface="Times New Roman" panose="02020603050405020304" pitchFamily="18" charset="0"/>
                        </a:rPr>
                        <a:t>мүгедектер</a:t>
                      </a:r>
                      <a:r>
                        <a:rPr kumimoji="0" lang="ru-RU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  <a:sym typeface="Times New Roman" panose="02020603050405020304" pitchFamily="18" charset="0"/>
                        </a:rPr>
                        <a:t>, </a:t>
                      </a:r>
                      <a:r>
                        <a:rPr kumimoji="0" lang="ru-RU" alt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  <a:sym typeface="Times New Roman" panose="02020603050405020304" pitchFamily="18" charset="0"/>
                        </a:rPr>
                        <a:t>оның</a:t>
                      </a:r>
                      <a:r>
                        <a:rPr kumimoji="0" lang="ru-RU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  <a:sym typeface="Times New Roman" panose="02020603050405020304" pitchFamily="18" charset="0"/>
                        </a:rPr>
                        <a:t> </a:t>
                      </a:r>
                      <a:r>
                        <a:rPr kumimoji="0" lang="ru-RU" alt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  <a:sym typeface="Times New Roman" panose="02020603050405020304" pitchFamily="18" charset="0"/>
                        </a:rPr>
                        <a:t>ішінде</a:t>
                      </a:r>
                      <a:r>
                        <a:rPr kumimoji="0" lang="ru-RU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  <a:sym typeface="Times New Roman" panose="02020603050405020304" pitchFamily="18" charset="0"/>
                        </a:rPr>
                        <a:t> </a:t>
                      </a:r>
                      <a:r>
                        <a:rPr kumimoji="0" lang="ru-RU" alt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  <a:sym typeface="Times New Roman" panose="02020603050405020304" pitchFamily="18" charset="0"/>
                        </a:rPr>
                        <a:t>еңбекке</a:t>
                      </a:r>
                      <a:r>
                        <a:rPr kumimoji="0" lang="ru-RU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  <a:sym typeface="Times New Roman" panose="02020603050405020304" pitchFamily="18" charset="0"/>
                        </a:rPr>
                        <a:t> </a:t>
                      </a:r>
                      <a:r>
                        <a:rPr kumimoji="0" lang="ru-RU" alt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  <a:sym typeface="Times New Roman" panose="02020603050405020304" pitchFamily="18" charset="0"/>
                        </a:rPr>
                        <a:t>қабілетті</a:t>
                      </a:r>
                      <a:r>
                        <a:rPr kumimoji="0" lang="ru-RU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  <a:sym typeface="Times New Roman" panose="02020603050405020304" pitchFamily="18" charset="0"/>
                        </a:rPr>
                        <a:t> </a:t>
                      </a:r>
                      <a:r>
                        <a:rPr kumimoji="0" lang="ru-RU" alt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  <a:sym typeface="Times New Roman" panose="02020603050405020304" pitchFamily="18" charset="0"/>
                        </a:rPr>
                        <a:t>жастағы</a:t>
                      </a:r>
                      <a:r>
                        <a:rPr kumimoji="0" lang="ru-RU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  <a:sym typeface="Times New Roman" panose="02020603050405020304" pitchFamily="18" charset="0"/>
                        </a:rPr>
                        <a:t> м</a:t>
                      </a:r>
                      <a:r>
                        <a:rPr kumimoji="0" lang="kk-KZ" alt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  <a:sym typeface="Times New Roman" panose="02020603050405020304" pitchFamily="18" charset="0"/>
                        </a:rPr>
                        <a:t>үгедектерр</a:t>
                      </a:r>
                      <a:endParaRPr kumimoji="0" lang="en-US" altLang="en-US" sz="12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  <a:sym typeface="Times New Roman" panose="02020603050405020304" pitchFamily="18" charset="0"/>
                      </a:endParaRPr>
                    </a:p>
                  </a:txBody>
                  <a:tcPr marL="68575" marR="32375" marT="3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297</a:t>
                      </a:r>
                    </a:p>
                  </a:txBody>
                  <a:tcPr marL="68575" marR="32375" marT="3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138</a:t>
                      </a:r>
                    </a:p>
                  </a:txBody>
                  <a:tcPr marL="68575" marR="32375" marT="3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298</a:t>
                      </a:r>
                    </a:p>
                  </a:txBody>
                  <a:tcPr marL="68575" marR="32375" marT="3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138</a:t>
                      </a:r>
                    </a:p>
                  </a:txBody>
                  <a:tcPr marL="68575" marR="32375" marT="3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5371124"/>
                  </a:ext>
                </a:extLst>
              </a:tr>
              <a:tr h="199497">
                <a:tc>
                  <a:txBody>
                    <a:bodyPr/>
                    <a:lstStyle>
                      <a:lvl1pPr marL="6350" indent="-635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6350" marR="0" lvl="0" indent="-635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kumimoji="0" lang="ru-RU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 топ </a:t>
                      </a:r>
                      <a:endParaRPr kumimoji="0" lang="en-US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  <a:sym typeface="Times New Roman" panose="02020603050405020304" pitchFamily="18" charset="0"/>
                      </a:endParaRPr>
                    </a:p>
                  </a:txBody>
                  <a:tcPr marL="68575" marR="32375" marT="3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9</a:t>
                      </a:r>
                    </a:p>
                  </a:txBody>
                  <a:tcPr marL="68575" marR="32375" marT="3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4</a:t>
                      </a:r>
                    </a:p>
                  </a:txBody>
                  <a:tcPr marL="68575" marR="32375" marT="3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68575" marR="32375" marT="3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4</a:t>
                      </a:r>
                    </a:p>
                  </a:txBody>
                  <a:tcPr marL="68575" marR="32375" marT="3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692694"/>
                  </a:ext>
                </a:extLst>
              </a:tr>
              <a:tr h="199497">
                <a:tc>
                  <a:txBody>
                    <a:bodyPr/>
                    <a:lstStyle>
                      <a:lvl1pPr marL="6350" indent="-635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6350" marR="0" lvl="0" indent="-635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II</a:t>
                      </a:r>
                      <a:r>
                        <a:rPr kumimoji="0" lang="ru-RU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 топ</a:t>
                      </a:r>
                      <a:endParaRPr kumimoji="0" lang="en-US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  <a:sym typeface="Times New Roman" panose="02020603050405020304" pitchFamily="18" charset="0"/>
                      </a:endParaRPr>
                    </a:p>
                  </a:txBody>
                  <a:tcPr marL="68575" marR="32375" marT="3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193</a:t>
                      </a:r>
                    </a:p>
                  </a:txBody>
                  <a:tcPr marL="68575" marR="32375" marT="3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96</a:t>
                      </a:r>
                    </a:p>
                  </a:txBody>
                  <a:tcPr marL="68575" marR="32375" marT="3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193</a:t>
                      </a:r>
                    </a:p>
                  </a:txBody>
                  <a:tcPr marL="68575" marR="32375" marT="3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98</a:t>
                      </a:r>
                    </a:p>
                  </a:txBody>
                  <a:tcPr marL="68575" marR="32375" marT="3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7969702"/>
                  </a:ext>
                </a:extLst>
              </a:tr>
              <a:tr h="199497">
                <a:tc>
                  <a:txBody>
                    <a:bodyPr/>
                    <a:lstStyle>
                      <a:lvl1pPr marL="6350" indent="-635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6350" marR="0" lvl="0" indent="-635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III</a:t>
                      </a:r>
                      <a:r>
                        <a:rPr kumimoji="0" lang="ru-RU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 топ </a:t>
                      </a:r>
                      <a:endParaRPr kumimoji="0" lang="en-US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  <a:sym typeface="Times New Roman" panose="02020603050405020304" pitchFamily="18" charset="0"/>
                      </a:endParaRPr>
                    </a:p>
                  </a:txBody>
                  <a:tcPr marL="68575" marR="32375" marT="3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95</a:t>
                      </a:r>
                    </a:p>
                  </a:txBody>
                  <a:tcPr marL="68575" marR="32375" marT="3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38</a:t>
                      </a:r>
                    </a:p>
                  </a:txBody>
                  <a:tcPr marL="68575" marR="32375" marT="3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95</a:t>
                      </a:r>
                    </a:p>
                  </a:txBody>
                  <a:tcPr marL="68575" marR="32375" marT="3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36</a:t>
                      </a:r>
                    </a:p>
                  </a:txBody>
                  <a:tcPr marL="68575" marR="32375" marT="3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715112"/>
                  </a:ext>
                </a:extLst>
              </a:tr>
              <a:tr h="199497">
                <a:tc>
                  <a:txBody>
                    <a:bodyPr/>
                    <a:lstStyle>
                      <a:lvl1pPr marL="6350" indent="-635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6350" marR="0" lvl="0" indent="-635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БСК </a:t>
                      </a:r>
                      <a:endParaRPr kumimoji="0" lang="en-US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  <a:sym typeface="Times New Roman" panose="02020603050405020304" pitchFamily="18" charset="0"/>
                      </a:endParaRPr>
                    </a:p>
                  </a:txBody>
                  <a:tcPr marL="68575" marR="32375" marT="3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68</a:t>
                      </a:r>
                    </a:p>
                  </a:txBody>
                  <a:tcPr marL="68575" marR="32375" marT="3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45</a:t>
                      </a:r>
                    </a:p>
                  </a:txBody>
                  <a:tcPr marL="68575" marR="32375" marT="3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68</a:t>
                      </a:r>
                    </a:p>
                  </a:txBody>
                  <a:tcPr marL="68575" marR="32375" marT="3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45</a:t>
                      </a:r>
                    </a:p>
                  </a:txBody>
                  <a:tcPr marL="68575" marR="32375" marT="3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065993"/>
                  </a:ext>
                </a:extLst>
              </a:tr>
              <a:tr h="199497">
                <a:tc>
                  <a:txBody>
                    <a:bodyPr/>
                    <a:lstStyle>
                      <a:lvl1pPr marL="6350" indent="-635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6350" marR="0" lvl="0" indent="-635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терапия</a:t>
                      </a:r>
                      <a:endParaRPr kumimoji="0" lang="en-US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  <a:sym typeface="Times New Roman" panose="02020603050405020304" pitchFamily="18" charset="0"/>
                      </a:endParaRPr>
                    </a:p>
                  </a:txBody>
                  <a:tcPr marL="68575" marR="32375" marT="3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130</a:t>
                      </a:r>
                    </a:p>
                  </a:txBody>
                  <a:tcPr marL="68575" marR="32375" marT="3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44</a:t>
                      </a:r>
                    </a:p>
                  </a:txBody>
                  <a:tcPr marL="68575" marR="32375" marT="3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130</a:t>
                      </a:r>
                    </a:p>
                  </a:txBody>
                  <a:tcPr marL="68575" marR="32375" marT="3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44</a:t>
                      </a:r>
                    </a:p>
                  </a:txBody>
                  <a:tcPr marL="68575" marR="32375" marT="3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8103056"/>
                  </a:ext>
                </a:extLst>
              </a:tr>
              <a:tr h="199497">
                <a:tc>
                  <a:txBody>
                    <a:bodyPr/>
                    <a:lstStyle>
                      <a:lvl1pPr marL="6350" indent="-635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6350" marR="0" lvl="0" indent="-635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онкология </a:t>
                      </a:r>
                      <a:endParaRPr kumimoji="0" lang="en-US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  <a:sym typeface="Times New Roman" panose="02020603050405020304" pitchFamily="18" charset="0"/>
                      </a:endParaRPr>
                    </a:p>
                  </a:txBody>
                  <a:tcPr marL="68575" marR="32375" marT="3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15</a:t>
                      </a:r>
                    </a:p>
                  </a:txBody>
                  <a:tcPr marL="68575" marR="32375" marT="3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5</a:t>
                      </a:r>
                    </a:p>
                  </a:txBody>
                  <a:tcPr marL="68575" marR="32375" marT="3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16</a:t>
                      </a:r>
                    </a:p>
                  </a:txBody>
                  <a:tcPr marL="68575" marR="32375" marT="3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5</a:t>
                      </a:r>
                    </a:p>
                  </a:txBody>
                  <a:tcPr marL="68575" marR="32375" marT="3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5970258"/>
                  </a:ext>
                </a:extLst>
              </a:tr>
              <a:tr h="199497">
                <a:tc>
                  <a:txBody>
                    <a:bodyPr/>
                    <a:lstStyle>
                      <a:lvl1pPr marL="6350" indent="-635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6350" marR="0" lvl="0" indent="-635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офтальмология </a:t>
                      </a:r>
                      <a:endParaRPr kumimoji="0" lang="en-US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  <a:sym typeface="Times New Roman" panose="02020603050405020304" pitchFamily="18" charset="0"/>
                      </a:endParaRPr>
                    </a:p>
                  </a:txBody>
                  <a:tcPr marL="68575" marR="32375" marT="3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15</a:t>
                      </a:r>
                    </a:p>
                  </a:txBody>
                  <a:tcPr marL="68575" marR="32375" marT="3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4</a:t>
                      </a:r>
                    </a:p>
                  </a:txBody>
                  <a:tcPr marL="68575" marR="32375" marT="3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15</a:t>
                      </a:r>
                    </a:p>
                  </a:txBody>
                  <a:tcPr marL="68575" marR="32375" marT="3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4</a:t>
                      </a:r>
                    </a:p>
                  </a:txBody>
                  <a:tcPr marL="68575" marR="32375" marT="3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9244276"/>
                  </a:ext>
                </a:extLst>
              </a:tr>
              <a:tr h="199497">
                <a:tc>
                  <a:txBody>
                    <a:bodyPr/>
                    <a:lstStyle>
                      <a:lvl1pPr marL="6350" indent="-635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6350" marR="0" lvl="0" indent="-635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отоларингология</a:t>
                      </a:r>
                      <a:endParaRPr kumimoji="0" lang="en-US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  <a:sym typeface="Times New Roman" panose="02020603050405020304" pitchFamily="18" charset="0"/>
                      </a:endParaRPr>
                    </a:p>
                  </a:txBody>
                  <a:tcPr marL="68575" marR="32375" marT="3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13</a:t>
                      </a:r>
                    </a:p>
                  </a:txBody>
                  <a:tcPr marL="68575" marR="32375" marT="3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6</a:t>
                      </a:r>
                    </a:p>
                  </a:txBody>
                  <a:tcPr marL="68575" marR="32375" marT="3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13</a:t>
                      </a:r>
                    </a:p>
                  </a:txBody>
                  <a:tcPr marL="68575" marR="32375" marT="3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6</a:t>
                      </a:r>
                    </a:p>
                  </a:txBody>
                  <a:tcPr marL="68575" marR="32375" marT="3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4712621"/>
                  </a:ext>
                </a:extLst>
              </a:tr>
              <a:tr h="199497">
                <a:tc>
                  <a:txBody>
                    <a:bodyPr/>
                    <a:lstStyle>
                      <a:lvl1pPr marL="6350" indent="-635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6350" marR="0" lvl="0" indent="-635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невропатология</a:t>
                      </a:r>
                      <a:endParaRPr kumimoji="0" lang="en-US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  <a:sym typeface="Times New Roman" panose="02020603050405020304" pitchFamily="18" charset="0"/>
                      </a:endParaRPr>
                    </a:p>
                  </a:txBody>
                  <a:tcPr marL="68575" marR="32375" marT="3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52</a:t>
                      </a:r>
                    </a:p>
                  </a:txBody>
                  <a:tcPr marL="68575" marR="32375" marT="3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32</a:t>
                      </a:r>
                    </a:p>
                  </a:txBody>
                  <a:tcPr marL="68575" marR="32375" marT="3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52</a:t>
                      </a:r>
                    </a:p>
                  </a:txBody>
                  <a:tcPr marL="68575" marR="32375" marT="3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32</a:t>
                      </a:r>
                    </a:p>
                  </a:txBody>
                  <a:tcPr marL="68575" marR="32375" marT="3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9159689"/>
                  </a:ext>
                </a:extLst>
              </a:tr>
              <a:tr h="199497">
                <a:tc>
                  <a:txBody>
                    <a:bodyPr/>
                    <a:lstStyle>
                      <a:lvl1pPr marL="6350" indent="-635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6350" marR="0" lvl="0" indent="-635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хирургия </a:t>
                      </a:r>
                      <a:endParaRPr kumimoji="0" lang="en-US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  <a:sym typeface="Times New Roman" panose="02020603050405020304" pitchFamily="18" charset="0"/>
                      </a:endParaRPr>
                    </a:p>
                  </a:txBody>
                  <a:tcPr marL="68575" marR="32375" marT="3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2</a:t>
                      </a:r>
                    </a:p>
                  </a:txBody>
                  <a:tcPr marL="68575" marR="32375" marT="3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 marL="68575" marR="32375" marT="3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2</a:t>
                      </a:r>
                    </a:p>
                  </a:txBody>
                  <a:tcPr marL="68575" marR="32375" marT="3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 marL="68575" marR="32375" marT="3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647605"/>
                  </a:ext>
                </a:extLst>
              </a:tr>
              <a:tr h="199497">
                <a:tc>
                  <a:txBody>
                    <a:bodyPr/>
                    <a:lstStyle>
                      <a:lvl1pPr marL="6350" indent="-635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6350" marR="0" lvl="0" indent="-635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туберкулез</a:t>
                      </a:r>
                      <a:endParaRPr kumimoji="0" lang="en-US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  <a:sym typeface="Times New Roman" panose="02020603050405020304" pitchFamily="18" charset="0"/>
                      </a:endParaRPr>
                    </a:p>
                  </a:txBody>
                  <a:tcPr marL="68575" marR="32375" marT="3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2</a:t>
                      </a:r>
                    </a:p>
                  </a:txBody>
                  <a:tcPr marL="68575" marR="32375" marT="3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 marL="68575" marR="32375" marT="3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2</a:t>
                      </a:r>
                    </a:p>
                  </a:txBody>
                  <a:tcPr marL="68575" marR="32375" marT="3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 marL="68575" marR="32375" marT="3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1765315"/>
                  </a:ext>
                </a:extLst>
              </a:tr>
            </a:tbl>
          </a:graphicData>
        </a:graphic>
      </p:graphicFrame>
      <p:sp>
        <p:nvSpPr>
          <p:cNvPr id="37986" name="Rectangle 1">
            <a:extLst>
              <a:ext uri="{FF2B5EF4-FFF2-40B4-BE49-F238E27FC236}">
                <a16:creationId xmlns:a16="http://schemas.microsoft.com/office/drawing/2014/main" id="{C0E14658-B058-465A-C5BA-9D089554BE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3188"/>
            <a:ext cx="0" cy="250825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-12696" rIns="0" bIns="-12696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graphicFrame>
        <p:nvGraphicFramePr>
          <p:cNvPr id="9" name="Содержимое 3">
            <a:extLst>
              <a:ext uri="{FF2B5EF4-FFF2-40B4-BE49-F238E27FC236}">
                <a16:creationId xmlns:a16="http://schemas.microsoft.com/office/drawing/2014/main" id="{02D2BABE-797D-E7CD-7678-F5077B13D5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1392057"/>
              </p:ext>
            </p:extLst>
          </p:nvPr>
        </p:nvGraphicFramePr>
        <p:xfrm>
          <a:off x="6710363" y="1152525"/>
          <a:ext cx="4987925" cy="1958976"/>
        </p:xfrm>
        <a:graphic>
          <a:graphicData uri="http://schemas.openxmlformats.org/drawingml/2006/table">
            <a:tbl>
              <a:tblPr/>
              <a:tblGrid>
                <a:gridCol w="2457450">
                  <a:extLst>
                    <a:ext uri="{9D8B030D-6E8A-4147-A177-3AD203B41FA5}">
                      <a16:colId xmlns:a16="http://schemas.microsoft.com/office/drawing/2014/main" val="67730050"/>
                    </a:ext>
                  </a:extLst>
                </a:gridCol>
                <a:gridCol w="1114425">
                  <a:extLst>
                    <a:ext uri="{9D8B030D-6E8A-4147-A177-3AD203B41FA5}">
                      <a16:colId xmlns:a16="http://schemas.microsoft.com/office/drawing/2014/main" val="92417388"/>
                    </a:ext>
                  </a:extLst>
                </a:gridCol>
                <a:gridCol w="1416050">
                  <a:extLst>
                    <a:ext uri="{9D8B030D-6E8A-4147-A177-3AD203B41FA5}">
                      <a16:colId xmlns:a16="http://schemas.microsoft.com/office/drawing/2014/main" val="2755922276"/>
                    </a:ext>
                  </a:extLst>
                </a:gridCol>
              </a:tblGrid>
              <a:tr h="462915">
                <a:tc>
                  <a:txBody>
                    <a:bodyPr/>
                    <a:lstStyle>
                      <a:lvl1pPr marL="4763" indent="-4763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4763" marR="0" lvl="0" indent="-4763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68575" marR="22225" marT="635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6350" indent="-635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6350" marR="0" lvl="0" indent="-6350" algn="ctr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k-KZ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/>
                          <a:cs typeface="Times New Roman"/>
                          <a:sym typeface="Times New Roman" panose="02020603050405020304" pitchFamily="18" charset="0"/>
                        </a:rPr>
                        <a:t>2024 жыл 3 ай б-ша</a:t>
                      </a:r>
                      <a:endParaRPr kumimoji="0" lang="en-US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/>
                        <a:cs typeface="Times New Roman"/>
                        <a:sym typeface="Times New Roman" panose="02020603050405020304" pitchFamily="18" charset="0"/>
                      </a:endParaRPr>
                    </a:p>
                  </a:txBody>
                  <a:tcPr marL="68575" marR="22225" marT="635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6350" indent="-635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6350" marR="0" lvl="0" indent="-6350" algn="ctr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k-KZ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/>
                          <a:cs typeface="Times New Roman"/>
                          <a:sym typeface="Times New Roman" panose="02020603050405020304" pitchFamily="18" charset="0"/>
                        </a:rPr>
                        <a:t>2025 жыл 12 ай б-ша</a:t>
                      </a:r>
                      <a:endParaRPr kumimoji="0" lang="en-US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/>
                        <a:cs typeface="Times New Roman"/>
                        <a:sym typeface="Times New Roman" panose="02020603050405020304" pitchFamily="18" charset="0"/>
                      </a:endParaRPr>
                    </a:p>
                  </a:txBody>
                  <a:tcPr marL="68575" marR="22225" marT="635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8451650"/>
                  </a:ext>
                </a:extLst>
              </a:tr>
              <a:tr h="300038">
                <a:tc>
                  <a:txBody>
                    <a:bodyPr/>
                    <a:lstStyle>
                      <a:lvl1pPr marL="4763" indent="-4763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4445" marR="0" lvl="0" indent="-4445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Мүгедек</a:t>
                      </a:r>
                      <a:r>
                        <a:rPr kumimoji="0" lang="ru-RU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kumimoji="0" lang="ru-RU" alt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балалардың</a:t>
                      </a:r>
                      <a:r>
                        <a:rPr kumimoji="0" lang="ru-RU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 саны</a:t>
                      </a:r>
                      <a:endParaRPr kumimoji="0" lang="en-US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  <a:sym typeface="Times New Roman" panose="02020603050405020304" pitchFamily="18" charset="0"/>
                      </a:endParaRPr>
                    </a:p>
                  </a:txBody>
                  <a:tcPr marL="68575" marR="22225" marT="635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>
                      <a:lvl1pPr marL="6350" indent="-635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6350" marR="0" lvl="0" indent="-6350" algn="ctr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  <a:sym typeface="Times New Roman" panose="02020603050405020304" pitchFamily="18" charset="0"/>
                        </a:rPr>
                        <a:t>28</a:t>
                      </a:r>
                      <a:endParaRPr kumimoji="0" lang="en-US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/>
                        <a:cs typeface="Times New Roman"/>
                        <a:sym typeface="Times New Roman" panose="02020603050405020304" pitchFamily="18" charset="0"/>
                      </a:endParaRPr>
                    </a:p>
                  </a:txBody>
                  <a:tcPr marL="68575" marR="22225" marT="635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>
                      <a:lvl1pPr marL="6350" indent="-635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6350" marR="0" lvl="0" indent="-6350" algn="ctr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  <a:sym typeface="Times New Roman" panose="02020603050405020304" pitchFamily="18" charset="0"/>
                        </a:rPr>
                        <a:t>36</a:t>
                      </a:r>
                      <a:endParaRPr kumimoji="0" lang="en-US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/>
                        <a:cs typeface="Times New Roman"/>
                        <a:sym typeface="Times New Roman" panose="02020603050405020304" pitchFamily="18" charset="0"/>
                      </a:endParaRPr>
                    </a:p>
                  </a:txBody>
                  <a:tcPr marL="68575" marR="22225" marT="635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722195"/>
                  </a:ext>
                </a:extLst>
              </a:tr>
              <a:tr h="43307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k-KZ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  <a:sym typeface="Times New Roman" panose="02020603050405020304" pitchFamily="18" charset="0"/>
                        </a:rPr>
                        <a:t>Оның ішінде 3-жасқа дейінгілер</a:t>
                      </a:r>
                      <a:endParaRPr kumimoji="0" lang="en-US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  <a:sym typeface="Times New Roman" panose="02020603050405020304" pitchFamily="18" charset="0"/>
                      </a:endParaRPr>
                    </a:p>
                  </a:txBody>
                  <a:tcPr marL="68575" marR="22225" marT="635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>
                      <a:lvl1pPr marL="6350" indent="-635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6350" marR="0" lvl="0" indent="-6350" algn="ctr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  <a:sym typeface="Times New Roman" panose="02020603050405020304" pitchFamily="18" charset="0"/>
                        </a:rPr>
                        <a:t>0</a:t>
                      </a:r>
                      <a:endParaRPr kumimoji="0" lang="en-US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/>
                        <a:cs typeface="Times New Roman"/>
                        <a:sym typeface="Times New Roman" panose="02020603050405020304" pitchFamily="18" charset="0"/>
                      </a:endParaRPr>
                    </a:p>
                  </a:txBody>
                  <a:tcPr marL="68575" marR="22225" marT="635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>
                      <a:lvl1pPr marL="6350" indent="-635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6350" marR="0" lvl="0" indent="-6350" algn="ctr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  <a:sym typeface="Times New Roman" panose="02020603050405020304" pitchFamily="18" charset="0"/>
                        </a:rPr>
                        <a:t>1</a:t>
                      </a:r>
                      <a:endParaRPr kumimoji="0" lang="en-US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/>
                        <a:cs typeface="Times New Roman"/>
                        <a:sym typeface="Times New Roman" panose="02020603050405020304" pitchFamily="18" charset="0"/>
                      </a:endParaRPr>
                    </a:p>
                  </a:txBody>
                  <a:tcPr marL="68575" marR="22225" marT="635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3558136"/>
                  </a:ext>
                </a:extLst>
              </a:tr>
              <a:tr h="300038">
                <a:tc>
                  <a:txBody>
                    <a:bodyPr/>
                    <a:lstStyle>
                      <a:lvl1pPr marL="4763" indent="-4763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4445" marR="0" lvl="0" indent="-4445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МСЭК-</a:t>
                      </a:r>
                      <a:r>
                        <a:rPr kumimoji="0" lang="ru-RU" alt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ке</a:t>
                      </a:r>
                      <a:r>
                        <a:rPr kumimoji="0" lang="ru-RU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kumimoji="0" lang="ru-RU" alt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жолданғандар</a:t>
                      </a:r>
                      <a:endParaRPr kumimoji="0" lang="en-US" altLang="en-US" sz="14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  <a:sym typeface="Times New Roman" panose="02020603050405020304" pitchFamily="18" charset="0"/>
                      </a:endParaRPr>
                    </a:p>
                  </a:txBody>
                  <a:tcPr marL="68575" marR="22225" marT="635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>
                      <a:lvl1pPr marL="6350" indent="-635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6350" marR="0" lvl="0" indent="-6350" algn="ctr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  <a:sym typeface="Times New Roman" panose="02020603050405020304" pitchFamily="18" charset="0"/>
                        </a:rPr>
                        <a:t>28</a:t>
                      </a:r>
                      <a:endParaRPr kumimoji="0" lang="en-US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/>
                        <a:cs typeface="Times New Roman"/>
                        <a:sym typeface="Times New Roman" panose="02020603050405020304" pitchFamily="18" charset="0"/>
                      </a:endParaRPr>
                    </a:p>
                  </a:txBody>
                  <a:tcPr marL="68575" marR="22225" marT="635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>
                      <a:lvl1pPr marL="6350" indent="-635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6350" marR="0" lvl="0" indent="-6350" algn="ctr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  <a:sym typeface="Times New Roman" panose="02020603050405020304" pitchFamily="18" charset="0"/>
                        </a:rPr>
                        <a:t>36</a:t>
                      </a:r>
                      <a:endParaRPr kumimoji="0" lang="en-US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/>
                        <a:cs typeface="Times New Roman"/>
                        <a:sym typeface="Times New Roman" panose="02020603050405020304" pitchFamily="18" charset="0"/>
                      </a:endParaRPr>
                    </a:p>
                  </a:txBody>
                  <a:tcPr marL="68575" marR="22225" marT="635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9101834"/>
                  </a:ext>
                </a:extLst>
              </a:tr>
              <a:tr h="462915">
                <a:tc>
                  <a:txBody>
                    <a:bodyPr/>
                    <a:lstStyle>
                      <a:lvl1pPr marL="4763" indent="-4763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4445" marR="0" lvl="0" indent="-4445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Оның</a:t>
                      </a:r>
                      <a:r>
                        <a:rPr kumimoji="0" lang="ru-RU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kumimoji="0" lang="ru-RU" alt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ішінде</a:t>
                      </a:r>
                      <a:r>
                        <a:rPr kumimoji="0" lang="ru-RU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kumimoji="0" lang="ru-RU" alt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алғаш</a:t>
                      </a:r>
                      <a:r>
                        <a:rPr kumimoji="0" lang="ru-RU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kumimoji="0" lang="ru-RU" alt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алынғандар</a:t>
                      </a:r>
                      <a:endParaRPr kumimoji="0" lang="en-US" altLang="en-US" sz="14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  <a:sym typeface="Times New Roman" panose="02020603050405020304" pitchFamily="18" charset="0"/>
                      </a:endParaRPr>
                    </a:p>
                  </a:txBody>
                  <a:tcPr marL="68575" marR="22225" marT="635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>
                      <a:lvl1pPr marL="6350" indent="-635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6350" marR="0" lvl="0" indent="-6350" algn="ctr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  <a:sym typeface="Times New Roman" panose="02020603050405020304" pitchFamily="18" charset="0"/>
                        </a:rPr>
                        <a:t>1</a:t>
                      </a:r>
                      <a:endParaRPr kumimoji="0" lang="en-US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/>
                        <a:cs typeface="Times New Roman"/>
                        <a:sym typeface="Times New Roman" panose="02020603050405020304" pitchFamily="18" charset="0"/>
                      </a:endParaRPr>
                    </a:p>
                  </a:txBody>
                  <a:tcPr marL="68575" marR="22225" marT="635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>
                      <a:lvl1pPr marL="6350" indent="-635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6350" marR="0" lvl="0" indent="-6350" algn="ctr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600"/>
                        <a:buFont typeface="Times New Roman" panose="02020603050405020304" pitchFamily="18" charset="0"/>
                        <a:buNone/>
                        <a:tabLst/>
                      </a:pPr>
                      <a:r>
                        <a:rPr kumimoji="0" lang="ru-RU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1</a:t>
                      </a:r>
                      <a:endParaRPr kumimoji="0" lang="en-US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8575" marR="22225" marT="635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50218"/>
                  </a:ext>
                </a:extLst>
              </a:tr>
            </a:tbl>
          </a:graphicData>
        </a:graphic>
      </p:graphicFrame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E9D6BCFA-9D37-45C3-AA6E-209DB5695C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7688028"/>
              </p:ext>
            </p:extLst>
          </p:nvPr>
        </p:nvGraphicFramePr>
        <p:xfrm>
          <a:off x="6710256" y="3171119"/>
          <a:ext cx="4988560" cy="149352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914405">
                  <a:extLst>
                    <a:ext uri="{9D8B030D-6E8A-4147-A177-3AD203B41FA5}">
                      <a16:colId xmlns:a16="http://schemas.microsoft.com/office/drawing/2014/main" val="3773749183"/>
                    </a:ext>
                  </a:extLst>
                </a:gridCol>
                <a:gridCol w="4074155">
                  <a:extLst>
                    <a:ext uri="{9D8B030D-6E8A-4147-A177-3AD203B41FA5}">
                      <a16:colId xmlns:a16="http://schemas.microsoft.com/office/drawing/2014/main" val="4087372126"/>
                    </a:ext>
                  </a:extLst>
                </a:gridCol>
              </a:tblGrid>
              <a:tr h="547957">
                <a:tc>
                  <a:txBody>
                    <a:bodyPr/>
                    <a:lstStyle/>
                    <a:p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innerShdw blurRad="50800" dist="25400" dir="13500000">
                              <a:prstClr val="black">
                                <a:alpha val="70000"/>
                              </a:prstClr>
                            </a:innerShdw>
                          </a:effectLst>
                          <a:uLnTx/>
                          <a:uFillTx/>
                          <a:latin typeface="Times New Roman" pitchFamily="18" charset="0"/>
                          <a:ea typeface="Constantia"/>
                          <a:cs typeface="Times New Roman" pitchFamily="18" charset="0"/>
                          <a:sym typeface="Constantia"/>
                        </a:rPr>
                        <a:t>I </a:t>
                      </a:r>
                      <a:r>
                        <a:rPr kumimoji="0" lang="ru-RU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innerShdw blurRad="50800" dist="25400" dir="13500000">
                              <a:prstClr val="black">
                                <a:alpha val="70000"/>
                              </a:prstClr>
                            </a:innerShdw>
                          </a:effectLst>
                          <a:uLnTx/>
                          <a:uFillTx/>
                          <a:latin typeface="Times New Roman" pitchFamily="18" charset="0"/>
                          <a:ea typeface="Constantia"/>
                          <a:cs typeface="Times New Roman" pitchFamily="18" charset="0"/>
                          <a:sym typeface="Constantia"/>
                        </a:rPr>
                        <a:t>орын</a:t>
                      </a:r>
                      <a:endParaRPr lang="ru-RU" sz="16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innerShdw blurRad="50800" dist="25400" dir="13500000">
                              <a:prstClr val="black">
                                <a:alpha val="70000"/>
                              </a:prstClr>
                            </a:innerShdw>
                          </a:effectLst>
                          <a:uLnTx/>
                          <a:uFillTx/>
                          <a:latin typeface="Times New Roman" pitchFamily="18" charset="0"/>
                          <a:ea typeface="Constantia"/>
                          <a:cs typeface="Times New Roman" pitchFamily="18" charset="0"/>
                          <a:sym typeface="Constantia"/>
                        </a:rPr>
                        <a:t>Жүйке</a:t>
                      </a:r>
                      <a:r>
                        <a:rPr kumimoji="0" lang="ru-RU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innerShdw blurRad="50800" dist="25400" dir="13500000">
                              <a:prstClr val="black">
                                <a:alpha val="70000"/>
                              </a:prstClr>
                            </a:innerShdw>
                          </a:effectLst>
                          <a:uLnTx/>
                          <a:uFillTx/>
                          <a:latin typeface="Times New Roman" pitchFamily="18" charset="0"/>
                          <a:ea typeface="Constantia"/>
                          <a:cs typeface="Times New Roman" pitchFamily="18" charset="0"/>
                          <a:sym typeface="Constantia"/>
                        </a:rPr>
                        <a:t> </a:t>
                      </a:r>
                      <a:r>
                        <a:rPr kumimoji="0" lang="ru-RU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innerShdw blurRad="50800" dist="25400" dir="13500000">
                              <a:prstClr val="black">
                                <a:alpha val="70000"/>
                              </a:prstClr>
                            </a:innerShdw>
                          </a:effectLst>
                          <a:uLnTx/>
                          <a:uFillTx/>
                          <a:latin typeface="Times New Roman" pitchFamily="18" charset="0"/>
                          <a:ea typeface="Constantia"/>
                          <a:cs typeface="Times New Roman" pitchFamily="18" charset="0"/>
                          <a:sym typeface="Constantia"/>
                        </a:rPr>
                        <a:t>жүйесінің</a:t>
                      </a:r>
                      <a:r>
                        <a:rPr kumimoji="0" lang="ru-RU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innerShdw blurRad="50800" dist="25400" dir="13500000">
                              <a:prstClr val="black">
                                <a:alpha val="70000"/>
                              </a:prstClr>
                            </a:innerShdw>
                          </a:effectLst>
                          <a:uLnTx/>
                          <a:uFillTx/>
                          <a:latin typeface="Times New Roman" pitchFamily="18" charset="0"/>
                          <a:ea typeface="Constantia"/>
                          <a:cs typeface="Times New Roman" pitchFamily="18" charset="0"/>
                          <a:sym typeface="Constantia"/>
                        </a:rPr>
                        <a:t> </a:t>
                      </a:r>
                      <a:r>
                        <a:rPr kumimoji="0" lang="ru-RU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innerShdw blurRad="50800" dist="25400" dir="13500000">
                              <a:prstClr val="black">
                                <a:alpha val="70000"/>
                              </a:prstClr>
                            </a:innerShdw>
                          </a:effectLst>
                          <a:uLnTx/>
                          <a:uFillTx/>
                          <a:latin typeface="Times New Roman" pitchFamily="18" charset="0"/>
                          <a:ea typeface="Constantia"/>
                          <a:cs typeface="Times New Roman" pitchFamily="18" charset="0"/>
                          <a:sym typeface="Constantia"/>
                        </a:rPr>
                        <a:t>аурулары</a:t>
                      </a:r>
                      <a:r>
                        <a:rPr kumimoji="0" lang="ru-RU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innerShdw blurRad="50800" dist="25400" dir="13500000">
                              <a:prstClr val="black">
                                <a:alpha val="70000"/>
                              </a:prstClr>
                            </a:innerShdw>
                          </a:effectLst>
                          <a:uLnTx/>
                          <a:uFillTx/>
                          <a:latin typeface="Times New Roman" pitchFamily="18" charset="0"/>
                          <a:ea typeface="Constantia"/>
                          <a:cs typeface="Times New Roman" pitchFamily="18" charset="0"/>
                          <a:sym typeface="Constantia"/>
                        </a:rPr>
                        <a:t> (</a:t>
                      </a:r>
                      <a:r>
                        <a:rPr kumimoji="0" lang="ru-RU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innerShdw blurRad="50800" dist="25400" dir="13500000">
                              <a:prstClr val="black">
                                <a:alpha val="70000"/>
                              </a:prstClr>
                            </a:innerShdw>
                          </a:effectLst>
                          <a:uLnTx/>
                          <a:uFillTx/>
                          <a:latin typeface="Times New Roman" pitchFamily="18" charset="0"/>
                          <a:ea typeface="Constantia"/>
                          <a:cs typeface="Times New Roman" pitchFamily="18" charset="0"/>
                          <a:sym typeface="Constantia"/>
                        </a:rPr>
                        <a:t>церебральды</a:t>
                      </a:r>
                      <a:r>
                        <a:rPr kumimoji="0" lang="ru-RU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innerShdw blurRad="50800" dist="25400" dir="13500000">
                              <a:prstClr val="black">
                                <a:alpha val="70000"/>
                              </a:prstClr>
                            </a:innerShdw>
                          </a:effectLst>
                          <a:uLnTx/>
                          <a:uFillTx/>
                          <a:latin typeface="Times New Roman" pitchFamily="18" charset="0"/>
                          <a:ea typeface="Constantia"/>
                          <a:cs typeface="Times New Roman" pitchFamily="18" charset="0"/>
                          <a:sym typeface="Constantia"/>
                        </a:rPr>
                        <a:t> сал </a:t>
                      </a:r>
                      <a:r>
                        <a:rPr kumimoji="0" lang="ru-RU" sz="16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innerShdw blurRad="50800" dist="25400" dir="13500000">
                              <a:prstClr val="black">
                                <a:alpha val="70000"/>
                              </a:prstClr>
                            </a:innerShdw>
                          </a:effectLst>
                          <a:uLnTx/>
                          <a:uFillTx/>
                          <a:latin typeface="Times New Roman" pitchFamily="18" charset="0"/>
                          <a:ea typeface="Constantia"/>
                          <a:cs typeface="Times New Roman" pitchFamily="18" charset="0"/>
                          <a:sym typeface="Constantia"/>
                        </a:rPr>
                        <a:t>ауруы</a:t>
                      </a:r>
                      <a:r>
                        <a:rPr kumimoji="0" lang="ru-RU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innerShdw blurRad="50800" dist="25400" dir="13500000">
                              <a:prstClr val="black">
                                <a:alpha val="70000"/>
                              </a:prstClr>
                            </a:innerShdw>
                          </a:effectLst>
                          <a:uLnTx/>
                          <a:uFillTx/>
                          <a:latin typeface="Times New Roman" pitchFamily="18" charset="0"/>
                          <a:ea typeface="Constantia"/>
                          <a:cs typeface="Times New Roman" pitchFamily="18" charset="0"/>
                          <a:sym typeface="Constantia"/>
                        </a:rPr>
                        <a:t> 50%)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7668674"/>
                  </a:ext>
                </a:extLst>
              </a:tr>
              <a:tr h="332903">
                <a:tc>
                  <a:txBody>
                    <a:bodyPr/>
                    <a:lstStyle/>
                    <a:p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innerShdw blurRad="50800" dist="25400" dir="13500000">
                              <a:prstClr val="black">
                                <a:alpha val="70000"/>
                              </a:prstClr>
                            </a:innerShdw>
                          </a:effectLst>
                          <a:uLnTx/>
                          <a:uFillTx/>
                          <a:latin typeface="Times New Roman" pitchFamily="18" charset="0"/>
                          <a:ea typeface="Constantia"/>
                          <a:cs typeface="Times New Roman" pitchFamily="18" charset="0"/>
                          <a:sym typeface="Constantia"/>
                        </a:rPr>
                        <a:t>II</a:t>
                      </a:r>
                      <a:r>
                        <a:rPr kumimoji="0" lang="ru-RU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innerShdw blurRad="50800" dist="25400" dir="13500000">
                              <a:prstClr val="black">
                                <a:alpha val="70000"/>
                              </a:prstClr>
                            </a:innerShdw>
                          </a:effectLst>
                          <a:uLnTx/>
                          <a:uFillTx/>
                          <a:latin typeface="Times New Roman" pitchFamily="18" charset="0"/>
                          <a:ea typeface="Constantia"/>
                          <a:cs typeface="Times New Roman" pitchFamily="18" charset="0"/>
                          <a:sym typeface="Constantia"/>
                        </a:rPr>
                        <a:t> </a:t>
                      </a:r>
                      <a:r>
                        <a:rPr kumimoji="0" lang="ru-RU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innerShdw blurRad="50800" dist="25400" dir="13500000">
                              <a:prstClr val="black">
                                <a:alpha val="70000"/>
                              </a:prstClr>
                            </a:innerShdw>
                          </a:effectLst>
                          <a:uLnTx/>
                          <a:uFillTx/>
                          <a:latin typeface="Times New Roman" pitchFamily="18" charset="0"/>
                          <a:ea typeface="Constantia"/>
                          <a:cs typeface="Times New Roman" pitchFamily="18" charset="0"/>
                          <a:sym typeface="Constantia"/>
                        </a:rPr>
                        <a:t>орын</a:t>
                      </a:r>
                      <a:endParaRPr lang="ru-RU" sz="16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innerShdw blurRad="50800" dist="25400" dir="13500000">
                              <a:prstClr val="black">
                                <a:alpha val="70000"/>
                              </a:prstClr>
                            </a:innerShdw>
                          </a:effectLst>
                          <a:uLnTx/>
                          <a:uFillTx/>
                          <a:latin typeface="Times New Roman"/>
                          <a:ea typeface="Constantia"/>
                          <a:cs typeface="Times New Roman"/>
                          <a:sym typeface="Constantia"/>
                        </a:rPr>
                        <a:t>Туа </a:t>
                      </a:r>
                      <a:r>
                        <a:rPr kumimoji="0" lang="ru-RU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innerShdw blurRad="50800" dist="25400" dir="13500000">
                              <a:prstClr val="black">
                                <a:alpha val="70000"/>
                              </a:prstClr>
                            </a:innerShdw>
                          </a:effectLst>
                          <a:uLnTx/>
                          <a:uFillTx/>
                          <a:latin typeface="Times New Roman"/>
                          <a:ea typeface="Constantia"/>
                          <a:cs typeface="Times New Roman"/>
                          <a:sym typeface="Constantia"/>
                        </a:rPr>
                        <a:t>біткен</a:t>
                      </a:r>
                      <a:r>
                        <a:rPr kumimoji="0" lang="ru-RU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innerShdw blurRad="50800" dist="25400" dir="13500000">
                              <a:prstClr val="black">
                                <a:alpha val="70000"/>
                              </a:prstClr>
                            </a:innerShdw>
                          </a:effectLst>
                          <a:uLnTx/>
                          <a:uFillTx/>
                          <a:latin typeface="Times New Roman"/>
                          <a:ea typeface="Constantia"/>
                          <a:cs typeface="Times New Roman"/>
                          <a:sym typeface="Constantia"/>
                        </a:rPr>
                        <a:t> </a:t>
                      </a:r>
                      <a:r>
                        <a:rPr kumimoji="0" lang="ru-RU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innerShdw blurRad="50800" dist="25400" dir="13500000">
                              <a:prstClr val="black">
                                <a:alpha val="70000"/>
                              </a:prstClr>
                            </a:innerShdw>
                          </a:effectLst>
                          <a:uLnTx/>
                          <a:uFillTx/>
                          <a:latin typeface="Times New Roman"/>
                          <a:ea typeface="Constantia"/>
                          <a:cs typeface="Times New Roman"/>
                          <a:sym typeface="Constantia"/>
                        </a:rPr>
                        <a:t>жүрек</a:t>
                      </a:r>
                      <a:r>
                        <a:rPr kumimoji="0" lang="ru-RU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innerShdw blurRad="50800" dist="25400" dir="13500000">
                              <a:prstClr val="black">
                                <a:alpha val="70000"/>
                              </a:prstClr>
                            </a:innerShdw>
                          </a:effectLst>
                          <a:uLnTx/>
                          <a:uFillTx/>
                          <a:latin typeface="Times New Roman"/>
                          <a:ea typeface="Constantia"/>
                          <a:cs typeface="Times New Roman"/>
                          <a:sym typeface="Constantia"/>
                        </a:rPr>
                        <a:t> </a:t>
                      </a:r>
                      <a:r>
                        <a:rPr kumimoji="0" lang="ru-RU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innerShdw blurRad="50800" dist="25400" dir="13500000">
                              <a:prstClr val="black">
                                <a:alpha val="70000"/>
                              </a:prstClr>
                            </a:innerShdw>
                          </a:effectLst>
                          <a:uLnTx/>
                          <a:uFillTx/>
                          <a:latin typeface="Times New Roman"/>
                          <a:ea typeface="Constantia"/>
                          <a:cs typeface="Times New Roman"/>
                          <a:sym typeface="Constantia"/>
                        </a:rPr>
                        <a:t>кемістігі</a:t>
                      </a:r>
                      <a:r>
                        <a:rPr kumimoji="0" lang="ru-RU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innerShdw blurRad="50800" dist="25400" dir="13500000">
                              <a:prstClr val="black">
                                <a:alpha val="70000"/>
                              </a:prstClr>
                            </a:innerShdw>
                          </a:effectLst>
                          <a:uLnTx/>
                          <a:uFillTx/>
                          <a:latin typeface="Times New Roman"/>
                          <a:ea typeface="Constantia"/>
                          <a:cs typeface="Times New Roman"/>
                          <a:sym typeface="Constantia"/>
                        </a:rPr>
                        <a:t> бар (ВПР) (30,6%)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9970840"/>
                  </a:ext>
                </a:extLst>
              </a:tr>
              <a:tr h="304201">
                <a:tc>
                  <a:txBody>
                    <a:bodyPr/>
                    <a:lstStyle/>
                    <a:p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innerShdw blurRad="50800" dist="25400" dir="13500000">
                              <a:prstClr val="black">
                                <a:alpha val="70000"/>
                              </a:prstClr>
                            </a:innerShdw>
                          </a:effectLst>
                          <a:uLnTx/>
                          <a:uFillTx/>
                          <a:latin typeface="Times New Roman" pitchFamily="18" charset="0"/>
                          <a:ea typeface="Constantia"/>
                          <a:cs typeface="Times New Roman" pitchFamily="18" charset="0"/>
                          <a:sym typeface="Constantia"/>
                        </a:rPr>
                        <a:t>III</a:t>
                      </a:r>
                      <a:r>
                        <a:rPr kumimoji="0" lang="ru-RU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innerShdw blurRad="50800" dist="25400" dir="13500000">
                              <a:prstClr val="black">
                                <a:alpha val="70000"/>
                              </a:prstClr>
                            </a:innerShdw>
                          </a:effectLst>
                          <a:uLnTx/>
                          <a:uFillTx/>
                          <a:latin typeface="Times New Roman" pitchFamily="18" charset="0"/>
                          <a:ea typeface="Constantia"/>
                          <a:cs typeface="Times New Roman" pitchFamily="18" charset="0"/>
                          <a:sym typeface="Constantia"/>
                        </a:rPr>
                        <a:t> </a:t>
                      </a:r>
                      <a:r>
                        <a:rPr kumimoji="0" lang="ru-RU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innerShdw blurRad="50800" dist="25400" dir="13500000">
                              <a:prstClr val="black">
                                <a:alpha val="70000"/>
                              </a:prstClr>
                            </a:innerShdw>
                          </a:effectLst>
                          <a:uLnTx/>
                          <a:uFillTx/>
                          <a:latin typeface="Times New Roman" pitchFamily="18" charset="0"/>
                          <a:ea typeface="Constantia"/>
                          <a:cs typeface="Times New Roman" pitchFamily="18" charset="0"/>
                          <a:sym typeface="Constantia"/>
                        </a:rPr>
                        <a:t>орын</a:t>
                      </a:r>
                      <a:endParaRPr lang="ru-RU" sz="16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innerShdw blurRad="50800" dist="25400" dir="13500000">
                              <a:prstClr val="black">
                                <a:alpha val="70000"/>
                              </a:prstClr>
                            </a:innerShdw>
                          </a:effectLst>
                          <a:uLnTx/>
                          <a:uFillTx/>
                          <a:latin typeface="Times New Roman" pitchFamily="18" charset="0"/>
                          <a:ea typeface="Constantia"/>
                          <a:cs typeface="Times New Roman" pitchFamily="18" charset="0"/>
                          <a:sym typeface="Constantia"/>
                        </a:rPr>
                        <a:t>Көз</a:t>
                      </a:r>
                      <a:r>
                        <a:rPr kumimoji="0" lang="ru-RU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innerShdw blurRad="50800" dist="25400" dir="13500000">
                              <a:prstClr val="black">
                                <a:alpha val="70000"/>
                              </a:prstClr>
                            </a:innerShdw>
                          </a:effectLst>
                          <a:uLnTx/>
                          <a:uFillTx/>
                          <a:latin typeface="Times New Roman" pitchFamily="18" charset="0"/>
                          <a:ea typeface="Constantia"/>
                          <a:cs typeface="Times New Roman" pitchFamily="18" charset="0"/>
                          <a:sym typeface="Constantia"/>
                        </a:rPr>
                        <a:t> </a:t>
                      </a:r>
                      <a:r>
                        <a:rPr kumimoji="0" lang="ru-RU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innerShdw blurRad="50800" dist="25400" dir="13500000">
                              <a:prstClr val="black">
                                <a:alpha val="70000"/>
                              </a:prstClr>
                            </a:innerShdw>
                          </a:effectLst>
                          <a:uLnTx/>
                          <a:uFillTx/>
                          <a:latin typeface="Times New Roman" pitchFamily="18" charset="0"/>
                          <a:ea typeface="Constantia"/>
                          <a:cs typeface="Times New Roman" pitchFamily="18" charset="0"/>
                          <a:sym typeface="Constantia"/>
                        </a:rPr>
                        <a:t>аурулары</a:t>
                      </a:r>
                      <a:r>
                        <a:rPr kumimoji="0" lang="ru-RU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innerShdw blurRad="50800" dist="25400" dir="13500000">
                              <a:prstClr val="black">
                                <a:alpha val="70000"/>
                              </a:prstClr>
                            </a:innerShdw>
                          </a:effectLst>
                          <a:uLnTx/>
                          <a:uFillTx/>
                          <a:latin typeface="Times New Roman" pitchFamily="18" charset="0"/>
                          <a:ea typeface="Constantia"/>
                          <a:cs typeface="Times New Roman" pitchFamily="18" charset="0"/>
                          <a:sym typeface="Constantia"/>
                        </a:rPr>
                        <a:t> (11%)</a:t>
                      </a:r>
                      <a:endParaRPr kumimoji="0" lang="ru-RU" sz="16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>
                          <a:innerShdw blurRad="50800" dist="25400" dir="13500000">
                            <a:prstClr val="black">
                              <a:alpha val="70000"/>
                            </a:prstClr>
                          </a:innerShdw>
                        </a:effectLst>
                        <a:uLnTx/>
                        <a:uFillTx/>
                        <a:latin typeface="Times New Roman" pitchFamily="18" charset="0"/>
                        <a:ea typeface="Constantia"/>
                        <a:cs typeface="Times New Roman" pitchFamily="18" charset="0"/>
                        <a:sym typeface="Constanti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7671224"/>
                  </a:ext>
                </a:extLst>
              </a:tr>
            </a:tbl>
          </a:graphicData>
        </a:graphic>
      </p:graphicFrame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B3220B43-3BEE-4C01-8E59-97A2E3C92C4E}"/>
              </a:ext>
            </a:extLst>
          </p:cNvPr>
          <p:cNvSpPr txBox="1">
            <a:spLocks/>
          </p:cNvSpPr>
          <p:nvPr/>
        </p:nvSpPr>
        <p:spPr>
          <a:xfrm>
            <a:off x="6710363" y="365125"/>
            <a:ext cx="4987925" cy="457200"/>
          </a:xfrm>
          <a:prstGeom prst="rect">
            <a:avLst/>
          </a:prstGeom>
          <a:noFill/>
        </p:spPr>
        <p:txBody>
          <a:bodyPr lIns="91440" tIns="45720" rIns="91440" bIns="45720" anchor="t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  <a:defRPr/>
            </a:pPr>
            <a:r>
              <a:rPr lang="ru-RU" b="1" err="1">
                <a:solidFill>
                  <a:srgbClr val="00225E"/>
                </a:solidFill>
                <a:latin typeface="Times New Roman"/>
                <a:cs typeface="Times New Roman"/>
              </a:rPr>
              <a:t>Балалар</a:t>
            </a:r>
            <a:r>
              <a:rPr lang="ru-RU" b="1" dirty="0">
                <a:solidFill>
                  <a:srgbClr val="00225E"/>
                </a:solidFill>
                <a:latin typeface="Times New Roman"/>
                <a:cs typeface="Times New Roman"/>
              </a:rPr>
              <a:t> </a:t>
            </a:r>
            <a:r>
              <a:rPr lang="ru-RU" b="1" err="1">
                <a:solidFill>
                  <a:srgbClr val="00225E"/>
                </a:solidFill>
                <a:latin typeface="Times New Roman"/>
                <a:cs typeface="Times New Roman"/>
              </a:rPr>
              <a:t>мүгедектігі</a:t>
            </a:r>
            <a:endParaRPr lang="ru-RU">
              <a:solidFill>
                <a:srgbClr val="00225E"/>
              </a:solidFill>
              <a:latin typeface="Times New Roman"/>
              <a:cs typeface="Times New Roman"/>
            </a:endParaRPr>
          </a:p>
        </p:txBody>
      </p:sp>
      <p:graphicFrame>
        <p:nvGraphicFramePr>
          <p:cNvPr id="11" name="Диаграмма 10">
            <a:extLst>
              <a:ext uri="{FF2B5EF4-FFF2-40B4-BE49-F238E27FC236}">
                <a16:creationId xmlns:a16="http://schemas.microsoft.com/office/drawing/2014/main" id="{8BBF9E5A-358C-432E-AF16-8B0E997EBA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5227943"/>
              </p:ext>
            </p:extLst>
          </p:nvPr>
        </p:nvGraphicFramePr>
        <p:xfrm>
          <a:off x="392115" y="4875789"/>
          <a:ext cx="5543548" cy="18610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Диаграмма 12">
            <a:extLst>
              <a:ext uri="{FF2B5EF4-FFF2-40B4-BE49-F238E27FC236}">
                <a16:creationId xmlns:a16="http://schemas.microsoft.com/office/drawing/2014/main" id="{472BC1FE-D282-4C98-AD7C-6183FCF21740}"/>
              </a:ext>
            </a:extLst>
          </p:cNvPr>
          <p:cNvGraphicFramePr/>
          <p:nvPr/>
        </p:nvGraphicFramePr>
        <p:xfrm>
          <a:off x="7096277" y="4823234"/>
          <a:ext cx="4427220" cy="17649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Заголовок 1">
            <a:extLst>
              <a:ext uri="{FF2B5EF4-FFF2-40B4-BE49-F238E27FC236}">
                <a16:creationId xmlns:a16="http://schemas.microsoft.com/office/drawing/2014/main" id="{B179E971-D2B9-E13E-A49F-453025362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628" y="105335"/>
            <a:ext cx="10515600" cy="935038"/>
          </a:xfrm>
        </p:spPr>
        <p:txBody>
          <a:bodyPr/>
          <a:lstStyle/>
          <a:p>
            <a:pPr algn="ctr" eaLnBrk="1" hangingPunct="1"/>
            <a:r>
              <a:rPr lang="ru-RU" altLang="en-US" b="1" dirty="0" err="1">
                <a:solidFill>
                  <a:srgbClr val="00225E"/>
                </a:solidFill>
                <a:latin typeface="Times New Roman"/>
                <a:cs typeface="Times New Roman"/>
              </a:rPr>
              <a:t>Жалпы</a:t>
            </a:r>
            <a:r>
              <a:rPr lang="ru-RU" altLang="en-US" b="1" dirty="0">
                <a:solidFill>
                  <a:srgbClr val="00225E"/>
                </a:solidFill>
                <a:latin typeface="Times New Roman"/>
                <a:cs typeface="Times New Roman"/>
              </a:rPr>
              <a:t> </a:t>
            </a:r>
            <a:r>
              <a:rPr lang="ru-RU" altLang="en-US" b="1" dirty="0" err="1">
                <a:solidFill>
                  <a:srgbClr val="00225E"/>
                </a:solidFill>
                <a:latin typeface="Times New Roman"/>
                <a:cs typeface="Times New Roman"/>
              </a:rPr>
              <a:t>өлім</a:t>
            </a:r>
            <a:r>
              <a:rPr lang="ru-RU" altLang="en-US" b="1" dirty="0">
                <a:solidFill>
                  <a:srgbClr val="00225E"/>
                </a:solidFill>
                <a:latin typeface="Times New Roman"/>
                <a:cs typeface="Times New Roman"/>
              </a:rPr>
              <a:t> </a:t>
            </a:r>
            <a:r>
              <a:rPr lang="ru-RU" altLang="en-US" b="1" dirty="0" err="1">
                <a:solidFill>
                  <a:srgbClr val="00225E"/>
                </a:solidFill>
                <a:latin typeface="Times New Roman"/>
                <a:cs typeface="Times New Roman"/>
              </a:rPr>
              <a:t>жітімді</a:t>
            </a:r>
            <a:r>
              <a:rPr lang="ru-RU" altLang="en-US" b="1" dirty="0">
                <a:solidFill>
                  <a:srgbClr val="00225E"/>
                </a:solidFill>
                <a:latin typeface="Times New Roman"/>
                <a:cs typeface="Times New Roman"/>
              </a:rPr>
              <a:t> </a:t>
            </a:r>
            <a:r>
              <a:rPr lang="ru-RU" altLang="en-US" b="1" dirty="0" err="1">
                <a:solidFill>
                  <a:srgbClr val="00225E"/>
                </a:solidFill>
                <a:latin typeface="Times New Roman"/>
                <a:cs typeface="Times New Roman"/>
              </a:rPr>
              <a:t>талдау</a:t>
            </a:r>
            <a:r>
              <a:rPr lang="ru-RU" altLang="en-US" b="1" dirty="0">
                <a:solidFill>
                  <a:srgbClr val="00225E"/>
                </a:solidFill>
                <a:latin typeface="Times New Roman"/>
                <a:cs typeface="Times New Roman"/>
              </a:rPr>
              <a:t> </a:t>
            </a:r>
            <a:endParaRPr lang="ru-RU" altLang="en-US" dirty="0">
              <a:solidFill>
                <a:srgbClr val="00225E"/>
              </a:solidFill>
              <a:latin typeface="Times New Roman"/>
              <a:cs typeface="Times New Roman"/>
            </a:endParaRPr>
          </a:p>
        </p:txBody>
      </p:sp>
      <p:graphicFrame>
        <p:nvGraphicFramePr>
          <p:cNvPr id="11" name="Содержимое 3">
            <a:extLst>
              <a:ext uri="{FF2B5EF4-FFF2-40B4-BE49-F238E27FC236}">
                <a16:creationId xmlns:a16="http://schemas.microsoft.com/office/drawing/2014/main" id="{4A8244ED-1E69-BC9B-0EE5-BDFCFCF57C7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535738" y="1109663"/>
          <a:ext cx="5246687" cy="5518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6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12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2711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k-KZ" sz="1400" b="1" dirty="0">
                          <a:solidFill>
                            <a:schemeClr val="bg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Times New Roman"/>
                        </a:rPr>
                        <a:t>Атауы</a:t>
                      </a:r>
                      <a:r>
                        <a:rPr lang="kk-KZ" sz="1400" b="1" baseline="0" dirty="0">
                          <a:solidFill>
                            <a:schemeClr val="bg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Times New Roman"/>
                        </a:rPr>
                        <a:t> </a:t>
                      </a:r>
                      <a:endParaRPr sz="1400" b="1" dirty="0">
                        <a:solidFill>
                    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onstantia"/>
                        <a:buNone/>
                      </a:pPr>
                      <a:r>
                        <a:rPr lang="ru-RU" sz="1400" b="1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2024 ж</a:t>
                      </a: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onstantia"/>
                        <a:buNone/>
                      </a:pPr>
                      <a:r>
                        <a:rPr lang="ru-RU" sz="1400" b="1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2025 ж</a:t>
                      </a:r>
                    </a:p>
                  </a:txBody>
                  <a:tcPr marL="68578" marR="68578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126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Times New Roman" pitchFamily="18" charset="0"/>
                          <a:cs typeface="Times New Roman" pitchFamily="18" charset="0"/>
                        </a:rPr>
                        <a:t>1000 </a:t>
                      </a:r>
                      <a:r>
                        <a:rPr lang="ru-RU" sz="1400" dirty="0" err="1">
                          <a:latin typeface="Times New Roman" pitchFamily="18" charset="0"/>
                          <a:cs typeface="Times New Roman" pitchFamily="18" charset="0"/>
                        </a:rPr>
                        <a:t>тұрғынға</a:t>
                      </a:r>
                      <a:r>
                        <a:rPr lang="ru-RU" sz="14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1400" dirty="0" err="1">
                          <a:latin typeface="Times New Roman" pitchFamily="18" charset="0"/>
                          <a:cs typeface="Times New Roman" pitchFamily="18" charset="0"/>
                        </a:rPr>
                        <a:t>шаққандағы</a:t>
                      </a:r>
                      <a:r>
                        <a:rPr lang="ru-RU" sz="14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1400" dirty="0" err="1">
                          <a:latin typeface="Times New Roman" pitchFamily="18" charset="0"/>
                          <a:cs typeface="Times New Roman" pitchFamily="18" charset="0"/>
                        </a:rPr>
                        <a:t>қайтыс</a:t>
                      </a:r>
                      <a:r>
                        <a:rPr lang="ru-RU" sz="14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1400" dirty="0" err="1">
                          <a:latin typeface="Times New Roman" pitchFamily="18" charset="0"/>
                          <a:cs typeface="Times New Roman" pitchFamily="18" charset="0"/>
                        </a:rPr>
                        <a:t>болғандар</a:t>
                      </a:r>
                      <a:r>
                        <a:rPr lang="ru-RU" sz="1400" dirty="0">
                          <a:latin typeface="Times New Roman" pitchFamily="18" charset="0"/>
                          <a:cs typeface="Times New Roman" pitchFamily="18" charset="0"/>
                        </a:rPr>
                        <a:t> саны </a:t>
                      </a:r>
                      <a:endParaRPr sz="1400" b="0" dirty="0">
                        <a:solidFill>
                          <a:schemeClr val="dk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1" dirty="0">
                          <a:latin typeface="Times New Roman" pitchFamily="18" charset="0"/>
                          <a:ea typeface="Yu Mincho Demibold" pitchFamily="18" charset="-128"/>
                          <a:cs typeface="Times New Roman" pitchFamily="18" charset="0"/>
                          <a:sym typeface="Times New Roman"/>
                        </a:rPr>
                        <a:t>12</a:t>
                      </a:r>
                      <a:endParaRPr sz="1200" b="1" dirty="0">
                        <a:latin typeface="Times New Roman" pitchFamily="18" charset="0"/>
                        <a:ea typeface="Yu Mincho Demibold" pitchFamily="18" charset="-128"/>
                        <a:cs typeface="Times New Roman" pitchFamily="18" charset="0"/>
                        <a:sym typeface="Times New Roman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Yu Mincho Demibold" pitchFamily="18" charset="-128"/>
                          <a:cs typeface="Times New Roman" pitchFamily="18" charset="0"/>
                          <a:sym typeface="Times New Roman"/>
                        </a:rPr>
                        <a:t>30</a:t>
                      </a:r>
                      <a:endParaRPr sz="1200" b="0" dirty="0">
                        <a:solidFill>
                          <a:schemeClr val="dk1"/>
                        </a:solidFill>
                        <a:latin typeface="Times New Roman" pitchFamily="18" charset="0"/>
                        <a:ea typeface="Yu Mincho Demibold" pitchFamily="18" charset="-128"/>
                        <a:cs typeface="Times New Roman" pitchFamily="18" charset="0"/>
                        <a:sym typeface="Times New Roman"/>
                      </a:endParaRPr>
                    </a:p>
                  </a:txBody>
                  <a:tcPr marL="68578" marR="68578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711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k-KZ" sz="1400" b="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Times New Roman"/>
                        </a:rPr>
                        <a:t>-</a:t>
                      </a:r>
                      <a:r>
                        <a:rPr lang="kk-KZ" sz="1400" b="0" baseline="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Times New Roman"/>
                        </a:rPr>
                        <a:t> оның ішінде үйде </a:t>
                      </a:r>
                      <a:endParaRPr sz="1400" b="0" dirty="0">
                        <a:solidFill>
                          <a:schemeClr val="dk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1" dirty="0">
                          <a:latin typeface="Times New Roman" pitchFamily="18" charset="0"/>
                          <a:ea typeface="Yu Mincho Demibold" pitchFamily="18" charset="-128"/>
                          <a:cs typeface="Times New Roman" pitchFamily="18" charset="0"/>
                          <a:sym typeface="Times New Roman"/>
                        </a:rPr>
                        <a:t>12</a:t>
                      </a:r>
                      <a:endParaRPr sz="1200" b="1" dirty="0">
                        <a:latin typeface="Times New Roman" pitchFamily="18" charset="0"/>
                        <a:ea typeface="Yu Mincho Demibold" pitchFamily="18" charset="-128"/>
                        <a:cs typeface="Times New Roman" pitchFamily="18" charset="0"/>
                        <a:sym typeface="Times New Roman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1" dirty="0">
                          <a:latin typeface="Times New Roman" pitchFamily="18" charset="0"/>
                          <a:ea typeface="Yu Mincho Demibold" pitchFamily="18" charset="-128"/>
                          <a:cs typeface="Times New Roman" pitchFamily="18" charset="0"/>
                          <a:sym typeface="Times New Roman"/>
                        </a:rPr>
                        <a:t>30</a:t>
                      </a:r>
                      <a:endParaRPr sz="1200" b="1" dirty="0">
                        <a:latin typeface="Times New Roman" pitchFamily="18" charset="0"/>
                        <a:ea typeface="Yu Mincho Demibold" pitchFamily="18" charset="-128"/>
                        <a:cs typeface="Times New Roman" pitchFamily="18" charset="0"/>
                        <a:sym typeface="Times New Roman"/>
                      </a:endParaRPr>
                    </a:p>
                  </a:txBody>
                  <a:tcPr marL="68578" marR="68578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831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Times New Roman" pitchFamily="18" charset="0"/>
                          <a:cs typeface="Times New Roman" pitchFamily="18" charset="0"/>
                        </a:rPr>
                        <a:t>-60 ж </a:t>
                      </a:r>
                      <a:r>
                        <a:rPr lang="ru-RU" sz="1400" dirty="0" err="1">
                          <a:latin typeface="Times New Roman" pitchFamily="18" charset="0"/>
                          <a:cs typeface="Times New Roman" pitchFamily="18" charset="0"/>
                        </a:rPr>
                        <a:t>асқан</a:t>
                      </a:r>
                      <a:r>
                        <a:rPr lang="ru-RU" sz="14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1400" dirty="0" err="1">
                          <a:latin typeface="Times New Roman" pitchFamily="18" charset="0"/>
                          <a:cs typeface="Times New Roman" pitchFamily="18" charset="0"/>
                        </a:rPr>
                        <a:t>үйде</a:t>
                      </a:r>
                      <a:r>
                        <a:rPr lang="ru-RU" sz="14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1400" dirty="0" err="1">
                          <a:latin typeface="Times New Roman" pitchFamily="18" charset="0"/>
                          <a:cs typeface="Times New Roman" pitchFamily="18" charset="0"/>
                        </a:rPr>
                        <a:t>қайтыс</a:t>
                      </a:r>
                      <a:r>
                        <a:rPr lang="ru-RU" sz="14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1400" dirty="0" err="1">
                          <a:latin typeface="Times New Roman" pitchFamily="18" charset="0"/>
                          <a:cs typeface="Times New Roman" pitchFamily="18" charset="0"/>
                        </a:rPr>
                        <a:t>болғандар</a:t>
                      </a:r>
                      <a:r>
                        <a:rPr lang="ru-RU" sz="1400" dirty="0">
                          <a:latin typeface="Times New Roman" pitchFamily="18" charset="0"/>
                          <a:cs typeface="Times New Roman" pitchFamily="18" charset="0"/>
                        </a:rPr>
                        <a:t> саны</a:t>
                      </a:r>
                      <a:endParaRPr sz="1400" b="0" dirty="0">
                        <a:solidFill>
                          <a:schemeClr val="dk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1" dirty="0">
                          <a:latin typeface="Times New Roman" pitchFamily="18" charset="0"/>
                          <a:ea typeface="Yu Mincho Demibold" pitchFamily="18" charset="-128"/>
                          <a:cs typeface="Times New Roman" pitchFamily="18" charset="0"/>
                          <a:sym typeface="Times New Roman"/>
                        </a:rPr>
                        <a:t>12</a:t>
                      </a:r>
                      <a:endParaRPr sz="1200" b="1" dirty="0">
                        <a:latin typeface="Times New Roman" pitchFamily="18" charset="0"/>
                        <a:ea typeface="Yu Mincho Demibold" pitchFamily="18" charset="-128"/>
                        <a:cs typeface="Times New Roman" pitchFamily="18" charset="0"/>
                        <a:sym typeface="Times New Roman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1" dirty="0">
                          <a:latin typeface="Times New Roman" pitchFamily="18" charset="0"/>
                          <a:ea typeface="Yu Mincho Demibold" pitchFamily="18" charset="-128"/>
                          <a:cs typeface="Times New Roman" pitchFamily="18" charset="0"/>
                          <a:sym typeface="Times New Roman"/>
                        </a:rPr>
                        <a:t>29</a:t>
                      </a:r>
                      <a:endParaRPr sz="1200" b="1" dirty="0">
                        <a:latin typeface="Times New Roman" pitchFamily="18" charset="0"/>
                        <a:ea typeface="Yu Mincho Demibold" pitchFamily="18" charset="-128"/>
                        <a:cs typeface="Times New Roman" pitchFamily="18" charset="0"/>
                        <a:sym typeface="Times New Roman"/>
                      </a:endParaRPr>
                    </a:p>
                  </a:txBody>
                  <a:tcPr marL="68578" marR="68578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61956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Times New Roman" pitchFamily="18" charset="0"/>
                          <a:cs typeface="Times New Roman" pitchFamily="18" charset="0"/>
                        </a:rPr>
                        <a:t>100 000 </a:t>
                      </a:r>
                      <a:r>
                        <a:rPr lang="ru-RU" sz="1400" dirty="0" err="1">
                          <a:latin typeface="Times New Roman" pitchFamily="18" charset="0"/>
                          <a:cs typeface="Times New Roman" pitchFamily="18" charset="0"/>
                        </a:rPr>
                        <a:t>тұрғынға</a:t>
                      </a:r>
                      <a:r>
                        <a:rPr lang="ru-RU" sz="1400" baseline="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1400" baseline="0" dirty="0" err="1">
                          <a:latin typeface="Times New Roman" pitchFamily="18" charset="0"/>
                          <a:cs typeface="Times New Roman" pitchFamily="18" charset="0"/>
                        </a:rPr>
                        <a:t>шаққанда</a:t>
                      </a:r>
                      <a:r>
                        <a:rPr lang="ru-RU" sz="1400" baseline="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r>
                        <a:rPr lang="kk-KZ" sz="1400" dirty="0">
                          <a:latin typeface="Times New Roman" pitchFamily="18" charset="0"/>
                          <a:cs typeface="Times New Roman" pitchFamily="18" charset="0"/>
                        </a:rPr>
                        <a:t>ЖКА-ның</a:t>
                      </a:r>
                      <a:r>
                        <a:rPr lang="kk-KZ" sz="1400" baseline="0" dirty="0">
                          <a:latin typeface="Times New Roman" pitchFamily="18" charset="0"/>
                          <a:cs typeface="Times New Roman" pitchFamily="18" charset="0"/>
                        </a:rPr>
                        <a:t> жекелеген себептерінен қайтыс болғандар саны</a:t>
                      </a:r>
                      <a:endParaRPr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Times New Roman" pitchFamily="18" charset="0"/>
                          <a:cs typeface="Times New Roman" pitchFamily="18" charset="0"/>
                        </a:rPr>
                        <a:t>- </a:t>
                      </a:r>
                      <a:r>
                        <a:rPr lang="ru-RU" sz="1400" dirty="0" err="1">
                          <a:latin typeface="Times New Roman" pitchFamily="18" charset="0"/>
                          <a:cs typeface="Times New Roman" pitchFamily="18" charset="0"/>
                        </a:rPr>
                        <a:t>Оның</a:t>
                      </a:r>
                      <a:r>
                        <a:rPr lang="ru-RU" sz="1400" baseline="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1400" baseline="0" dirty="0" err="1">
                          <a:latin typeface="Times New Roman" pitchFamily="18" charset="0"/>
                          <a:cs typeface="Times New Roman" pitchFamily="18" charset="0"/>
                        </a:rPr>
                        <a:t>ішінде</a:t>
                      </a:r>
                      <a:r>
                        <a:rPr lang="ru-RU" sz="1400" baseline="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1400" baseline="0" dirty="0" err="1">
                          <a:latin typeface="Times New Roman" pitchFamily="18" charset="0"/>
                          <a:cs typeface="Times New Roman" pitchFamily="18" charset="0"/>
                        </a:rPr>
                        <a:t>уйде</a:t>
                      </a:r>
                      <a:r>
                        <a:rPr lang="ru-RU" sz="1400" baseline="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sz="1400" b="0" dirty="0">
                        <a:solidFill>
                          <a:schemeClr val="dk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1" dirty="0">
                          <a:latin typeface="Times New Roman" pitchFamily="18" charset="0"/>
                          <a:ea typeface="Yu Mincho Demibold" pitchFamily="18" charset="-128"/>
                          <a:cs typeface="Times New Roman" pitchFamily="18" charset="0"/>
                        </a:rPr>
                        <a:t>2</a:t>
                      </a:r>
                      <a:endParaRPr sz="1200" b="1" dirty="0">
                        <a:latin typeface="Times New Roman" pitchFamily="18" charset="0"/>
                        <a:ea typeface="Yu Mincho Demibold" pitchFamily="18" charset="-128"/>
                        <a:cs typeface="Times New Roman" pitchFamily="18" charset="0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1" dirty="0">
                          <a:latin typeface="Times New Roman" pitchFamily="18" charset="0"/>
                          <a:ea typeface="Yu Mincho Demibold" pitchFamily="18" charset="-128"/>
                          <a:cs typeface="Times New Roman" pitchFamily="18" charset="0"/>
                        </a:rPr>
                        <a:t>4</a:t>
                      </a:r>
                      <a:endParaRPr sz="1200" b="1" dirty="0">
                        <a:latin typeface="Times New Roman" pitchFamily="18" charset="0"/>
                        <a:ea typeface="Yu Mincho Demibold" pitchFamily="18" charset="-128"/>
                        <a:cs typeface="Times New Roman" pitchFamily="18" charset="0"/>
                      </a:endParaRPr>
                    </a:p>
                  </a:txBody>
                  <a:tcPr marL="68578" marR="68578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2711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Times New Roman" pitchFamily="18" charset="0"/>
                          <a:cs typeface="Times New Roman" pitchFamily="18" charset="0"/>
                        </a:rPr>
                        <a:t>- </a:t>
                      </a:r>
                      <a:r>
                        <a:rPr lang="ru-RU" sz="1400" dirty="0" err="1">
                          <a:latin typeface="Times New Roman" pitchFamily="18" charset="0"/>
                          <a:cs typeface="Times New Roman" pitchFamily="18" charset="0"/>
                        </a:rPr>
                        <a:t>Онкологиялық</a:t>
                      </a:r>
                      <a:r>
                        <a:rPr lang="ru-RU" sz="14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1400" dirty="0" err="1">
                          <a:latin typeface="Times New Roman" pitchFamily="18" charset="0"/>
                          <a:cs typeface="Times New Roman" pitchFamily="18" charset="0"/>
                        </a:rPr>
                        <a:t>аурулар</a:t>
                      </a:r>
                      <a:endParaRPr sz="1400" b="0" dirty="0">
                        <a:solidFill>
                          <a:schemeClr val="dk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1" dirty="0">
                          <a:latin typeface="Times New Roman" pitchFamily="18" charset="0"/>
                          <a:ea typeface="Yu Mincho Demibold" pitchFamily="18" charset="-128"/>
                          <a:cs typeface="Times New Roman" pitchFamily="18" charset="0"/>
                          <a:sym typeface="Times New Roman"/>
                        </a:rPr>
                        <a:t>2</a:t>
                      </a:r>
                      <a:endParaRPr sz="1200" b="1" dirty="0">
                        <a:latin typeface="Times New Roman" pitchFamily="18" charset="0"/>
                        <a:ea typeface="Yu Mincho Demibold" pitchFamily="18" charset="-128"/>
                        <a:cs typeface="Times New Roman" pitchFamily="18" charset="0"/>
                        <a:sym typeface="Times New Roman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1" dirty="0">
                          <a:latin typeface="Times New Roman" pitchFamily="18" charset="0"/>
                          <a:ea typeface="Yu Mincho Demibold" pitchFamily="18" charset="-128"/>
                          <a:cs typeface="Times New Roman" pitchFamily="18" charset="0"/>
                          <a:sym typeface="Times New Roman"/>
                        </a:rPr>
                        <a:t>3</a:t>
                      </a:r>
                      <a:endParaRPr sz="1200" b="1" dirty="0">
                        <a:latin typeface="Times New Roman" pitchFamily="18" charset="0"/>
                        <a:ea typeface="Yu Mincho Demibold" pitchFamily="18" charset="-128"/>
                        <a:cs typeface="Times New Roman" pitchFamily="18" charset="0"/>
                        <a:sym typeface="Times New Roman"/>
                      </a:endParaRPr>
                    </a:p>
                  </a:txBody>
                  <a:tcPr marL="68578" marR="68578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2711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Times New Roman" pitchFamily="18" charset="0"/>
                          <a:cs typeface="Times New Roman" pitchFamily="18" charset="0"/>
                        </a:rPr>
                        <a:t>- </a:t>
                      </a:r>
                      <a:r>
                        <a:rPr lang="ru-RU" sz="1400" dirty="0" err="1">
                          <a:latin typeface="Times New Roman" pitchFamily="18" charset="0"/>
                          <a:cs typeface="Times New Roman" pitchFamily="18" charset="0"/>
                        </a:rPr>
                        <a:t>Тыныс</a:t>
                      </a:r>
                      <a:r>
                        <a:rPr lang="ru-RU" sz="14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1400" dirty="0" err="1">
                          <a:latin typeface="Times New Roman" pitchFamily="18" charset="0"/>
                          <a:cs typeface="Times New Roman" pitchFamily="18" charset="0"/>
                        </a:rPr>
                        <a:t>жол</a:t>
                      </a:r>
                      <a:r>
                        <a:rPr lang="ru-RU" sz="14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1400" dirty="0" err="1">
                          <a:latin typeface="Times New Roman" pitchFamily="18" charset="0"/>
                          <a:cs typeface="Times New Roman" pitchFamily="18" charset="0"/>
                        </a:rPr>
                        <a:t>аурулары</a:t>
                      </a:r>
                      <a:r>
                        <a:rPr lang="ru-RU" sz="14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sz="1400" b="0" dirty="0">
                        <a:solidFill>
                          <a:schemeClr val="dk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1" dirty="0">
                          <a:latin typeface="Times New Roman" pitchFamily="18" charset="0"/>
                          <a:ea typeface="Yu Mincho Demibold" pitchFamily="18" charset="-128"/>
                          <a:cs typeface="Times New Roman" pitchFamily="18" charset="0"/>
                          <a:sym typeface="Times New Roman"/>
                        </a:rPr>
                        <a:t>2</a:t>
                      </a:r>
                      <a:endParaRPr sz="1200" b="1" dirty="0">
                        <a:latin typeface="Times New Roman" pitchFamily="18" charset="0"/>
                        <a:ea typeface="Yu Mincho Demibold" pitchFamily="18" charset="-128"/>
                        <a:cs typeface="Times New Roman" pitchFamily="18" charset="0"/>
                        <a:sym typeface="Times New Roman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1" dirty="0">
                          <a:latin typeface="Times New Roman" pitchFamily="18" charset="0"/>
                          <a:ea typeface="Yu Mincho Demibold" pitchFamily="18" charset="-128"/>
                          <a:cs typeface="Times New Roman" pitchFamily="18" charset="0"/>
                          <a:sym typeface="Times New Roman"/>
                        </a:rPr>
                        <a:t>3</a:t>
                      </a:r>
                      <a:endParaRPr sz="1200" b="1" dirty="0">
                        <a:latin typeface="Times New Roman" pitchFamily="18" charset="0"/>
                        <a:ea typeface="Yu Mincho Demibold" pitchFamily="18" charset="-128"/>
                        <a:cs typeface="Times New Roman" pitchFamily="18" charset="0"/>
                        <a:sym typeface="Times New Roman"/>
                      </a:endParaRPr>
                    </a:p>
                  </a:txBody>
                  <a:tcPr marL="68578" marR="68578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2711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nstantia"/>
                        <a:buNone/>
                      </a:pPr>
                      <a:r>
                        <a:rPr lang="ru-RU" sz="1400" dirty="0">
                          <a:latin typeface="Times New Roman" pitchFamily="18" charset="0"/>
                          <a:cs typeface="Times New Roman" pitchFamily="18" charset="0"/>
                        </a:rPr>
                        <a:t>- </a:t>
                      </a:r>
                      <a:r>
                        <a:rPr lang="ru-RU" sz="1400" dirty="0" err="1">
                          <a:latin typeface="Times New Roman" pitchFamily="18" charset="0"/>
                          <a:cs typeface="Times New Roman" pitchFamily="18" charset="0"/>
                        </a:rPr>
                        <a:t>Жүйке</a:t>
                      </a:r>
                      <a:r>
                        <a:rPr lang="ru-RU" sz="14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1400" dirty="0" err="1">
                          <a:latin typeface="Times New Roman" pitchFamily="18" charset="0"/>
                          <a:cs typeface="Times New Roman" pitchFamily="18" charset="0"/>
                        </a:rPr>
                        <a:t>жүйесінің</a:t>
                      </a:r>
                      <a:r>
                        <a:rPr lang="ru-RU" sz="1400" baseline="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1400" baseline="0" dirty="0" err="1">
                          <a:latin typeface="Times New Roman" pitchFamily="18" charset="0"/>
                          <a:cs typeface="Times New Roman" pitchFamily="18" charset="0"/>
                        </a:rPr>
                        <a:t>аурулары</a:t>
                      </a:r>
                      <a:r>
                        <a:rPr lang="ru-RU" sz="1400" baseline="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sz="1400" b="0" dirty="0">
                        <a:solidFill>
                          <a:schemeClr val="dk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1" dirty="0">
                          <a:latin typeface="Times New Roman" pitchFamily="18" charset="0"/>
                          <a:ea typeface="Yu Mincho Demibold" pitchFamily="18" charset="-128"/>
                          <a:cs typeface="Times New Roman" pitchFamily="18" charset="0"/>
                          <a:sym typeface="Times New Roman"/>
                        </a:rPr>
                        <a:t>6</a:t>
                      </a:r>
                      <a:endParaRPr sz="1200" b="1" dirty="0">
                        <a:latin typeface="Times New Roman" pitchFamily="18" charset="0"/>
                        <a:ea typeface="Yu Mincho Demibold" pitchFamily="18" charset="-128"/>
                        <a:cs typeface="Times New Roman" pitchFamily="18" charset="0"/>
                        <a:sym typeface="Times New Roman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1" dirty="0">
                          <a:latin typeface="Times New Roman" pitchFamily="18" charset="0"/>
                          <a:ea typeface="Yu Mincho Demibold" pitchFamily="18" charset="-128"/>
                          <a:cs typeface="Times New Roman" pitchFamily="18" charset="0"/>
                          <a:sym typeface="Times New Roman"/>
                        </a:rPr>
                        <a:t>9</a:t>
                      </a:r>
                      <a:endParaRPr sz="1200" b="1" dirty="0">
                        <a:latin typeface="Times New Roman" pitchFamily="18" charset="0"/>
                        <a:ea typeface="Yu Mincho Demibold" pitchFamily="18" charset="-128"/>
                        <a:cs typeface="Times New Roman" pitchFamily="18" charset="0"/>
                        <a:sym typeface="Times New Roman"/>
                      </a:endParaRPr>
                    </a:p>
                  </a:txBody>
                  <a:tcPr marL="68578" marR="68578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2711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Times New Roman" pitchFamily="18" charset="0"/>
                          <a:cs typeface="Times New Roman" pitchFamily="18" charset="0"/>
                        </a:rPr>
                        <a:t>- АС </a:t>
                      </a:r>
                      <a:r>
                        <a:rPr lang="ru-RU" sz="1400" dirty="0" err="1">
                          <a:latin typeface="Times New Roman" pitchFamily="18" charset="0"/>
                          <a:cs typeface="Times New Roman" pitchFamily="18" charset="0"/>
                        </a:rPr>
                        <a:t>қорыту</a:t>
                      </a:r>
                      <a:r>
                        <a:rPr lang="ru-RU" sz="14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1400" dirty="0" err="1">
                          <a:latin typeface="Times New Roman" pitchFamily="18" charset="0"/>
                          <a:cs typeface="Times New Roman" pitchFamily="18" charset="0"/>
                        </a:rPr>
                        <a:t>жүйесінің</a:t>
                      </a:r>
                      <a:r>
                        <a:rPr lang="ru-RU" sz="14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1400" dirty="0" err="1">
                          <a:latin typeface="Times New Roman" pitchFamily="18" charset="0"/>
                          <a:cs typeface="Times New Roman" pitchFamily="18" charset="0"/>
                        </a:rPr>
                        <a:t>аурулары</a:t>
                      </a:r>
                      <a:r>
                        <a:rPr lang="ru-RU" sz="14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sz="1400" b="0" dirty="0">
                        <a:solidFill>
                          <a:schemeClr val="dk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1" dirty="0">
                          <a:latin typeface="Times New Roman" pitchFamily="18" charset="0"/>
                          <a:ea typeface="Yu Mincho Demibold" pitchFamily="18" charset="-128"/>
                          <a:cs typeface="Times New Roman" pitchFamily="18" charset="0"/>
                          <a:sym typeface="Times New Roman"/>
                        </a:rPr>
                        <a:t>0</a:t>
                      </a:r>
                      <a:endParaRPr sz="1200" b="1" dirty="0">
                        <a:latin typeface="Times New Roman" pitchFamily="18" charset="0"/>
                        <a:ea typeface="Yu Mincho Demibold" pitchFamily="18" charset="-128"/>
                        <a:cs typeface="Times New Roman" pitchFamily="18" charset="0"/>
                        <a:sym typeface="Times New Roman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k-KZ" sz="1200" b="1" dirty="0">
                          <a:latin typeface="Times New Roman" pitchFamily="18" charset="0"/>
                          <a:ea typeface="Yu Mincho Demibold" pitchFamily="18" charset="-128"/>
                          <a:cs typeface="Times New Roman" pitchFamily="18" charset="0"/>
                          <a:sym typeface="Times New Roman"/>
                        </a:rPr>
                        <a:t>4</a:t>
                      </a:r>
                      <a:endParaRPr sz="1200" b="1" dirty="0">
                        <a:latin typeface="Times New Roman" pitchFamily="18" charset="0"/>
                        <a:ea typeface="Yu Mincho Demibold" pitchFamily="18" charset="-128"/>
                        <a:cs typeface="Times New Roman" pitchFamily="18" charset="0"/>
                        <a:sym typeface="Times New Roman"/>
                      </a:endParaRPr>
                    </a:p>
                  </a:txBody>
                  <a:tcPr marL="68578" marR="68578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2711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Times New Roman" pitchFamily="18" charset="0"/>
                          <a:cs typeface="Times New Roman" pitchFamily="18" charset="0"/>
                        </a:rPr>
                        <a:t>- </a:t>
                      </a:r>
                      <a:r>
                        <a:rPr lang="ru-RU" sz="1400" dirty="0" err="1">
                          <a:latin typeface="Times New Roman" pitchFamily="18" charset="0"/>
                          <a:cs typeface="Times New Roman" pitchFamily="18" charset="0"/>
                        </a:rPr>
                        <a:t>Несеп</a:t>
                      </a:r>
                      <a:r>
                        <a:rPr lang="ru-RU" sz="1400" baseline="0" dirty="0" err="1">
                          <a:latin typeface="Times New Roman" pitchFamily="18" charset="0"/>
                          <a:cs typeface="Times New Roman" pitchFamily="18" charset="0"/>
                        </a:rPr>
                        <a:t>-жыныс</a:t>
                      </a:r>
                      <a:r>
                        <a:rPr lang="ru-RU" sz="1400" baseline="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1400" baseline="0" dirty="0" err="1">
                          <a:latin typeface="Times New Roman" pitchFamily="18" charset="0"/>
                          <a:cs typeface="Times New Roman" pitchFamily="18" charset="0"/>
                        </a:rPr>
                        <a:t>жүйесінің</a:t>
                      </a:r>
                      <a:r>
                        <a:rPr lang="ru-RU" sz="1400" baseline="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1400" baseline="0" dirty="0" err="1">
                          <a:latin typeface="Times New Roman" pitchFamily="18" charset="0"/>
                          <a:cs typeface="Times New Roman" pitchFamily="18" charset="0"/>
                        </a:rPr>
                        <a:t>аурулары</a:t>
                      </a:r>
                      <a:endParaRPr sz="1400" b="0" dirty="0">
                        <a:solidFill>
                          <a:schemeClr val="dk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1" dirty="0">
                          <a:latin typeface="Times New Roman" pitchFamily="18" charset="0"/>
                          <a:ea typeface="Yu Mincho Demibold" pitchFamily="18" charset="-128"/>
                          <a:cs typeface="Times New Roman" pitchFamily="18" charset="0"/>
                          <a:sym typeface="Times New Roman"/>
                        </a:rPr>
                        <a:t>0</a:t>
                      </a:r>
                      <a:endParaRPr sz="1200" b="1" dirty="0">
                        <a:latin typeface="Times New Roman" pitchFamily="18" charset="0"/>
                        <a:ea typeface="Yu Mincho Demibold" pitchFamily="18" charset="-128"/>
                        <a:cs typeface="Times New Roman" pitchFamily="18" charset="0"/>
                        <a:sym typeface="Times New Roman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1" dirty="0">
                          <a:latin typeface="Times New Roman" pitchFamily="18" charset="0"/>
                          <a:ea typeface="Yu Mincho Demibold" pitchFamily="18" charset="-128"/>
                          <a:cs typeface="Times New Roman" pitchFamily="18" charset="0"/>
                          <a:sym typeface="Times New Roman"/>
                        </a:rPr>
                        <a:t>1</a:t>
                      </a:r>
                      <a:endParaRPr sz="1200" b="1" dirty="0">
                        <a:latin typeface="Times New Roman" pitchFamily="18" charset="0"/>
                        <a:ea typeface="Yu Mincho Demibold" pitchFamily="18" charset="-128"/>
                        <a:cs typeface="Times New Roman" pitchFamily="18" charset="0"/>
                        <a:sym typeface="Times New Roman"/>
                      </a:endParaRPr>
                    </a:p>
                  </a:txBody>
                  <a:tcPr marL="68578" marR="68578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2711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Times New Roman" pitchFamily="18" charset="0"/>
                          <a:cs typeface="Times New Roman" pitchFamily="18" charset="0"/>
                        </a:rPr>
                        <a:t>- </a:t>
                      </a:r>
                      <a:r>
                        <a:rPr lang="ru-RU" sz="1400" dirty="0" err="1">
                          <a:latin typeface="Times New Roman" pitchFamily="18" charset="0"/>
                          <a:cs typeface="Times New Roman" pitchFamily="18" charset="0"/>
                        </a:rPr>
                        <a:t>Эндокриндік</a:t>
                      </a:r>
                      <a:r>
                        <a:rPr lang="ru-RU" sz="1400" baseline="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1400" baseline="0" dirty="0" err="1">
                          <a:latin typeface="Times New Roman" pitchFamily="18" charset="0"/>
                          <a:cs typeface="Times New Roman" pitchFamily="18" charset="0"/>
                        </a:rPr>
                        <a:t>аурулар</a:t>
                      </a:r>
                      <a:r>
                        <a:rPr lang="ru-RU" sz="1400" baseline="0" dirty="0">
                          <a:latin typeface="Times New Roman" pitchFamily="18" charset="0"/>
                          <a:cs typeface="Times New Roman" pitchFamily="18" charset="0"/>
                        </a:rPr>
                        <a:t> б-</a:t>
                      </a:r>
                      <a:r>
                        <a:rPr lang="ru-RU" sz="1400" baseline="0" dirty="0" err="1">
                          <a:latin typeface="Times New Roman" pitchFamily="18" charset="0"/>
                          <a:cs typeface="Times New Roman" pitchFamily="18" charset="0"/>
                        </a:rPr>
                        <a:t>ша</a:t>
                      </a:r>
                      <a:endParaRPr sz="1400" b="0" dirty="0">
                        <a:solidFill>
                          <a:schemeClr val="dk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1" dirty="0">
                          <a:latin typeface="Times New Roman" pitchFamily="18" charset="0"/>
                          <a:ea typeface="Yu Mincho Demibold" pitchFamily="18" charset="-128"/>
                          <a:cs typeface="Times New Roman" pitchFamily="18" charset="0"/>
                          <a:sym typeface="Times New Roman"/>
                        </a:rPr>
                        <a:t>0</a:t>
                      </a:r>
                      <a:endParaRPr sz="1200" b="1" dirty="0">
                        <a:latin typeface="Times New Roman" pitchFamily="18" charset="0"/>
                        <a:ea typeface="Yu Mincho Demibold" pitchFamily="18" charset="-128"/>
                        <a:cs typeface="Times New Roman" pitchFamily="18" charset="0"/>
                        <a:sym typeface="Times New Roman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1" dirty="0">
                          <a:latin typeface="Times New Roman" pitchFamily="18" charset="0"/>
                          <a:ea typeface="Yu Mincho Demibold" pitchFamily="18" charset="-128"/>
                          <a:cs typeface="Times New Roman" pitchFamily="18" charset="0"/>
                          <a:sym typeface="Times New Roman"/>
                        </a:rPr>
                        <a:t>2</a:t>
                      </a:r>
                      <a:endParaRPr sz="1200" b="1" dirty="0">
                        <a:latin typeface="Times New Roman" pitchFamily="18" charset="0"/>
                        <a:ea typeface="Yu Mincho Demibold" pitchFamily="18" charset="-128"/>
                        <a:cs typeface="Times New Roman" pitchFamily="18" charset="0"/>
                        <a:sym typeface="Times New Roman"/>
                      </a:endParaRPr>
                    </a:p>
                  </a:txBody>
                  <a:tcPr marL="68578" marR="68578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2711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Times New Roman" pitchFamily="18" charset="0"/>
                          <a:cs typeface="Times New Roman" pitchFamily="18" charset="0"/>
                        </a:rPr>
                        <a:t>- Туберкулез</a:t>
                      </a:r>
                      <a:endParaRPr sz="1400" b="0" dirty="0">
                        <a:solidFill>
                          <a:schemeClr val="dk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k-KZ" sz="1200" b="1" dirty="0">
                          <a:latin typeface="Times New Roman" pitchFamily="18" charset="0"/>
                          <a:ea typeface="Yu Mincho Demibold" pitchFamily="18" charset="-128"/>
                          <a:cs typeface="Times New Roman" pitchFamily="18" charset="0"/>
                          <a:sym typeface="Times New Roman"/>
                        </a:rPr>
                        <a:t>0</a:t>
                      </a:r>
                      <a:endParaRPr sz="1200" b="1" dirty="0">
                        <a:latin typeface="Times New Roman" pitchFamily="18" charset="0"/>
                        <a:ea typeface="Yu Mincho Demibold" pitchFamily="18" charset="-128"/>
                        <a:cs typeface="Times New Roman" pitchFamily="18" charset="0"/>
                        <a:sym typeface="Times New Roman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k-KZ" sz="1200" b="1" dirty="0">
                          <a:latin typeface="Times New Roman" pitchFamily="18" charset="0"/>
                          <a:ea typeface="Yu Mincho Demibold" pitchFamily="18" charset="-128"/>
                          <a:cs typeface="Times New Roman" pitchFamily="18" charset="0"/>
                          <a:sym typeface="Times New Roman"/>
                        </a:rPr>
                        <a:t>0</a:t>
                      </a:r>
                      <a:endParaRPr sz="1200" b="1" dirty="0">
                        <a:latin typeface="Times New Roman" pitchFamily="18" charset="0"/>
                        <a:ea typeface="Yu Mincho Demibold" pitchFamily="18" charset="-128"/>
                        <a:cs typeface="Times New Roman" pitchFamily="18" charset="0"/>
                        <a:sym typeface="Times New Roman"/>
                      </a:endParaRPr>
                    </a:p>
                  </a:txBody>
                  <a:tcPr marL="68578" marR="68578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2711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Times New Roman" pitchFamily="18" charset="0"/>
                          <a:cs typeface="Times New Roman" pitchFamily="18" charset="0"/>
                        </a:rPr>
                        <a:t>- </a:t>
                      </a:r>
                      <a:r>
                        <a:rPr lang="ru-RU" sz="1400" dirty="0" err="1">
                          <a:latin typeface="Times New Roman" pitchFamily="18" charset="0"/>
                          <a:cs typeface="Times New Roman" pitchFamily="18" charset="0"/>
                        </a:rPr>
                        <a:t>Басқада</a:t>
                      </a:r>
                      <a:r>
                        <a:rPr lang="ru-RU" sz="1400" baseline="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1400" baseline="0" dirty="0" err="1">
                          <a:latin typeface="Times New Roman" pitchFamily="18" charset="0"/>
                          <a:cs typeface="Times New Roman" pitchFamily="18" charset="0"/>
                        </a:rPr>
                        <a:t>аурулар</a:t>
                      </a:r>
                      <a:r>
                        <a:rPr lang="ru-RU" sz="1400" baseline="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sz="1400" b="0" dirty="0">
                        <a:solidFill>
                          <a:schemeClr val="dk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1" dirty="0">
                          <a:latin typeface="Times New Roman" pitchFamily="18" charset="0"/>
                          <a:ea typeface="Yu Mincho Demibold" pitchFamily="18" charset="-128"/>
                          <a:cs typeface="Times New Roman" pitchFamily="18" charset="0"/>
                          <a:sym typeface="Times New Roman"/>
                        </a:rPr>
                        <a:t>0</a:t>
                      </a:r>
                      <a:endParaRPr sz="1200" b="1" dirty="0">
                        <a:latin typeface="Times New Roman" pitchFamily="18" charset="0"/>
                        <a:ea typeface="Yu Mincho Demibold" pitchFamily="18" charset="-128"/>
                        <a:cs typeface="Times New Roman" pitchFamily="18" charset="0"/>
                        <a:sym typeface="Times New Roman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1" dirty="0">
                          <a:latin typeface="Times New Roman" pitchFamily="18" charset="0"/>
                          <a:ea typeface="Yu Mincho Demibold" pitchFamily="18" charset="-128"/>
                          <a:cs typeface="Times New Roman" pitchFamily="18" charset="0"/>
                          <a:sym typeface="Times New Roman"/>
                        </a:rPr>
                        <a:t>4</a:t>
                      </a:r>
                      <a:endParaRPr sz="1200" b="1" dirty="0">
                        <a:latin typeface="Times New Roman" pitchFamily="18" charset="0"/>
                        <a:ea typeface="Yu Mincho Demibold" pitchFamily="18" charset="-128"/>
                        <a:cs typeface="Times New Roman" pitchFamily="18" charset="0"/>
                        <a:sym typeface="Times New Roman"/>
                      </a:endParaRPr>
                    </a:p>
                  </a:txBody>
                  <a:tcPr marL="68578" marR="68578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69126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Times New Roman" pitchFamily="18" charset="0"/>
                          <a:cs typeface="Times New Roman" pitchFamily="18" charset="0"/>
                        </a:rPr>
                        <a:t>1000 </a:t>
                      </a:r>
                      <a:r>
                        <a:rPr lang="ru-RU" sz="1400" dirty="0" err="1">
                          <a:latin typeface="Times New Roman" pitchFamily="18" charset="0"/>
                          <a:cs typeface="Times New Roman" pitchFamily="18" charset="0"/>
                        </a:rPr>
                        <a:t>тұрғынға</a:t>
                      </a:r>
                      <a:r>
                        <a:rPr lang="ru-RU" sz="1400" baseline="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1400" baseline="0" dirty="0" err="1">
                          <a:latin typeface="Times New Roman" pitchFamily="18" charset="0"/>
                          <a:cs typeface="Times New Roman" pitchFamily="18" charset="0"/>
                        </a:rPr>
                        <a:t>шаққандағы</a:t>
                      </a:r>
                      <a:r>
                        <a:rPr lang="ru-RU" sz="1400" baseline="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1400" baseline="0" dirty="0" err="1">
                          <a:latin typeface="Times New Roman" pitchFamily="18" charset="0"/>
                          <a:cs typeface="Times New Roman" pitchFamily="18" charset="0"/>
                        </a:rPr>
                        <a:t>еңбекке</a:t>
                      </a:r>
                      <a:r>
                        <a:rPr lang="ru-RU" sz="1400" baseline="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1400" baseline="0" dirty="0" err="1">
                          <a:latin typeface="Times New Roman" pitchFamily="18" charset="0"/>
                          <a:cs typeface="Times New Roman" pitchFamily="18" charset="0"/>
                        </a:rPr>
                        <a:t>жарамды</a:t>
                      </a:r>
                      <a:r>
                        <a:rPr lang="ru-RU" sz="1400" baseline="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1400" baseline="0" dirty="0" err="1">
                          <a:latin typeface="Times New Roman" pitchFamily="18" charset="0"/>
                          <a:cs typeface="Times New Roman" pitchFamily="18" charset="0"/>
                        </a:rPr>
                        <a:t>жас</a:t>
                      </a:r>
                      <a:endParaRPr sz="1400" b="0" dirty="0">
                        <a:solidFill>
                          <a:schemeClr val="dk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Times New Roman" pitchFamily="18" charset="0"/>
                        <a:ea typeface="Yu Mincho Demibold" pitchFamily="18" charset="-128"/>
                        <a:cs typeface="Times New Roman" pitchFamily="18" charset="0"/>
                        <a:sym typeface="Times New Roman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Times New Roman" pitchFamily="18" charset="0"/>
                        <a:ea typeface="Yu Mincho Demibold" pitchFamily="18" charset="-128"/>
                        <a:cs typeface="Times New Roman" pitchFamily="18" charset="0"/>
                        <a:sym typeface="Times New Roman"/>
                      </a:endParaRPr>
                    </a:p>
                  </a:txBody>
                  <a:tcPr marL="68578" marR="68578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38979" name="Rectangle 1">
            <a:extLst>
              <a:ext uri="{FF2B5EF4-FFF2-40B4-BE49-F238E27FC236}">
                <a16:creationId xmlns:a16="http://schemas.microsoft.com/office/drawing/2014/main" id="{0BD763FE-35AC-AF04-D5B1-D28FB92EC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3188"/>
            <a:ext cx="0" cy="250825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-12696" rIns="0" bIns="-12696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graphicFrame>
        <p:nvGraphicFramePr>
          <p:cNvPr id="8" name="Диаграмма 7">
            <a:extLst>
              <a:ext uri="{FF2B5EF4-FFF2-40B4-BE49-F238E27FC236}">
                <a16:creationId xmlns:a16="http://schemas.microsoft.com/office/drawing/2014/main" id="{0CCE22AB-11B4-4B05-A5DB-3413B0045EFA}"/>
              </a:ext>
            </a:extLst>
          </p:cNvPr>
          <p:cNvGraphicFramePr/>
          <p:nvPr/>
        </p:nvGraphicFramePr>
        <p:xfrm>
          <a:off x="617713" y="1065782"/>
          <a:ext cx="2921000" cy="2581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Диаграмма 8">
            <a:extLst>
              <a:ext uri="{FF2B5EF4-FFF2-40B4-BE49-F238E27FC236}">
                <a16:creationId xmlns:a16="http://schemas.microsoft.com/office/drawing/2014/main" id="{E22002E3-F90C-4937-8190-B31FE8A59E7A}"/>
              </a:ext>
            </a:extLst>
          </p:cNvPr>
          <p:cNvGraphicFramePr/>
          <p:nvPr/>
        </p:nvGraphicFramePr>
        <p:xfrm>
          <a:off x="3913563" y="976663"/>
          <a:ext cx="2355430" cy="2670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Диаграмма 9">
            <a:extLst>
              <a:ext uri="{FF2B5EF4-FFF2-40B4-BE49-F238E27FC236}">
                <a16:creationId xmlns:a16="http://schemas.microsoft.com/office/drawing/2014/main" id="{83BC31C2-EF25-4AE6-8D57-394723D97449}"/>
              </a:ext>
            </a:extLst>
          </p:cNvPr>
          <p:cNvGraphicFramePr/>
          <p:nvPr/>
        </p:nvGraphicFramePr>
        <p:xfrm>
          <a:off x="617713" y="3801535"/>
          <a:ext cx="5651280" cy="2801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26B6AB29-D295-2014-CF8F-D79E2881DA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8874694"/>
              </p:ext>
            </p:extLst>
          </p:nvPr>
        </p:nvGraphicFramePr>
        <p:xfrm>
          <a:off x="986117" y="246529"/>
          <a:ext cx="10231545" cy="6365877"/>
        </p:xfrm>
        <a:graphic>
          <a:graphicData uri="http://schemas.openxmlformats.org/drawingml/2006/table">
            <a:tbl>
              <a:tblPr/>
              <a:tblGrid>
                <a:gridCol w="7257220">
                  <a:extLst>
                    <a:ext uri="{9D8B030D-6E8A-4147-A177-3AD203B41FA5}">
                      <a16:colId xmlns:a16="http://schemas.microsoft.com/office/drawing/2014/main" val="3291111210"/>
                    </a:ext>
                  </a:extLst>
                </a:gridCol>
                <a:gridCol w="1499183">
                  <a:extLst>
                    <a:ext uri="{9D8B030D-6E8A-4147-A177-3AD203B41FA5}">
                      <a16:colId xmlns:a16="http://schemas.microsoft.com/office/drawing/2014/main" val="3732095783"/>
                    </a:ext>
                  </a:extLst>
                </a:gridCol>
                <a:gridCol w="1475142">
                  <a:extLst>
                    <a:ext uri="{9D8B030D-6E8A-4147-A177-3AD203B41FA5}">
                      <a16:colId xmlns:a16="http://schemas.microsoft.com/office/drawing/2014/main" val="1967710067"/>
                    </a:ext>
                  </a:extLst>
                </a:gridCol>
              </a:tblGrid>
              <a:tr h="65945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2000" b="1" i="0" u="none" strike="noStrike" cap="none" normalizeH="0" baseline="0" err="1">
                          <a:ln>
                            <a:noFill/>
                          </a:ln>
                          <a:solidFill>
                            <a:srgbClr val="00225E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/>
                          <a:cs typeface="Times New Roman"/>
                        </a:rPr>
                        <a:t>Пациенттерді</a:t>
                      </a:r>
                      <a:r>
                        <a:rPr kumimoji="0" lang="ru-RU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25E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kumimoji="0" lang="ru-RU" altLang="en-US" sz="2000" b="1" i="0" u="none" strike="noStrike" cap="none" normalizeH="0" baseline="0" err="1">
                          <a:ln>
                            <a:noFill/>
                          </a:ln>
                          <a:solidFill>
                            <a:srgbClr val="00225E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/>
                          <a:cs typeface="Times New Roman"/>
                        </a:rPr>
                        <a:t>қолдау</a:t>
                      </a:r>
                      <a:r>
                        <a:rPr kumimoji="0" lang="ru-RU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25E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kumimoji="0" lang="ru-RU" altLang="en-US" sz="2000" b="1" i="0" u="none" strike="noStrike" cap="none" normalizeH="0" baseline="0" err="1">
                          <a:ln>
                            <a:noFill/>
                          </a:ln>
                          <a:solidFill>
                            <a:srgbClr val="00225E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/>
                          <a:cs typeface="Times New Roman"/>
                        </a:rPr>
                        <a:t>және</a:t>
                      </a:r>
                      <a:r>
                        <a:rPr kumimoji="0" lang="ru-RU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25E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kumimoji="0" lang="ru-RU" altLang="en-US" sz="2000" b="1" i="0" u="none" strike="noStrike" cap="none" normalizeH="0" baseline="0" err="1">
                          <a:ln>
                            <a:noFill/>
                          </a:ln>
                          <a:solidFill>
                            <a:srgbClr val="00225E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/>
                          <a:cs typeface="Times New Roman"/>
                        </a:rPr>
                        <a:t>ішкі</a:t>
                      </a:r>
                      <a:r>
                        <a:rPr kumimoji="0" lang="ru-RU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25E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/>
                          <a:cs typeface="Times New Roman"/>
                        </a:rPr>
                        <a:t> аудит </a:t>
                      </a:r>
                      <a:r>
                        <a:rPr kumimoji="0" lang="ru-RU" altLang="en-US" sz="2000" b="1" i="0" u="none" strike="noStrike" cap="none" normalizeH="0" baseline="0" err="1">
                          <a:ln>
                            <a:noFill/>
                          </a:ln>
                          <a:solidFill>
                            <a:srgbClr val="00225E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/>
                          <a:cs typeface="Times New Roman"/>
                        </a:rPr>
                        <a:t>қызметінің</a:t>
                      </a:r>
                      <a:r>
                        <a:rPr kumimoji="0" lang="ru-RU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25E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kumimoji="0" lang="ru-RU" altLang="en-US" sz="2000" b="1" i="0" u="none" strike="noStrike" cap="none" normalizeH="0" baseline="0" err="1">
                          <a:ln>
                            <a:noFill/>
                          </a:ln>
                          <a:solidFill>
                            <a:srgbClr val="00225E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/>
                          <a:cs typeface="Times New Roman"/>
                        </a:rPr>
                        <a:t>жұмысы</a:t>
                      </a:r>
                      <a:endParaRPr kumimoji="0" lang="ru-RU" altLang="en-US" sz="2000" b="1" i="0" u="none" strike="noStrike" cap="none" normalizeH="0" baseline="0" err="1">
                        <a:ln>
                          <a:noFill/>
                        </a:ln>
                        <a:solidFill>
                          <a:srgbClr val="00225E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51883" marR="51883" marT="7206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2024 </a:t>
                      </a:r>
                      <a:r>
                        <a:rPr kumimoji="0" lang="ru-RU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жыл</a:t>
                      </a:r>
                    </a:p>
                  </a:txBody>
                  <a:tcPr marL="51883" marR="51883" marT="7206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2025 </a:t>
                      </a:r>
                      <a:r>
                        <a:rPr kumimoji="0" lang="ru-RU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жыл</a:t>
                      </a:r>
                    </a:p>
                  </a:txBody>
                  <a:tcPr marL="51883" marR="51883" marT="7206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1800761"/>
                  </a:ext>
                </a:extLst>
              </a:tr>
              <a:tr h="371459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k-KZ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Өтініштердің жалпы саны</a:t>
                      </a:r>
                      <a:endParaRPr kumimoji="0" lang="ru-RU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51883" marR="51883" marT="7206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125</a:t>
                      </a:r>
                    </a:p>
                  </a:txBody>
                  <a:tcPr marL="51883" marR="51883" marT="7206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139</a:t>
                      </a:r>
                    </a:p>
                  </a:txBody>
                  <a:tcPr marL="51883" marR="51883" marT="7206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9416057"/>
                  </a:ext>
                </a:extLst>
              </a:tr>
              <a:tr h="494885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600" b="1" i="0" u="none" strike="noStrike" cap="none" normalizeH="0" baseline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ПҚжІАҚ</a:t>
                      </a:r>
                      <a:r>
                        <a:rPr kumimoji="0" lang="ru-RU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kumimoji="0" lang="ru-RU" altLang="en-US" sz="1600" b="1" i="0" u="none" strike="noStrike" cap="none" normalizeH="0" baseline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отырыстары</a:t>
                      </a:r>
                      <a:r>
                        <a:rPr kumimoji="0" lang="ru-RU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 (</a:t>
                      </a:r>
                      <a:r>
                        <a:rPr kumimoji="0" lang="ru-RU" altLang="en-US" sz="1600" b="1" i="0" u="none" strike="noStrike" cap="none" normalizeH="0" baseline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Пациенттерді</a:t>
                      </a:r>
                      <a:r>
                        <a:rPr kumimoji="0" lang="ru-RU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kumimoji="0" lang="ru-RU" altLang="en-US" sz="1600" b="1" i="0" u="none" strike="noStrike" cap="none" normalizeH="0" baseline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қолдау</a:t>
                      </a:r>
                      <a:r>
                        <a:rPr kumimoji="0" lang="ru-RU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kumimoji="0" lang="ru-RU" altLang="en-US" sz="1600" b="1" i="0" u="none" strike="noStrike" cap="none" normalizeH="0" baseline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және</a:t>
                      </a:r>
                      <a:r>
                        <a:rPr kumimoji="0" lang="ru-RU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kumimoji="0" lang="ru-RU" altLang="en-US" sz="1600" b="1" i="0" u="none" strike="noStrike" cap="none" normalizeH="0" baseline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ішкі</a:t>
                      </a:r>
                      <a:r>
                        <a:rPr kumimoji="0" lang="ru-RU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 аудит </a:t>
                      </a:r>
                      <a:r>
                        <a:rPr kumimoji="0" lang="ru-RU" altLang="en-US" sz="1600" b="1" i="0" u="none" strike="noStrike" cap="none" normalizeH="0" baseline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қызметінің</a:t>
                      </a:r>
                      <a:r>
                        <a:rPr kumimoji="0" lang="ru-RU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kumimoji="0" lang="ru-RU" altLang="en-US" sz="1600" b="1" i="0" u="none" strike="noStrike" cap="none" normalizeH="0" baseline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отырыстары</a:t>
                      </a:r>
                      <a:r>
                        <a:rPr kumimoji="0" lang="ru-RU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)</a:t>
                      </a:r>
                    </a:p>
                  </a:txBody>
                  <a:tcPr marL="51883" marR="51883" marT="7206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4</a:t>
                      </a:r>
                    </a:p>
                  </a:txBody>
                  <a:tcPr marL="51883" marR="51883" marT="7206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7</a:t>
                      </a:r>
                    </a:p>
                  </a:txBody>
                  <a:tcPr marL="51883" marR="51883" marT="7206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6544596"/>
                  </a:ext>
                </a:extLst>
              </a:tr>
              <a:tr h="377809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- </a:t>
                      </a:r>
                      <a:r>
                        <a:rPr kumimoji="0" lang="ru-RU" altLang="en-US" sz="16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Ауызша</a:t>
                      </a:r>
                      <a:r>
                        <a:rPr kumimoji="0" lang="ru-RU" altLang="en-US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kumimoji="0" lang="ru-RU" altLang="en-US" sz="16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өтініштер</a:t>
                      </a:r>
                      <a:r>
                        <a:rPr kumimoji="0" lang="ru-RU" altLang="en-US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 (</a:t>
                      </a:r>
                      <a:r>
                        <a:rPr kumimoji="0" lang="ru-RU" altLang="en-US" sz="16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анықтамалық</a:t>
                      </a:r>
                      <a:r>
                        <a:rPr kumimoji="0" lang="ru-RU" altLang="en-US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kumimoji="0" lang="ru-RU" altLang="en-US" sz="16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ақпарат</a:t>
                      </a:r>
                      <a:r>
                        <a:rPr kumimoji="0" lang="ru-RU" altLang="en-US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kumimoji="0" lang="ru-RU" altLang="en-US" sz="16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және</a:t>
                      </a:r>
                      <a:r>
                        <a:rPr kumimoji="0" lang="ru-RU" altLang="en-US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kumimoji="0" lang="ru-RU" altLang="en-US" sz="16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кеңес</a:t>
                      </a:r>
                      <a:r>
                        <a:rPr kumimoji="0" lang="ru-RU" altLang="en-US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 беру)</a:t>
                      </a:r>
                      <a:endParaRPr kumimoji="0" lang="ru-RU" altLang="en-US" sz="1600" b="0" i="1" u="none" strike="noStrike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51883" marR="51883" marT="7206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84 </a:t>
                      </a:r>
                      <a:r>
                        <a:rPr kumimoji="0" lang="ru-RU" altLang="en-US" sz="12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есептен</a:t>
                      </a:r>
                      <a:r>
                        <a:rPr kumimoji="0" lang="ru-RU" altLang="en-US" sz="12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kumimoji="0" lang="ru-RU" altLang="en-US" sz="12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тыс</a:t>
                      </a:r>
                    </a:p>
                  </a:txBody>
                  <a:tcPr marL="51883" marR="51883" marT="7206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91 </a:t>
                      </a:r>
                      <a:r>
                        <a:rPr kumimoji="0" lang="ru-RU" altLang="en-US" sz="12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есептен</a:t>
                      </a:r>
                      <a:r>
                        <a:rPr kumimoji="0" lang="ru-RU" altLang="en-US" sz="12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kumimoji="0" lang="ru-RU" altLang="en-US" sz="12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тыс</a:t>
                      </a:r>
                      <a:endParaRPr kumimoji="0" lang="ru-RU" altLang="en-US" sz="1200" b="0" i="0" u="none" strike="noStrike" cap="none" normalizeH="0" baseline="0" dirty="0" err="1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51883" marR="51883" marT="7206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38736"/>
                  </a:ext>
                </a:extLst>
              </a:tr>
              <a:tr h="377809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- </a:t>
                      </a:r>
                      <a:r>
                        <a:rPr kumimoji="0" lang="ru-RU" altLang="en-US" sz="16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Жазбаша</a:t>
                      </a:r>
                      <a:r>
                        <a:rPr kumimoji="0" lang="ru-RU" altLang="en-US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kumimoji="0" lang="ru-RU" altLang="en-US" sz="16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өтініштер</a:t>
                      </a:r>
                      <a:endParaRPr kumimoji="0" lang="ru-RU" altLang="en-US" sz="1600" b="0" i="1" u="none" strike="noStrike" cap="none" normalizeH="0" baseline="0" dirty="0" err="1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51883" marR="51883" marT="7206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125</a:t>
                      </a:r>
                    </a:p>
                  </a:txBody>
                  <a:tcPr marL="51883" marR="51883" marT="7206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139</a:t>
                      </a:r>
                    </a:p>
                  </a:txBody>
                  <a:tcPr marL="51883" marR="51883" marT="7206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5025502"/>
                  </a:ext>
                </a:extLst>
              </a:tr>
              <a:tr h="330186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kumimoji="0" lang="ru-RU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Оның</a:t>
                      </a:r>
                      <a:r>
                        <a:rPr kumimoji="0" lang="ru-RU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kumimoji="0" lang="ru-RU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ішінде</a:t>
                      </a:r>
                      <a:r>
                        <a:rPr kumimoji="0" lang="ru-RU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kumimoji="0" lang="ru-RU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алғыстар</a:t>
                      </a:r>
                      <a:r>
                        <a:rPr kumimoji="0" lang="ru-RU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:</a:t>
                      </a:r>
                    </a:p>
                  </a:txBody>
                  <a:tcPr marL="51883" marR="51883" marT="7206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32</a:t>
                      </a:r>
                    </a:p>
                  </a:txBody>
                  <a:tcPr marL="51883" marR="51883" marT="7206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41</a:t>
                      </a:r>
                    </a:p>
                  </a:txBody>
                  <a:tcPr marL="51883" marR="51883" marT="7206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456851"/>
                  </a:ext>
                </a:extLst>
              </a:tr>
              <a:tr h="377809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 - </a:t>
                      </a: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e-</a:t>
                      </a:r>
                      <a:r>
                        <a:rPr kumimoji="0" lang="en-US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Otinish</a:t>
                      </a:r>
                      <a:r>
                        <a:rPr kumimoji="0" lang="kk-KZ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kumimoji="0" lang="ru-RU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Алматы </a:t>
                      </a:r>
                      <a:r>
                        <a:rPr kumimoji="0" lang="ru-RU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қаласы</a:t>
                      </a:r>
                      <a:r>
                        <a:rPr kumimoji="0" lang="ru-RU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kumimoji="0" lang="ru-RU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Қоғамдық</a:t>
                      </a:r>
                      <a:r>
                        <a:rPr kumimoji="0" lang="ru-RU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kumimoji="0" lang="ru-RU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денсаулық</a:t>
                      </a:r>
                      <a:r>
                        <a:rPr kumimoji="0" lang="ru-RU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kumimoji="0" lang="ru-RU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сақтау</a:t>
                      </a:r>
                      <a:r>
                        <a:rPr kumimoji="0" lang="ru-RU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kumimoji="0" lang="ru-RU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басқармасы</a:t>
                      </a:r>
                    </a:p>
                  </a:txBody>
                  <a:tcPr marL="51883" marR="51883" marT="7206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17</a:t>
                      </a:r>
                    </a:p>
                  </a:txBody>
                  <a:tcPr marL="51883" marR="51883" marT="7206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14</a:t>
                      </a:r>
                    </a:p>
                  </a:txBody>
                  <a:tcPr marL="51883" marR="51883" marT="7206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839957"/>
                  </a:ext>
                </a:extLst>
              </a:tr>
              <a:tr h="371459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 - </a:t>
                      </a: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e-</a:t>
                      </a:r>
                      <a:r>
                        <a:rPr kumimoji="0" lang="en-US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Otinish</a:t>
                      </a:r>
                      <a:r>
                        <a:rPr kumimoji="0" lang="kk-KZ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kumimoji="0" lang="ru-RU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№33 </a:t>
                      </a:r>
                      <a:r>
                        <a:rPr kumimoji="0" lang="kk-KZ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Қалалық емхана</a:t>
                      </a:r>
                      <a:r>
                        <a:rPr kumimoji="0" lang="ru-RU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</a:p>
                  </a:txBody>
                  <a:tcPr marL="51883" marR="51883" marT="7206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45</a:t>
                      </a:r>
                    </a:p>
                  </a:txBody>
                  <a:tcPr marL="51883" marR="51883" marT="7206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63</a:t>
                      </a:r>
                    </a:p>
                  </a:txBody>
                  <a:tcPr marL="51883" marR="51883" marT="7206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69761"/>
                  </a:ext>
                </a:extLst>
              </a:tr>
              <a:tr h="371459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      - </a:t>
                      </a:r>
                      <a:r>
                        <a:rPr kumimoji="0" lang="ru-RU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Колдау</a:t>
                      </a:r>
                      <a:r>
                        <a:rPr kumimoji="0" lang="ru-RU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kumimoji="0" lang="ru-RU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Әлеуметтік</a:t>
                      </a:r>
                      <a:r>
                        <a:rPr kumimoji="0" lang="ru-RU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kumimoji="0" lang="ru-RU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медициналық</a:t>
                      </a:r>
                      <a:r>
                        <a:rPr kumimoji="0" lang="ru-RU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kumimoji="0" lang="ru-RU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сақтандыру</a:t>
                      </a:r>
                      <a:r>
                        <a:rPr kumimoji="0" lang="ru-RU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kumimoji="0" lang="ru-RU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қорына</a:t>
                      </a:r>
                      <a:endParaRPr kumimoji="0" lang="ru-RU" altLang="en-US" sz="1600" b="0" i="0" u="none" strike="noStrike" cap="none" normalizeH="0" baseline="0" dirty="0" err="1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51883" marR="51883" marT="7206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22</a:t>
                      </a:r>
                    </a:p>
                  </a:txBody>
                  <a:tcPr marL="51883" marR="51883" marT="7206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49</a:t>
                      </a:r>
                    </a:p>
                  </a:txBody>
                  <a:tcPr marL="51883" marR="51883" marT="7206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67025"/>
                  </a:ext>
                </a:extLst>
              </a:tr>
              <a:tr h="371459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      - </a:t>
                      </a: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Open Almaty</a:t>
                      </a:r>
                      <a:endParaRPr kumimoji="0" lang="ru-RU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Calibri"/>
                        <a:cs typeface="Times New Roman" panose="02020603050405020304" pitchFamily="18" charset="0"/>
                      </a:endParaRPr>
                    </a:p>
                  </a:txBody>
                  <a:tcPr marL="51883" marR="51883" marT="7206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9</a:t>
                      </a:r>
                    </a:p>
                  </a:txBody>
                  <a:tcPr marL="51883" marR="51883" marT="7206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2</a:t>
                      </a:r>
                    </a:p>
                  </a:txBody>
                  <a:tcPr marL="51883" marR="51883" marT="7206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5873862"/>
                  </a:ext>
                </a:extLst>
              </a:tr>
              <a:tr h="377809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Оның</a:t>
                      </a:r>
                      <a:r>
                        <a:rPr kumimoji="0" lang="ru-RU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kumimoji="0" lang="ru-RU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ішінде</a:t>
                      </a:r>
                      <a:r>
                        <a:rPr kumimoji="0" lang="ru-RU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kumimoji="0" lang="ru-RU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Сенім</a:t>
                      </a:r>
                      <a:r>
                        <a:rPr kumimoji="0" lang="ru-RU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 телефоны </a:t>
                      </a:r>
                      <a:r>
                        <a:rPr kumimoji="0" lang="ru-RU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арқылы</a:t>
                      </a:r>
                      <a:r>
                        <a:rPr kumimoji="0" lang="ru-RU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kumimoji="0" lang="ru-RU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түскен</a:t>
                      </a:r>
                      <a:r>
                        <a:rPr kumimoji="0" lang="ru-RU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kumimoji="0" lang="ru-RU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өтініштер</a:t>
                      </a:r>
                    </a:p>
                  </a:txBody>
                  <a:tcPr marL="51883" marR="51883" marT="7206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83" marR="51883" marT="7206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83" marR="51883" marT="7206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8957017"/>
                  </a:ext>
                </a:extLst>
              </a:tr>
              <a:tr h="377809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        - </a:t>
                      </a:r>
                      <a:r>
                        <a:rPr kumimoji="0" lang="ru-RU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Медициналық</a:t>
                      </a:r>
                      <a:r>
                        <a:rPr kumimoji="0" lang="ru-RU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kumimoji="0" lang="ru-RU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көмек</a:t>
                      </a:r>
                      <a:r>
                        <a:rPr kumimoji="0" lang="ru-RU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kumimoji="0" lang="ru-RU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алу</a:t>
                      </a:r>
                      <a:r>
                        <a:rPr kumimoji="0" lang="ru-RU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kumimoji="0" lang="ru-RU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мәселелері</a:t>
                      </a:r>
                      <a:r>
                        <a:rPr kumimoji="0" lang="ru-RU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kumimoji="0" lang="ru-RU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бойынша</a:t>
                      </a:r>
                    </a:p>
                  </a:txBody>
                  <a:tcPr marL="51883" marR="51883" marT="7206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21</a:t>
                      </a:r>
                    </a:p>
                  </a:txBody>
                  <a:tcPr marL="51883" marR="51883" marT="7206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13</a:t>
                      </a:r>
                    </a:p>
                  </a:txBody>
                  <a:tcPr marL="51883" marR="51883" marT="7206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87662"/>
                  </a:ext>
                </a:extLst>
              </a:tr>
              <a:tr h="377809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        - </a:t>
                      </a:r>
                      <a:r>
                        <a:rPr kumimoji="0" lang="ru-RU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Медициналық</a:t>
                      </a:r>
                      <a:r>
                        <a:rPr kumimoji="0" lang="ru-RU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kumimoji="0" lang="ru-RU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сақтандыру</a:t>
                      </a:r>
                      <a:r>
                        <a:rPr kumimoji="0" lang="ru-RU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kumimoji="0" lang="ru-RU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мәселелері</a:t>
                      </a:r>
                      <a:r>
                        <a:rPr kumimoji="0" lang="ru-RU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kumimoji="0" lang="ru-RU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бойынша</a:t>
                      </a:r>
                    </a:p>
                  </a:txBody>
                  <a:tcPr marL="51883" marR="51883" marT="7206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11</a:t>
                      </a:r>
                    </a:p>
                  </a:txBody>
                  <a:tcPr marL="51883" marR="51883" marT="7206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17</a:t>
                      </a:r>
                    </a:p>
                  </a:txBody>
                  <a:tcPr marL="51883" marR="51883" marT="7206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585614"/>
                  </a:ext>
                </a:extLst>
              </a:tr>
              <a:tr h="377809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       - </a:t>
                      </a:r>
                      <a:r>
                        <a:rPr kumimoji="0" lang="ru-RU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Медициналық-әлеуметтік</a:t>
                      </a:r>
                      <a:r>
                        <a:rPr kumimoji="0" lang="ru-RU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kumimoji="0" lang="ru-RU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сараптама</a:t>
                      </a:r>
                      <a:r>
                        <a:rPr kumimoji="0" lang="ru-RU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 (МӘС) </a:t>
                      </a:r>
                      <a:r>
                        <a:rPr kumimoji="0" lang="ru-RU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мәселелері</a:t>
                      </a:r>
                      <a:r>
                        <a:rPr kumimoji="0" lang="ru-RU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kumimoji="0" lang="ru-RU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бойынша</a:t>
                      </a:r>
                    </a:p>
                  </a:txBody>
                  <a:tcPr marL="51883" marR="51883" marT="7206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 marL="51883" marR="51883" marT="7206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4</a:t>
                      </a:r>
                    </a:p>
                  </a:txBody>
                  <a:tcPr marL="51883" marR="51883" marT="7206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9348165"/>
                  </a:ext>
                </a:extLst>
              </a:tr>
              <a:tr h="373047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       - </a:t>
                      </a:r>
                      <a:r>
                        <a:rPr kumimoji="0" lang="ru-RU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Дәрі-дәрмекпен</a:t>
                      </a:r>
                      <a:r>
                        <a:rPr kumimoji="0" lang="ru-RU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kumimoji="0" lang="ru-RU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қамтамасыз</a:t>
                      </a:r>
                      <a:r>
                        <a:rPr kumimoji="0" lang="ru-RU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kumimoji="0" lang="ru-RU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ету</a:t>
                      </a:r>
                      <a:r>
                        <a:rPr kumimoji="0" lang="ru-RU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kumimoji="0" lang="ru-RU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бойынша</a:t>
                      </a:r>
                    </a:p>
                  </a:txBody>
                  <a:tcPr marL="51883" marR="51883" marT="7206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13</a:t>
                      </a:r>
                    </a:p>
                  </a:txBody>
                  <a:tcPr marL="51883" marR="51883" marT="7206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9</a:t>
                      </a:r>
                    </a:p>
                  </a:txBody>
                  <a:tcPr marL="51883" marR="51883" marT="7206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6406998"/>
                  </a:ext>
                </a:extLst>
              </a:tr>
              <a:tr h="377809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Негізді</a:t>
                      </a:r>
                      <a:r>
                        <a:rPr kumimoji="0" lang="ru-RU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kumimoji="0" lang="ru-RU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шағымдар</a:t>
                      </a:r>
                    </a:p>
                  </a:txBody>
                  <a:tcPr marL="51883" marR="51883" marT="7206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0</a:t>
                      </a:r>
                    </a:p>
                  </a:txBody>
                  <a:tcPr marL="51883" marR="51883" marT="7206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/>
                          <a:cs typeface="Times New Roman"/>
                        </a:rPr>
                        <a:t>0</a:t>
                      </a:r>
                    </a:p>
                  </a:txBody>
                  <a:tcPr marL="51883" marR="51883" marT="7206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4446947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3A6B00BC-620D-46B1-9BEC-5DFD4B2A82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1703508"/>
              </p:ext>
            </p:extLst>
          </p:nvPr>
        </p:nvGraphicFramePr>
        <p:xfrm>
          <a:off x="337857" y="169863"/>
          <a:ext cx="11507788" cy="59595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94823">
                  <a:extLst>
                    <a:ext uri="{9D8B030D-6E8A-4147-A177-3AD203B41FA5}">
                      <a16:colId xmlns:a16="http://schemas.microsoft.com/office/drawing/2014/main" val="3380548591"/>
                    </a:ext>
                  </a:extLst>
                </a:gridCol>
                <a:gridCol w="965627">
                  <a:extLst>
                    <a:ext uri="{9D8B030D-6E8A-4147-A177-3AD203B41FA5}">
                      <a16:colId xmlns:a16="http://schemas.microsoft.com/office/drawing/2014/main" val="1096830343"/>
                    </a:ext>
                  </a:extLst>
                </a:gridCol>
                <a:gridCol w="1364280">
                  <a:extLst>
                    <a:ext uri="{9D8B030D-6E8A-4147-A177-3AD203B41FA5}">
                      <a16:colId xmlns:a16="http://schemas.microsoft.com/office/drawing/2014/main" val="1323174479"/>
                    </a:ext>
                  </a:extLst>
                </a:gridCol>
                <a:gridCol w="884459">
                  <a:extLst>
                    <a:ext uri="{9D8B030D-6E8A-4147-A177-3AD203B41FA5}">
                      <a16:colId xmlns:a16="http://schemas.microsoft.com/office/drawing/2014/main" val="997053505"/>
                    </a:ext>
                  </a:extLst>
                </a:gridCol>
                <a:gridCol w="1498599">
                  <a:extLst>
                    <a:ext uri="{9D8B030D-6E8A-4147-A177-3AD203B41FA5}">
                      <a16:colId xmlns:a16="http://schemas.microsoft.com/office/drawing/2014/main" val="2241992884"/>
                    </a:ext>
                  </a:extLst>
                </a:gridCol>
              </a:tblGrid>
              <a:tr h="493479">
                <a:tc>
                  <a:txBody>
                    <a:bodyPr/>
                    <a:lstStyle/>
                    <a:p>
                      <a:pPr algn="ctr" fontAlgn="b"/>
                      <a:r>
                        <a:rPr lang="kk-KZ" sz="2800" b="1" u="none" strike="noStrike" dirty="0">
                          <a:solidFill>
                            <a:srgbClr val="00225E"/>
                          </a:solidFill>
                          <a:effectLst/>
                          <a:latin typeface="Times New Roman"/>
                          <a:cs typeface="Times New Roman"/>
                        </a:rPr>
                        <a:t>Негізгі Ұлттық көрсеткіштер </a:t>
                      </a:r>
                      <a:endParaRPr lang="ru-RU" sz="2800" b="1" i="0" u="none" strike="noStrike">
                        <a:solidFill>
                          <a:srgbClr val="00225E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5802" marR="5802" marT="580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 dirty="0" err="1">
                          <a:effectLst/>
                          <a:latin typeface="Times New Roman"/>
                          <a:cs typeface="Times New Roman"/>
                        </a:rPr>
                        <a:t>Жоспар</a:t>
                      </a:r>
                      <a:endParaRPr lang="ru-RU" sz="1600" b="0" i="0" u="none" strike="noStrike" dirty="0" err="1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5802" marR="5802" marT="58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 dirty="0">
                          <a:effectLst/>
                          <a:latin typeface="Times New Roman"/>
                          <a:cs typeface="Times New Roman"/>
                        </a:rPr>
                        <a:t>2024 </a:t>
                      </a:r>
                      <a:r>
                        <a:rPr lang="ru-RU" sz="1600" u="none" strike="noStrike" dirty="0" err="1">
                          <a:effectLst/>
                          <a:latin typeface="Times New Roman"/>
                          <a:cs typeface="Times New Roman"/>
                        </a:rPr>
                        <a:t>жыл</a:t>
                      </a:r>
                      <a:r>
                        <a:rPr lang="ru-RU" sz="1600" u="none" strike="noStrike" dirty="0">
                          <a:effectLst/>
                          <a:latin typeface="Times New Roman"/>
                          <a:cs typeface="Times New Roman"/>
                        </a:rPr>
                        <a:t> 3 ай </a:t>
                      </a:r>
                      <a:r>
                        <a:rPr lang="ru-RU" sz="1600" u="none" strike="noStrike" dirty="0" err="1">
                          <a:effectLst/>
                          <a:latin typeface="Times New Roman"/>
                          <a:cs typeface="Times New Roman"/>
                        </a:rPr>
                        <a:t>бойынша</a:t>
                      </a:r>
                      <a:endParaRPr lang="ru-RU" sz="1600" b="0" i="0" u="none" strike="noStrike" dirty="0" err="1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5802" marR="5802" marT="58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 dirty="0">
                          <a:effectLst/>
                          <a:latin typeface="Times New Roman"/>
                          <a:cs typeface="Times New Roman"/>
                        </a:rPr>
                        <a:t>2025 </a:t>
                      </a:r>
                      <a:r>
                        <a:rPr lang="ru-RU" sz="1600" u="none" strike="noStrike" dirty="0" err="1">
                          <a:effectLst/>
                          <a:latin typeface="Times New Roman"/>
                          <a:cs typeface="Times New Roman"/>
                        </a:rPr>
                        <a:t>жыл</a:t>
                      </a:r>
                      <a:endParaRPr lang="ru-RU" sz="1600" b="0" i="0" u="none" strike="noStrike" dirty="0" err="1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5802" marR="5802" marT="58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 err="1">
                          <a:effectLst/>
                          <a:latin typeface="Times New Roman"/>
                          <a:cs typeface="Times New Roman"/>
                        </a:rPr>
                        <a:t>Динамикасы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5802" marR="5802" marT="5802" marB="0" anchor="ctr"/>
                </a:tc>
                <a:extLst>
                  <a:ext uri="{0D108BD9-81ED-4DB2-BD59-A6C34878D82A}">
                    <a16:rowId xmlns:a16="http://schemas.microsoft.com/office/drawing/2014/main" val="3086159165"/>
                  </a:ext>
                </a:extLst>
              </a:tr>
              <a:tr h="249640"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u="none" strike="noStrike" dirty="0" err="1">
                          <a:effectLst/>
                          <a:latin typeface="Times New Roman"/>
                          <a:cs typeface="Times New Roman"/>
                        </a:rPr>
                        <a:t>Балалардың</a:t>
                      </a:r>
                      <a:r>
                        <a:rPr lang="ru-RU" sz="1600" u="none" strike="noStrike" dirty="0"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1600" u="none" strike="noStrike" dirty="0" err="1">
                          <a:effectLst/>
                          <a:latin typeface="Times New Roman"/>
                          <a:cs typeface="Times New Roman"/>
                        </a:rPr>
                        <a:t>семіздікке</a:t>
                      </a:r>
                      <a:r>
                        <a:rPr lang="ru-RU" sz="1600" u="none" strike="noStrike" dirty="0"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1600" u="none" strike="noStrike" dirty="0" err="1">
                          <a:effectLst/>
                          <a:latin typeface="Times New Roman"/>
                          <a:cs typeface="Times New Roman"/>
                        </a:rPr>
                        <a:t>шалдығуын</a:t>
                      </a:r>
                      <a:r>
                        <a:rPr lang="ru-RU" sz="1600" u="none" strike="noStrike" dirty="0"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1600" u="none" strike="noStrike" dirty="0" err="1">
                          <a:effectLst/>
                          <a:latin typeface="Times New Roman"/>
                          <a:cs typeface="Times New Roman"/>
                        </a:rPr>
                        <a:t>төмендету</a:t>
                      </a:r>
                      <a:r>
                        <a:rPr lang="ru-RU" sz="1600" u="none" strike="noStrike" dirty="0">
                          <a:effectLst/>
                          <a:latin typeface="Times New Roman"/>
                          <a:cs typeface="Times New Roman"/>
                        </a:rPr>
                        <a:t> (0-14 </a:t>
                      </a:r>
                      <a:r>
                        <a:rPr lang="ru-RU" sz="1600" u="none" strike="noStrike" dirty="0" err="1">
                          <a:effectLst/>
                          <a:latin typeface="Times New Roman"/>
                          <a:cs typeface="Times New Roman"/>
                        </a:rPr>
                        <a:t>жас</a:t>
                      </a:r>
                      <a:r>
                        <a:rPr lang="ru-RU" sz="1600" u="none" strike="noStrike" dirty="0">
                          <a:effectLst/>
                          <a:latin typeface="Times New Roman"/>
                          <a:cs typeface="Times New Roman"/>
                        </a:rPr>
                        <a:t>, 100 000 </a:t>
                      </a:r>
                      <a:r>
                        <a:rPr lang="ru-RU" sz="1600" u="none" strike="noStrike" dirty="0" err="1">
                          <a:effectLst/>
                          <a:latin typeface="Times New Roman"/>
                          <a:cs typeface="Times New Roman"/>
                        </a:rPr>
                        <a:t>халыққа</a:t>
                      </a:r>
                      <a:r>
                        <a:rPr lang="ru-RU" sz="1600" u="none" strike="noStrike" dirty="0">
                          <a:effectLst/>
                          <a:latin typeface="Times New Roman"/>
                          <a:cs typeface="Times New Roman"/>
                        </a:rPr>
                        <a:t>)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5802" marR="5802" marT="580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KZ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49,3</a:t>
                      </a:r>
                      <a:endParaRPr lang="ru-KZ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2" marR="5802" marT="58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k-KZ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30,3</a:t>
                      </a:r>
                      <a:endParaRPr lang="ru-KZ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2" marR="5802" marT="58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k-KZ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49.3</a:t>
                      </a:r>
                      <a:r>
                        <a:rPr lang="ru-KZ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KZ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2" marR="5802" marT="5802" marB="0" anchor="ctr"/>
                </a:tc>
                <a:tc rowSpan="17"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 err="1">
                          <a:effectLst/>
                          <a:latin typeface="Times New Roman"/>
                          <a:cs typeface="Times New Roman"/>
                        </a:rPr>
                        <a:t>Емхананың</a:t>
                      </a:r>
                      <a:r>
                        <a:rPr lang="ru-RU" sz="1600" u="none" strike="noStrike" dirty="0">
                          <a:effectLst/>
                          <a:latin typeface="Times New Roman"/>
                          <a:cs typeface="Times New Roman"/>
                        </a:rPr>
                        <a:t> 2024 </a:t>
                      </a:r>
                      <a:r>
                        <a:rPr lang="ru-RU" sz="1600" u="none" strike="noStrike" err="1">
                          <a:effectLst/>
                          <a:latin typeface="Times New Roman"/>
                          <a:cs typeface="Times New Roman"/>
                        </a:rPr>
                        <a:t>жылдың</a:t>
                      </a:r>
                      <a:r>
                        <a:rPr lang="ru-RU" sz="1600" u="none" strike="noStrike" dirty="0"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1600" u="none" strike="noStrike" err="1">
                          <a:effectLst/>
                          <a:latin typeface="Times New Roman"/>
                          <a:cs typeface="Times New Roman"/>
                        </a:rPr>
                        <a:t>қазан</a:t>
                      </a:r>
                      <a:r>
                        <a:rPr lang="ru-RU" sz="1600" u="none" strike="noStrike" dirty="0"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1600" u="none" strike="noStrike" err="1">
                          <a:effectLst/>
                          <a:latin typeface="Times New Roman"/>
                          <a:cs typeface="Times New Roman"/>
                        </a:rPr>
                        <a:t>айының</a:t>
                      </a:r>
                      <a:r>
                        <a:rPr lang="ru-RU" sz="1600" u="none" strike="noStrike" dirty="0">
                          <a:effectLst/>
                          <a:latin typeface="Times New Roman"/>
                          <a:cs typeface="Times New Roman"/>
                        </a:rPr>
                        <a:t> 15 </a:t>
                      </a:r>
                      <a:r>
                        <a:rPr lang="ru-RU" sz="1600" u="none" strike="noStrike" err="1">
                          <a:effectLst/>
                          <a:latin typeface="Times New Roman"/>
                          <a:cs typeface="Times New Roman"/>
                        </a:rPr>
                        <a:t>нен</a:t>
                      </a:r>
                      <a:r>
                        <a:rPr lang="ru-RU" sz="1600" u="none" strike="noStrike" dirty="0"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1600" u="none" strike="noStrike" err="1">
                          <a:effectLst/>
                          <a:latin typeface="Times New Roman"/>
                          <a:cs typeface="Times New Roman"/>
                        </a:rPr>
                        <a:t>ашылуына</a:t>
                      </a:r>
                      <a:r>
                        <a:rPr lang="ru-RU" sz="1600" u="none" strike="noStrike" dirty="0"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1600" u="none" strike="noStrike" err="1">
                          <a:effectLst/>
                          <a:latin typeface="Times New Roman"/>
                          <a:cs typeface="Times New Roman"/>
                        </a:rPr>
                        <a:t>байланысты</a:t>
                      </a:r>
                      <a:r>
                        <a:rPr lang="ru-RU" sz="1600" u="none" strike="noStrike" dirty="0"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1600" u="none" strike="noStrike" err="1">
                          <a:effectLst/>
                          <a:latin typeface="Times New Roman"/>
                          <a:cs typeface="Times New Roman"/>
                        </a:rPr>
                        <a:t>Негізгі</a:t>
                      </a:r>
                      <a:r>
                        <a:rPr lang="ru-RU" sz="1600" u="none" strike="noStrike" dirty="0"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1600" u="none" strike="noStrike" err="1">
                          <a:effectLst/>
                          <a:latin typeface="Times New Roman"/>
                          <a:cs typeface="Times New Roman"/>
                        </a:rPr>
                        <a:t>Ұлттық</a:t>
                      </a:r>
                      <a:r>
                        <a:rPr lang="ru-RU" sz="1600" u="none" strike="noStrike" dirty="0"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1600" u="none" strike="noStrike" err="1">
                          <a:effectLst/>
                          <a:latin typeface="Times New Roman"/>
                          <a:cs typeface="Times New Roman"/>
                        </a:rPr>
                        <a:t>көрсеткіштердің</a:t>
                      </a:r>
                      <a:r>
                        <a:rPr lang="ru-RU" sz="1600" u="none" strike="noStrike" dirty="0"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1600" u="none" strike="noStrike" err="1">
                          <a:effectLst/>
                          <a:latin typeface="Times New Roman"/>
                          <a:cs typeface="Times New Roman"/>
                        </a:rPr>
                        <a:t>Динамикасын</a:t>
                      </a:r>
                      <a:r>
                        <a:rPr lang="ru-RU" sz="1600" u="none" strike="noStrike" dirty="0"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1600" u="none" strike="noStrike" err="1">
                          <a:effectLst/>
                          <a:latin typeface="Times New Roman"/>
                          <a:cs typeface="Times New Roman"/>
                        </a:rPr>
                        <a:t>адекватты</a:t>
                      </a:r>
                      <a:r>
                        <a:rPr lang="ru-RU" sz="1600" u="none" strike="noStrike" dirty="0"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1600" u="none" strike="noStrike" err="1">
                          <a:effectLst/>
                          <a:latin typeface="Times New Roman"/>
                          <a:cs typeface="Times New Roman"/>
                        </a:rPr>
                        <a:t>түрде</a:t>
                      </a:r>
                      <a:r>
                        <a:rPr lang="ru-RU" sz="1600" u="none" strike="noStrike" dirty="0"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1600" u="none" strike="noStrike" err="1">
                          <a:effectLst/>
                          <a:latin typeface="Times New Roman"/>
                          <a:cs typeface="Times New Roman"/>
                        </a:rPr>
                        <a:t>бағалау</a:t>
                      </a:r>
                      <a:r>
                        <a:rPr lang="ru-RU" sz="1600" u="none" strike="noStrike" dirty="0"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1600" u="none" strike="noStrike" err="1">
                          <a:effectLst/>
                          <a:latin typeface="Times New Roman"/>
                          <a:cs typeface="Times New Roman"/>
                        </a:rPr>
                        <a:t>мүмкін</a:t>
                      </a:r>
                      <a:r>
                        <a:rPr lang="ru-RU" sz="1600" u="none" strike="noStrike" dirty="0"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1600" u="none" strike="noStrike" err="1">
                          <a:effectLst/>
                          <a:latin typeface="Times New Roman"/>
                          <a:cs typeface="Times New Roman"/>
                        </a:rPr>
                        <a:t>болмады</a:t>
                      </a:r>
                      <a:endParaRPr lang="ru-KZ" sz="1600" b="0" i="0" u="none" strike="noStrike">
                        <a:solidFill>
                          <a:srgbClr val="1F1F1F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5802" marR="5802" marT="5802" marB="0" anchor="ctr"/>
                </a:tc>
                <a:extLst>
                  <a:ext uri="{0D108BD9-81ED-4DB2-BD59-A6C34878D82A}">
                    <a16:rowId xmlns:a16="http://schemas.microsoft.com/office/drawing/2014/main" val="1040662433"/>
                  </a:ext>
                </a:extLst>
              </a:tr>
              <a:tr h="249640"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Нәрестелер өлімін азайту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2" marR="5802" marT="580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KZ" sz="1600" u="none" strike="noStrike" dirty="0">
                          <a:effectLst/>
                          <a:latin typeface="Times New Roman"/>
                          <a:cs typeface="Times New Roman"/>
                        </a:rPr>
                        <a:t>6,8</a:t>
                      </a:r>
                      <a:endParaRPr lang="ru-KZ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5802" marR="5802" marT="58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KZ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KZ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2" marR="5802" marT="58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k-KZ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KZ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2" marR="5802" marT="5802" marB="0" anchor="ctr"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ru-KZ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2" marR="5802" marT="5802" marB="0" anchor="ctr"/>
                </a:tc>
                <a:extLst>
                  <a:ext uri="{0D108BD9-81ED-4DB2-BD59-A6C34878D82A}">
                    <a16:rowId xmlns:a16="http://schemas.microsoft.com/office/drawing/2014/main" val="4071110270"/>
                  </a:ext>
                </a:extLst>
              </a:tr>
              <a:tr h="249640"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u="none" strike="noStrike" err="1">
                          <a:effectLst/>
                          <a:latin typeface="Times New Roman"/>
                          <a:cs typeface="Times New Roman"/>
                        </a:rPr>
                        <a:t>Жаңа</a:t>
                      </a:r>
                      <a:r>
                        <a:rPr lang="ru-RU" sz="1600" u="none" strike="noStrike" dirty="0"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1600" u="none" strike="noStrike" err="1">
                          <a:effectLst/>
                          <a:latin typeface="Times New Roman"/>
                          <a:cs typeface="Times New Roman"/>
                        </a:rPr>
                        <a:t>туылған</a:t>
                      </a:r>
                      <a:r>
                        <a:rPr lang="ru-RU" sz="1600" u="none" strike="noStrike" dirty="0"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1600" u="none" strike="noStrike" err="1">
                          <a:effectLst/>
                          <a:latin typeface="Times New Roman"/>
                          <a:cs typeface="Times New Roman"/>
                        </a:rPr>
                        <a:t>нәрестелер</a:t>
                      </a:r>
                      <a:r>
                        <a:rPr lang="ru-RU" sz="1600" u="none" strike="noStrike" dirty="0">
                          <a:effectLst/>
                          <a:latin typeface="Times New Roman"/>
                          <a:cs typeface="Times New Roman"/>
                        </a:rPr>
                        <a:t> (</a:t>
                      </a:r>
                      <a:r>
                        <a:rPr lang="ru-RU" sz="1600" u="none" strike="noStrike" err="1">
                          <a:effectLst/>
                          <a:latin typeface="Times New Roman"/>
                          <a:cs typeface="Times New Roman"/>
                        </a:rPr>
                        <a:t>неонатальды</a:t>
                      </a:r>
                      <a:r>
                        <a:rPr lang="ru-RU" sz="1600" u="none" strike="noStrike" dirty="0">
                          <a:effectLst/>
                          <a:latin typeface="Times New Roman"/>
                          <a:cs typeface="Times New Roman"/>
                        </a:rPr>
                        <a:t>) </a:t>
                      </a:r>
                      <a:r>
                        <a:rPr lang="ru-RU" sz="1600" u="none" strike="noStrike" err="1">
                          <a:effectLst/>
                          <a:latin typeface="Times New Roman"/>
                          <a:cs typeface="Times New Roman"/>
                        </a:rPr>
                        <a:t>өлімін</a:t>
                      </a:r>
                      <a:r>
                        <a:rPr lang="ru-RU" sz="1600" u="none" strike="noStrike" dirty="0"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1600" u="none" strike="noStrike" err="1">
                          <a:effectLst/>
                          <a:latin typeface="Times New Roman"/>
                          <a:cs typeface="Times New Roman"/>
                        </a:rPr>
                        <a:t>азайту</a:t>
                      </a:r>
                      <a:r>
                        <a:rPr lang="ru-RU" sz="1600" u="none" strike="noStrike" dirty="0"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5802" marR="5802" marT="580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KZ" sz="1600" u="none" strike="noStrike" dirty="0">
                          <a:effectLst/>
                          <a:latin typeface="Times New Roman"/>
                          <a:cs typeface="Times New Roman"/>
                        </a:rPr>
                        <a:t>2,63</a:t>
                      </a:r>
                      <a:endParaRPr lang="ru-KZ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5802" marR="5802" marT="58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KZ" sz="1600" u="none" strike="noStrike" dirty="0">
                          <a:effectLst/>
                          <a:latin typeface="Times New Roman"/>
                          <a:cs typeface="Times New Roman"/>
                        </a:rPr>
                        <a:t>0</a:t>
                      </a:r>
                      <a:endParaRPr lang="ru-KZ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5802" marR="5802" marT="58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k-KZ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KZ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2" marR="5802" marT="5802" marB="0" anchor="ctr"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ru-KZ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2" marR="5802" marT="5802" marB="0" anchor="ctr"/>
                </a:tc>
                <a:extLst>
                  <a:ext uri="{0D108BD9-81ED-4DB2-BD59-A6C34878D82A}">
                    <a16:rowId xmlns:a16="http://schemas.microsoft.com/office/drawing/2014/main" val="453949206"/>
                  </a:ext>
                </a:extLst>
              </a:tr>
              <a:tr h="493479"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u="none" strike="noStrike" dirty="0">
                          <a:effectLst/>
                          <a:latin typeface="Times New Roman"/>
                          <a:cs typeface="Times New Roman"/>
                        </a:rPr>
                        <a:t>1 </a:t>
                      </a:r>
                      <a:r>
                        <a:rPr lang="ru-RU" sz="1600" u="none" strike="noStrike" err="1">
                          <a:effectLst/>
                          <a:latin typeface="Times New Roman"/>
                          <a:cs typeface="Times New Roman"/>
                        </a:rPr>
                        <a:t>жасқа</a:t>
                      </a:r>
                      <a:r>
                        <a:rPr lang="ru-RU" sz="1600" u="none" strike="noStrike" dirty="0"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1600" u="none" strike="noStrike" err="1">
                          <a:effectLst/>
                          <a:latin typeface="Times New Roman"/>
                          <a:cs typeface="Times New Roman"/>
                        </a:rPr>
                        <a:t>дейінгі</a:t>
                      </a:r>
                      <a:r>
                        <a:rPr lang="ru-RU" sz="1600" u="none" strike="noStrike" dirty="0"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1600" u="none" strike="noStrike" err="1">
                          <a:effectLst/>
                          <a:latin typeface="Times New Roman"/>
                          <a:cs typeface="Times New Roman"/>
                        </a:rPr>
                        <a:t>балаларды</a:t>
                      </a:r>
                      <a:r>
                        <a:rPr lang="ru-RU" sz="1600" u="none" strike="noStrike" dirty="0"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1600" u="none" strike="noStrike" err="1">
                          <a:effectLst/>
                          <a:latin typeface="Times New Roman"/>
                          <a:cs typeface="Times New Roman"/>
                        </a:rPr>
                        <a:t>проактивті</a:t>
                      </a:r>
                      <a:r>
                        <a:rPr lang="ru-RU" sz="1600" u="none" strike="noStrike" dirty="0"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1600" u="none" strike="noStrike" err="1">
                          <a:effectLst/>
                          <a:latin typeface="Times New Roman"/>
                          <a:cs typeface="Times New Roman"/>
                        </a:rPr>
                        <a:t>қадағалаумен</a:t>
                      </a:r>
                      <a:r>
                        <a:rPr lang="ru-RU" sz="1600" u="none" strike="noStrike" dirty="0"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1600" u="none" strike="noStrike" err="1">
                          <a:effectLst/>
                          <a:latin typeface="Times New Roman"/>
                          <a:cs typeface="Times New Roman"/>
                        </a:rPr>
                        <a:t>және</a:t>
                      </a:r>
                      <a:r>
                        <a:rPr lang="ru-RU" sz="1600" u="none" strike="noStrike" dirty="0"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1600" u="none" strike="noStrike" err="1">
                          <a:effectLst/>
                          <a:latin typeface="Times New Roman"/>
                          <a:cs typeface="Times New Roman"/>
                        </a:rPr>
                        <a:t>скринингпен</a:t>
                      </a:r>
                      <a:r>
                        <a:rPr lang="ru-RU" sz="1600" u="none" strike="noStrike" dirty="0"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1600" u="none" strike="noStrike" err="1">
                          <a:effectLst/>
                          <a:latin typeface="Times New Roman"/>
                          <a:cs typeface="Times New Roman"/>
                        </a:rPr>
                        <a:t>қамтуды</a:t>
                      </a:r>
                      <a:r>
                        <a:rPr lang="ru-RU" sz="1600" u="none" strike="noStrike" dirty="0"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1600" u="none" strike="noStrike" err="1">
                          <a:effectLst/>
                          <a:latin typeface="Times New Roman"/>
                          <a:cs typeface="Times New Roman"/>
                        </a:rPr>
                        <a:t>арттыру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5802" marR="5802" marT="580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KZ" sz="1600" u="none" strike="noStrike" dirty="0">
                          <a:effectLst/>
                          <a:latin typeface="Times New Roman"/>
                          <a:cs typeface="Times New Roman"/>
                        </a:rPr>
                        <a:t>93,0</a:t>
                      </a:r>
                      <a:endParaRPr lang="ru-KZ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5802" marR="5802" marT="58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KZ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95,0</a:t>
                      </a:r>
                      <a:endParaRPr lang="ru-KZ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2" marR="5802" marT="58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k-KZ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95,5</a:t>
                      </a:r>
                      <a:endParaRPr lang="ru-KZ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2" marR="5802" marT="5802" marB="0" anchor="ctr"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ru-KZ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2" marR="5802" marT="5802" marB="0" anchor="ctr"/>
                </a:tc>
                <a:extLst>
                  <a:ext uri="{0D108BD9-81ED-4DB2-BD59-A6C34878D82A}">
                    <a16:rowId xmlns:a16="http://schemas.microsoft.com/office/drawing/2014/main" val="3303437687"/>
                  </a:ext>
                </a:extLst>
              </a:tr>
              <a:tr h="249640"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u="none" strike="noStrike" dirty="0">
                          <a:effectLst/>
                          <a:latin typeface="Times New Roman"/>
                          <a:cs typeface="Times New Roman"/>
                        </a:rPr>
                        <a:t>Бес </a:t>
                      </a:r>
                      <a:r>
                        <a:rPr lang="ru-RU" sz="1600" u="none" strike="noStrike" err="1">
                          <a:effectLst/>
                          <a:latin typeface="Times New Roman"/>
                          <a:cs typeface="Times New Roman"/>
                        </a:rPr>
                        <a:t>жасқа</a:t>
                      </a:r>
                      <a:r>
                        <a:rPr lang="ru-RU" sz="1600" u="none" strike="noStrike" dirty="0"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1600" u="none" strike="noStrike" err="1">
                          <a:effectLst/>
                          <a:latin typeface="Times New Roman"/>
                          <a:cs typeface="Times New Roman"/>
                        </a:rPr>
                        <a:t>дейінгі</a:t>
                      </a:r>
                      <a:r>
                        <a:rPr lang="ru-RU" sz="1600" u="none" strike="noStrike" dirty="0"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1600" u="none" strike="noStrike" err="1">
                          <a:effectLst/>
                          <a:latin typeface="Times New Roman"/>
                          <a:cs typeface="Times New Roman"/>
                        </a:rPr>
                        <a:t>балалар</a:t>
                      </a:r>
                      <a:r>
                        <a:rPr lang="ru-RU" sz="1600" u="none" strike="noStrike" dirty="0"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1600" u="none" strike="noStrike" err="1">
                          <a:effectLst/>
                          <a:latin typeface="Times New Roman"/>
                          <a:cs typeface="Times New Roman"/>
                        </a:rPr>
                        <a:t>өлімінің</a:t>
                      </a:r>
                      <a:r>
                        <a:rPr lang="ru-RU" sz="1600" u="none" strike="noStrike" dirty="0"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1600" u="none" strike="noStrike" err="1">
                          <a:effectLst/>
                          <a:latin typeface="Times New Roman"/>
                          <a:cs typeface="Times New Roman"/>
                        </a:rPr>
                        <a:t>көрсеткіші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5802" marR="5802" marT="580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KZ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7,65</a:t>
                      </a:r>
                      <a:endParaRPr lang="ru-KZ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2" marR="5802" marT="58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KZ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KZ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2" marR="5802" marT="5802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k-KZ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KZ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2" marR="5802" marT="5802" marB="0" anchor="ctr"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ru-KZ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2" marR="5802" marT="5802" marB="0" anchor="ctr"/>
                </a:tc>
                <a:extLst>
                  <a:ext uri="{0D108BD9-81ED-4DB2-BD59-A6C34878D82A}">
                    <a16:rowId xmlns:a16="http://schemas.microsoft.com/office/drawing/2014/main" val="2013142191"/>
                  </a:ext>
                </a:extLst>
              </a:tr>
              <a:tr h="249640"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u="none" strike="noStrike" dirty="0">
                          <a:effectLst/>
                          <a:latin typeface="Times New Roman"/>
                          <a:cs typeface="Times New Roman"/>
                        </a:rPr>
                        <a:t>Ана </a:t>
                      </a:r>
                      <a:r>
                        <a:rPr lang="ru-RU" sz="1600" u="none" strike="noStrike" err="1">
                          <a:effectLst/>
                          <a:latin typeface="Times New Roman"/>
                          <a:cs typeface="Times New Roman"/>
                        </a:rPr>
                        <a:t>өлімін</a:t>
                      </a:r>
                      <a:r>
                        <a:rPr lang="ru-RU" sz="1600" u="none" strike="noStrike" dirty="0"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1600" u="none" strike="noStrike" err="1">
                          <a:effectLst/>
                          <a:latin typeface="Times New Roman"/>
                          <a:cs typeface="Times New Roman"/>
                        </a:rPr>
                        <a:t>азайту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5802" marR="5802" marT="5802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KZ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11,2</a:t>
                      </a:r>
                      <a:endParaRPr lang="ru-KZ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2" marR="5802" marT="58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KZ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KZ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2" marR="5802" marT="5802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k-KZ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KZ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2" marR="5802" marT="5802" marB="0" anchor="ctr"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ru-KZ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2" marR="5802" marT="5802" marB="0" anchor="ctr"/>
                </a:tc>
                <a:extLst>
                  <a:ext uri="{0D108BD9-81ED-4DB2-BD59-A6C34878D82A}">
                    <a16:rowId xmlns:a16="http://schemas.microsoft.com/office/drawing/2014/main" val="2007780316"/>
                  </a:ext>
                </a:extLst>
              </a:tr>
              <a:tr h="24964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u="none" strike="noStrike" err="1">
                          <a:effectLst/>
                          <a:latin typeface="Times New Roman"/>
                          <a:cs typeface="Times New Roman"/>
                        </a:rPr>
                        <a:t>Әйелдерді</a:t>
                      </a:r>
                      <a:r>
                        <a:rPr lang="ru-RU" sz="1600" u="none" strike="noStrike" dirty="0"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1600" u="none" strike="noStrike" err="1">
                          <a:effectLst/>
                          <a:latin typeface="Times New Roman"/>
                          <a:cs typeface="Times New Roman"/>
                        </a:rPr>
                        <a:t>жүктілікке</a:t>
                      </a:r>
                      <a:r>
                        <a:rPr lang="ru-RU" sz="1600" u="none" strike="noStrike" dirty="0"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1600" u="none" strike="noStrike" err="1">
                          <a:effectLst/>
                          <a:latin typeface="Times New Roman"/>
                          <a:cs typeface="Times New Roman"/>
                        </a:rPr>
                        <a:t>дейінгі</a:t>
                      </a:r>
                      <a:r>
                        <a:rPr lang="ru-RU" sz="1600" u="none" strike="noStrike" dirty="0"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1600" u="none" strike="noStrike" err="1">
                          <a:effectLst/>
                          <a:latin typeface="Times New Roman"/>
                          <a:cs typeface="Times New Roman"/>
                        </a:rPr>
                        <a:t>дайындықпен</a:t>
                      </a:r>
                      <a:r>
                        <a:rPr lang="ru-RU" sz="1600" u="none" strike="noStrike" dirty="0"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1600" u="none" strike="noStrike" err="1">
                          <a:effectLst/>
                          <a:latin typeface="Times New Roman"/>
                          <a:cs typeface="Times New Roman"/>
                        </a:rPr>
                        <a:t>қамтуды</a:t>
                      </a:r>
                      <a:r>
                        <a:rPr lang="ru-RU" sz="1600" u="none" strike="noStrike" dirty="0"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1600" u="none" strike="noStrike" err="1">
                          <a:effectLst/>
                          <a:latin typeface="Times New Roman"/>
                          <a:cs typeface="Times New Roman"/>
                        </a:rPr>
                        <a:t>арттыру</a:t>
                      </a:r>
                      <a:endParaRPr lang="ru-RU" sz="1600" b="0" i="0" u="none" strike="noStrike">
                        <a:solidFill>
                          <a:srgbClr val="1F1F1F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5802" marR="5802" marT="58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KZ" sz="1600" u="none" strike="noStrike" dirty="0">
                          <a:effectLst/>
                          <a:latin typeface="Times New Roman"/>
                          <a:cs typeface="Times New Roman"/>
                        </a:rPr>
                        <a:t>50,0</a:t>
                      </a:r>
                      <a:endParaRPr lang="ru-KZ" sz="1600" b="0" i="0" u="none" strike="noStrike" dirty="0">
                        <a:solidFill>
                          <a:srgbClr val="1F1F1F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5802" marR="5802" marT="58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k-KZ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KZ" sz="1600" b="0" i="0" u="none" strike="noStrike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2" marR="5802" marT="58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k-KZ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98,0</a:t>
                      </a:r>
                      <a:r>
                        <a:rPr lang="ru-KZ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KZ" sz="1600" b="0" i="0" u="none" strike="noStrike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2" marR="5802" marT="5802" marB="0" anchor="ctr"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ru-KZ" sz="1600" b="0" i="0" u="none" strike="noStrike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2" marR="5802" marT="5802" marB="0" anchor="ctr"/>
                </a:tc>
                <a:extLst>
                  <a:ext uri="{0D108BD9-81ED-4DB2-BD59-A6C34878D82A}">
                    <a16:rowId xmlns:a16="http://schemas.microsoft.com/office/drawing/2014/main" val="110925194"/>
                  </a:ext>
                </a:extLst>
              </a:tr>
              <a:tr h="473306"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Бала туатын жастағы (15-49 жас) әйелдерді заманауи контрацепциямен қамту</a:t>
                      </a:r>
                      <a:endParaRPr lang="ru-RU" sz="1600" b="0" i="0" u="none" strike="noStrike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2" marR="5802" marT="58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KZ" sz="1600" u="none" strike="noStrike" dirty="0">
                          <a:effectLst/>
                          <a:latin typeface="Times New Roman"/>
                          <a:cs typeface="Times New Roman"/>
                        </a:rPr>
                        <a:t>51,0</a:t>
                      </a:r>
                      <a:endParaRPr lang="ru-KZ" sz="1600" b="0" i="0" u="none" strike="noStrike" dirty="0">
                        <a:solidFill>
                          <a:srgbClr val="1F1F1F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5802" marR="5802" marT="58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k-KZ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ru-KZ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KZ" sz="1600" b="0" i="0" u="none" strike="noStrike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2" marR="5802" marT="58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k-KZ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59,2</a:t>
                      </a:r>
                      <a:endParaRPr lang="ru-KZ" sz="1600" b="0" i="0" u="none" strike="noStrike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2" marR="5802" marT="5802" marB="0" anchor="ctr"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ru-KZ" sz="1600" b="0" i="0" u="none" strike="noStrike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2" marR="5802" marT="5802" marB="0" anchor="ctr"/>
                </a:tc>
                <a:extLst>
                  <a:ext uri="{0D108BD9-81ED-4DB2-BD59-A6C34878D82A}">
                    <a16:rowId xmlns:a16="http://schemas.microsoft.com/office/drawing/2014/main" val="3812644641"/>
                  </a:ext>
                </a:extLst>
              </a:tr>
              <a:tr h="493479"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15-17 жас аралығындағы 1000 қызға шаққанда жасөспірімдердің туу көрсеткішінің төмендеуі</a:t>
                      </a:r>
                      <a:endParaRPr lang="ru-RU" sz="1600" b="0" i="0" u="none" strike="noStrike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2" marR="5802" marT="58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KZ" sz="1600" u="none" strike="noStrike" dirty="0">
                          <a:effectLst/>
                          <a:latin typeface="Times New Roman"/>
                          <a:cs typeface="Times New Roman"/>
                        </a:rPr>
                        <a:t>2,5</a:t>
                      </a:r>
                      <a:endParaRPr lang="ru-KZ" sz="1600" b="0" i="0" u="none" strike="noStrike" dirty="0">
                        <a:solidFill>
                          <a:srgbClr val="1F1F1F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5802" marR="5802" marT="58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k-KZ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ru-KZ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KZ" sz="1600" b="0" i="0" u="none" strike="noStrike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2" marR="5802" marT="58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k-KZ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2,3</a:t>
                      </a:r>
                      <a:endParaRPr lang="ru-KZ" sz="1600" b="0" i="0" u="none" strike="noStrike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2" marR="5802" marT="5802" marB="0" anchor="ctr"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ru-KZ" sz="1600" b="0" i="0" u="none" strike="noStrike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2" marR="5802" marT="5802" marB="0" anchor="ctr"/>
                </a:tc>
                <a:extLst>
                  <a:ext uri="{0D108BD9-81ED-4DB2-BD59-A6C34878D82A}">
                    <a16:rowId xmlns:a16="http://schemas.microsoft.com/office/drawing/2014/main" val="4266555224"/>
                  </a:ext>
                </a:extLst>
              </a:tr>
              <a:tr h="24964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15-49 жас аралығындағы жүкті әйелдер арасында анемия ауруын төмендету</a:t>
                      </a:r>
                      <a:endParaRPr lang="ru-RU" sz="1600" b="0" i="0" u="none" strike="noStrike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2" marR="5802" marT="58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KZ" sz="1600" u="none" strike="noStrike" dirty="0">
                          <a:effectLst/>
                          <a:latin typeface="Times New Roman"/>
                          <a:cs typeface="Times New Roman"/>
                        </a:rPr>
                        <a:t>20,0</a:t>
                      </a:r>
                      <a:endParaRPr lang="ru-KZ" sz="1600" b="0" i="0" u="none" strike="noStrike" dirty="0">
                        <a:solidFill>
                          <a:srgbClr val="1F1F1F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5802" marR="5802" marT="58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k-KZ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1.8</a:t>
                      </a:r>
                      <a:r>
                        <a:rPr lang="ru-KZ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KZ" sz="1600" b="0" i="0" u="none" strike="noStrike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2" marR="5802" marT="58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KZ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kk-KZ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8,1</a:t>
                      </a:r>
                      <a:endParaRPr lang="ru-KZ" sz="1600" b="0" i="0" u="none" strike="noStrike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2" marR="5802" marT="5802" marB="0" anchor="ctr"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ru-KZ" sz="1600" b="0" i="0" u="none" strike="noStrike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2" marR="5802" marT="5802" marB="0" anchor="ctr"/>
                </a:tc>
                <a:extLst>
                  <a:ext uri="{0D108BD9-81ED-4DB2-BD59-A6C34878D82A}">
                    <a16:rowId xmlns:a16="http://schemas.microsoft.com/office/drawing/2014/main" val="3883361010"/>
                  </a:ext>
                </a:extLst>
              </a:tr>
              <a:tr h="493479"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Ұлттық бағдарламаларға енгізілген барлық вакциналармен иммундаумен қамтылған мақсатты халықтың үлесі кемінде 95% құрайды.</a:t>
                      </a:r>
                      <a:endParaRPr lang="ru-RU" sz="1600" b="0" i="0" u="none" strike="noStrike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2" marR="5802" marT="58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KZ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95%</a:t>
                      </a:r>
                      <a:endParaRPr lang="ru-KZ" sz="1600" b="0" i="0" u="none" strike="noStrike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2" marR="5802" marT="58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k-KZ" sz="1600" b="0" i="0" u="none" strike="noStrike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KZ" sz="1600" b="0" i="0" u="none" strike="noStrike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2" marR="5802" marT="58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k-KZ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</a:t>
                      </a:r>
                      <a:r>
                        <a:rPr lang="ru-KZ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  <a:endParaRPr lang="ru-KZ" sz="1600" b="0" i="0" u="none" strike="noStrike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2" marR="5802" marT="5802" marB="0" anchor="ctr"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ru-KZ" sz="1600" b="0" i="0" u="none" strike="noStrike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2" marR="5802" marT="5802" marB="0" anchor="ctr"/>
                </a:tc>
                <a:extLst>
                  <a:ext uri="{0D108BD9-81ED-4DB2-BD59-A6C34878D82A}">
                    <a16:rowId xmlns:a16="http://schemas.microsoft.com/office/drawing/2014/main" val="3732160406"/>
                  </a:ext>
                </a:extLst>
              </a:tr>
              <a:tr h="26127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Медициналық ұйымдардың медициналық техникамен жабдықталу деңгейі</a:t>
                      </a:r>
                      <a:endParaRPr lang="ru-RU" sz="1600" b="0" i="0" u="none" strike="noStrike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2" marR="5802" marT="58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KZ" sz="1600" u="none" strike="noStrike" dirty="0">
                          <a:effectLst/>
                          <a:latin typeface="Times New Roman"/>
                          <a:cs typeface="Times New Roman"/>
                        </a:rPr>
                        <a:t>98</a:t>
                      </a:r>
                      <a:endParaRPr lang="ru-KZ" sz="1600" b="0" i="0" u="none" strike="noStrike" dirty="0">
                        <a:solidFill>
                          <a:srgbClr val="1F1F1F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5802" marR="5802" marT="58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r>
                        <a:rPr lang="ru-KZ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KZ" sz="1600" b="0" i="0" u="none" strike="noStrike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2" marR="5802" marT="58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KZ" sz="160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ru-RU" sz="160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78%</a:t>
                      </a:r>
                      <a:endParaRPr lang="ru-KZ" sz="16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2" marR="5802" marT="5802" marB="0" anchor="ctr"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ru-KZ" sz="1600" b="0" i="0" u="none" strike="noStrike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2" marR="5802" marT="5802" marB="0" anchor="ctr"/>
                </a:tc>
                <a:extLst>
                  <a:ext uri="{0D108BD9-81ED-4DB2-BD59-A6C34878D82A}">
                    <a16:rowId xmlns:a16="http://schemas.microsoft.com/office/drawing/2014/main" val="183695798"/>
                  </a:ext>
                </a:extLst>
              </a:tr>
              <a:tr h="493479"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u="none" strike="noStrike" err="1">
                          <a:effectLst/>
                          <a:latin typeface="Times New Roman"/>
                          <a:cs typeface="Times New Roman"/>
                        </a:rPr>
                        <a:t>Жылына</a:t>
                      </a:r>
                      <a:r>
                        <a:rPr lang="ru-RU" sz="1600" u="none" strike="noStrike" dirty="0"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1600" u="none" strike="noStrike" err="1">
                          <a:effectLst/>
                          <a:latin typeface="Times New Roman"/>
                          <a:cs typeface="Times New Roman"/>
                        </a:rPr>
                        <a:t>жан</a:t>
                      </a:r>
                      <a:r>
                        <a:rPr lang="ru-RU" sz="1600" u="none" strike="noStrike" dirty="0"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1600" u="none" strike="noStrike" err="1">
                          <a:effectLst/>
                          <a:latin typeface="Times New Roman"/>
                          <a:cs typeface="Times New Roman"/>
                        </a:rPr>
                        <a:t>басына</a:t>
                      </a:r>
                      <a:r>
                        <a:rPr lang="ru-RU" sz="1600" u="none" strike="noStrike" dirty="0"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1600" u="none" strike="noStrike" err="1">
                          <a:effectLst/>
                          <a:latin typeface="Times New Roman"/>
                          <a:cs typeface="Times New Roman"/>
                        </a:rPr>
                        <a:t>шаққандағы</a:t>
                      </a:r>
                      <a:r>
                        <a:rPr lang="ru-RU" sz="1600" u="none" strike="noStrike" dirty="0"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1600" u="none" strike="noStrike" err="1">
                          <a:effectLst/>
                          <a:latin typeface="Times New Roman"/>
                          <a:cs typeface="Times New Roman"/>
                        </a:rPr>
                        <a:t>алғашқы</a:t>
                      </a:r>
                      <a:r>
                        <a:rPr lang="ru-RU" sz="1600" u="none" strike="noStrike" dirty="0"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1600" u="none" strike="noStrike" err="1">
                          <a:effectLst/>
                          <a:latin typeface="Times New Roman"/>
                          <a:cs typeface="Times New Roman"/>
                        </a:rPr>
                        <a:t>медициналық-санитарлық</a:t>
                      </a:r>
                      <a:r>
                        <a:rPr lang="ru-RU" sz="1600" u="none" strike="noStrike" dirty="0"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1600" u="none" strike="noStrike" err="1">
                          <a:effectLst/>
                          <a:latin typeface="Times New Roman"/>
                          <a:cs typeface="Times New Roman"/>
                        </a:rPr>
                        <a:t>көмек</a:t>
                      </a:r>
                      <a:r>
                        <a:rPr lang="ru-RU" sz="1600" u="none" strike="noStrike" dirty="0"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1600" u="none" strike="noStrike" err="1">
                          <a:effectLst/>
                          <a:latin typeface="Times New Roman"/>
                          <a:cs typeface="Times New Roman"/>
                        </a:rPr>
                        <a:t>көрсететін</a:t>
                      </a:r>
                      <a:r>
                        <a:rPr lang="ru-RU" sz="1600" u="none" strike="noStrike" dirty="0"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1600" u="none" strike="noStrike" err="1">
                          <a:effectLst/>
                          <a:latin typeface="Times New Roman"/>
                          <a:cs typeface="Times New Roman"/>
                        </a:rPr>
                        <a:t>денсаулық</a:t>
                      </a:r>
                      <a:r>
                        <a:rPr lang="ru-RU" sz="1600" u="none" strike="noStrike" dirty="0"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1600" u="none" strike="noStrike" err="1">
                          <a:effectLst/>
                          <a:latin typeface="Times New Roman"/>
                          <a:cs typeface="Times New Roman"/>
                        </a:rPr>
                        <a:t>сақтау</a:t>
                      </a:r>
                      <a:r>
                        <a:rPr lang="ru-RU" sz="1600" u="none" strike="noStrike" dirty="0"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1600" u="none" strike="noStrike" err="1">
                          <a:effectLst/>
                          <a:latin typeface="Times New Roman"/>
                          <a:cs typeface="Times New Roman"/>
                        </a:rPr>
                        <a:t>ұйымдарына</a:t>
                      </a:r>
                      <a:r>
                        <a:rPr lang="ru-RU" sz="1600" u="none" strike="noStrike" dirty="0">
                          <a:effectLst/>
                          <a:latin typeface="Times New Roman"/>
                          <a:cs typeface="Times New Roman"/>
                        </a:rPr>
                        <a:t> бару саны</a:t>
                      </a:r>
                      <a:endParaRPr lang="ru-RU" sz="1600" b="0" i="0" u="none" strike="noStrike" dirty="0">
                        <a:solidFill>
                          <a:srgbClr val="1F1F1F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5802" marR="5802" marT="58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KZ" sz="1600" u="none" strike="noStrike" dirty="0">
                          <a:effectLst/>
                          <a:latin typeface="Times New Roman"/>
                          <a:cs typeface="Times New Roman"/>
                        </a:rPr>
                        <a:t>5,94</a:t>
                      </a:r>
                      <a:endParaRPr lang="ru-KZ" sz="1600" b="0" i="0" u="none" strike="noStrike" dirty="0">
                        <a:solidFill>
                          <a:srgbClr val="1F1F1F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5802" marR="5802" marT="58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KZ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kk-KZ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1.5</a:t>
                      </a:r>
                      <a:endParaRPr lang="ru-KZ" sz="1600" b="0" i="0" u="none" strike="noStrike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2" marR="5802" marT="58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kk-KZ" sz="160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.6</a:t>
                      </a:r>
                      <a:endParaRPr lang="ru-KZ" sz="16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2" marR="5802" marT="5802" marB="0" anchor="ctr"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ru-KZ" sz="1600" b="0" i="0" u="none" strike="noStrike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2" marR="5802" marT="5802" marB="0" anchor="ctr"/>
                </a:tc>
                <a:extLst>
                  <a:ext uri="{0D108BD9-81ED-4DB2-BD59-A6C34878D82A}">
                    <a16:rowId xmlns:a16="http://schemas.microsoft.com/office/drawing/2014/main" val="1999044082"/>
                  </a:ext>
                </a:extLst>
              </a:tr>
              <a:tr h="261099"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Тұрғындарға дистанциялық медициналық қызмет көрсету үлесі</a:t>
                      </a:r>
                      <a:endParaRPr lang="ru-RU" sz="1600" b="0" i="0" u="none" strike="noStrike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2" marR="5802" marT="58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KZ" sz="1600" u="none" strike="noStrike" dirty="0">
                          <a:effectLst/>
                          <a:latin typeface="Times New Roman"/>
                          <a:cs typeface="Times New Roman"/>
                        </a:rPr>
                        <a:t>10,0</a:t>
                      </a:r>
                      <a:endParaRPr lang="ru-KZ" sz="1600" b="0" i="0" u="none" strike="noStrike" dirty="0">
                        <a:solidFill>
                          <a:srgbClr val="1F1F1F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5802" marR="5802" marT="58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k-KZ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0.96</a:t>
                      </a:r>
                      <a:r>
                        <a:rPr lang="ru-KZ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KZ" sz="1600" b="0" i="0" u="none" strike="noStrike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2" marR="5802" marT="58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k-KZ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10.3</a:t>
                      </a:r>
                      <a:r>
                        <a:rPr lang="ru-KZ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KZ" sz="1600" b="0" i="0" u="none" strike="noStrike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2" marR="5802" marT="5802" marB="0" anchor="ctr"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ru-KZ" sz="1600" b="0" i="0" u="none" strike="noStrike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2" marR="5802" marT="5802" marB="0" anchor="ctr"/>
                </a:tc>
                <a:extLst>
                  <a:ext uri="{0D108BD9-81ED-4DB2-BD59-A6C34878D82A}">
                    <a16:rowId xmlns:a16="http://schemas.microsoft.com/office/drawing/2014/main" val="3118908144"/>
                  </a:ext>
                </a:extLst>
              </a:tr>
              <a:tr h="24964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Халықты міндетті медициналық сақтандыру жүйесімен қамту деңгейі</a:t>
                      </a:r>
                      <a:endParaRPr lang="ru-RU" sz="1600" b="0" i="0" u="none" strike="noStrike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2" marR="5802" marT="58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KZ" sz="1600" u="none" strike="noStrike" dirty="0">
                          <a:effectLst/>
                          <a:latin typeface="Times New Roman"/>
                          <a:cs typeface="Times New Roman"/>
                        </a:rPr>
                        <a:t>83,0</a:t>
                      </a:r>
                      <a:endParaRPr lang="ru-KZ" sz="1600" b="0" i="0" u="none" strike="noStrike" dirty="0">
                        <a:solidFill>
                          <a:srgbClr val="1F1F1F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5802" marR="5802" marT="58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k-KZ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</a:t>
                      </a:r>
                      <a:r>
                        <a:rPr lang="ru-KZ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KZ" sz="1600" b="0" i="0" u="none" strike="noStrike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2" marR="5802" marT="58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k-KZ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83.0</a:t>
                      </a:r>
                      <a:r>
                        <a:rPr lang="ru-KZ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KZ" sz="1600" b="0" i="0" u="none" strike="noStrike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2" marR="5802" marT="5802" marB="0" anchor="ctr"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ru-KZ" sz="1600" b="0" i="0" u="none" strike="noStrike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2" marR="5802" marT="5802" marB="0" anchor="ctr"/>
                </a:tc>
                <a:extLst>
                  <a:ext uri="{0D108BD9-81ED-4DB2-BD59-A6C34878D82A}">
                    <a16:rowId xmlns:a16="http://schemas.microsoft.com/office/drawing/2014/main" val="4208594369"/>
                  </a:ext>
                </a:extLst>
              </a:tr>
              <a:tr h="24964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Медициналық мекемелердегі ғимараттардың тозу деңгейін төмендету</a:t>
                      </a:r>
                      <a:endParaRPr lang="ru-RU" sz="1600" b="0" i="0" u="none" strike="noStrike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2" marR="5802" marT="58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KZ" sz="1600" u="none" strike="noStrike" dirty="0">
                          <a:effectLst/>
                          <a:latin typeface="Times New Roman"/>
                          <a:cs typeface="Times New Roman"/>
                        </a:rPr>
                        <a:t>26,4</a:t>
                      </a:r>
                      <a:endParaRPr lang="ru-KZ" sz="1600" b="0" i="0" u="none" strike="noStrike" dirty="0">
                        <a:solidFill>
                          <a:srgbClr val="1F1F1F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5802" marR="5802" marT="58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k-KZ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KZ" sz="1600" b="0" i="0" u="none" strike="noStrike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2" marR="5802" marT="58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k-KZ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ru-KZ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KZ" sz="1600" b="0" i="0" u="none" strike="noStrike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2" marR="5802" marT="5802" marB="0" anchor="ctr"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ru-KZ" sz="1600" b="0" i="0" u="none" strike="noStrike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2" marR="5802" marT="5802" marB="0" anchor="ctr"/>
                </a:tc>
                <a:extLst>
                  <a:ext uri="{0D108BD9-81ED-4DB2-BD59-A6C34878D82A}">
                    <a16:rowId xmlns:a16="http://schemas.microsoft.com/office/drawing/2014/main" val="232869589"/>
                  </a:ext>
                </a:extLst>
              </a:tr>
              <a:tr h="24964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i="0" u="none" strike="noStrike" dirty="0">
                          <a:solidFill>
                            <a:srgbClr val="1F1F1F"/>
                          </a:solidFill>
                          <a:effectLst/>
                          <a:latin typeface="Times New Roman"/>
                          <a:cs typeface="Times New Roman"/>
                        </a:rPr>
                        <a:t>Гепатит В </a:t>
                      </a:r>
                      <a:r>
                        <a:rPr lang="ru-RU" sz="1600" b="0" i="0" u="none" strike="noStrike" err="1">
                          <a:solidFill>
                            <a:srgbClr val="1F1F1F"/>
                          </a:solidFill>
                          <a:effectLst/>
                          <a:latin typeface="Times New Roman"/>
                          <a:cs typeface="Times New Roman"/>
                        </a:rPr>
                        <a:t>ауруымен</a:t>
                      </a:r>
                      <a:r>
                        <a:rPr lang="ru-RU" sz="1600" b="0" i="0" u="none" strike="noStrike" dirty="0">
                          <a:solidFill>
                            <a:srgbClr val="1F1F1F"/>
                          </a:solidFill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1600" b="0" i="0" u="none" strike="noStrike" err="1">
                          <a:solidFill>
                            <a:srgbClr val="1F1F1F"/>
                          </a:solidFill>
                          <a:effectLst/>
                          <a:latin typeface="Times New Roman"/>
                          <a:cs typeface="Times New Roman"/>
                        </a:rPr>
                        <a:t>сырқаттанушылық</a:t>
                      </a:r>
                      <a:endParaRPr lang="ru-RU" sz="1600" b="0" i="0" u="none" strike="noStrike">
                        <a:solidFill>
                          <a:srgbClr val="1F1F1F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5802" marR="5802" marT="58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k-KZ" sz="1600" b="0" i="0" u="none" strike="noStrike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0,51</a:t>
                      </a:r>
                      <a:endParaRPr lang="ru-KZ" sz="1600" b="0" i="0" u="none" strike="noStrike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2" marR="5802" marT="58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k-KZ" sz="1600" b="0" i="0" u="none" strike="noStrike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KZ" sz="1600" b="0" i="0" u="none" strike="noStrike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2" marR="5802" marT="58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k-KZ" sz="1600" b="0" i="0" u="none" strike="noStrike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KZ" sz="1600" b="0" i="0" u="none" strike="noStrike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2" marR="5802" marT="5802" marB="0" anchor="ctr"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ru-KZ" sz="1600" b="0" i="0" u="none" strike="noStrike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02" marR="5802" marT="5802" marB="0" anchor="ctr"/>
                </a:tc>
                <a:extLst>
                  <a:ext uri="{0D108BD9-81ED-4DB2-BD59-A6C34878D82A}">
                    <a16:rowId xmlns:a16="http://schemas.microsoft.com/office/drawing/2014/main" val="892345984"/>
                  </a:ext>
                </a:extLst>
              </a:tr>
            </a:tbl>
          </a:graphicData>
        </a:graphic>
      </p:graphicFrame>
      <p:sp>
        <p:nvSpPr>
          <p:cNvPr id="42088" name="Прямоугольник 4">
            <a:extLst>
              <a:ext uri="{FF2B5EF4-FFF2-40B4-BE49-F238E27FC236}">
                <a16:creationId xmlns:a16="http://schemas.microsoft.com/office/drawing/2014/main" id="{C58D3B0D-E5EC-9B4B-C95F-F093F1D10F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766" y="6260800"/>
            <a:ext cx="10671175" cy="636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630238" algn="l"/>
                <a:tab pos="85725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30238" algn="l"/>
                <a:tab pos="85725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30238" algn="l"/>
                <a:tab pos="85725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30238" algn="l"/>
                <a:tab pos="8572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30238" algn="l"/>
                <a:tab pos="8572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630238" algn="l"/>
                <a:tab pos="8572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630238" algn="l"/>
                <a:tab pos="8572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630238" algn="l"/>
                <a:tab pos="8572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630238" algn="l"/>
                <a:tab pos="8572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ru-RU" altLang="en-US" sz="1600" b="1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2025 жылдың 12 айындағы Негізгі ұлттық индикаторларды іске асыру бойынша барлық көрсеткіштерге жоспарға сәйкес қол жеткізілді.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38C4A5-585D-4CBF-BD17-809D23C95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3826" y="1741394"/>
            <a:ext cx="9656762" cy="3509963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kk-KZ" sz="5300" b="1" i="1" u="sng" dirty="0">
                <a:solidFill>
                  <a:srgbClr val="00225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Қорытынды</a:t>
            </a:r>
            <a:r>
              <a:rPr lang="kk-KZ" sz="3200" b="1" i="1" u="sng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 </a:t>
            </a:r>
            <a:br>
              <a:rPr lang="kk-K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kk-K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kk-KZ" sz="2000" b="1" i="1" dirty="0">
                <a:latin typeface="Times New Roman"/>
                <a:cs typeface="Times New Roman"/>
              </a:rPr>
              <a:t>1. 2025 жылы </a:t>
            </a:r>
            <a:r>
              <a:rPr lang="en-US" sz="2000" b="1" i="1" dirty="0">
                <a:latin typeface="Times New Roman"/>
                <a:cs typeface="Times New Roman"/>
              </a:rPr>
              <a:t>KPI </a:t>
            </a:r>
            <a:r>
              <a:rPr lang="kk-KZ" sz="2000" b="1" i="1" dirty="0">
                <a:latin typeface="Times New Roman"/>
                <a:cs typeface="Times New Roman"/>
              </a:rPr>
              <a:t>көрсеткіш индикаторларына  </a:t>
            </a:r>
            <a:r>
              <a:rPr lang="en-US" sz="2000" b="1" i="1" dirty="0">
                <a:latin typeface="Times New Roman"/>
                <a:cs typeface="Times New Roman"/>
              </a:rPr>
              <a:t>88</a:t>
            </a:r>
            <a:r>
              <a:rPr lang="kk-KZ" sz="2000" b="1" i="1" dirty="0">
                <a:latin typeface="Times New Roman"/>
                <a:cs typeface="Times New Roman"/>
              </a:rPr>
              <a:t>%  қол жеткізілді. </a:t>
            </a:r>
            <a:br>
              <a:rPr lang="kk-KZ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kk-KZ" sz="2000" b="1" i="1" dirty="0">
                <a:latin typeface="Times New Roman"/>
                <a:cs typeface="Times New Roman"/>
              </a:rPr>
              <a:t>2. Емхана 3 жыл мерзімге (2026-2027жж) аккредиттеуден өту жоспарда.</a:t>
            </a:r>
            <a:br>
              <a:rPr lang="kk-KZ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kk-KZ" sz="2000" b="1" i="1" dirty="0">
                <a:latin typeface="Times New Roman"/>
                <a:cs typeface="Times New Roman"/>
              </a:rPr>
              <a:t>3.Онкологиялық ауруларды ерте кезеңде анықтаудың өсуі байқалады. </a:t>
            </a:r>
            <a:br>
              <a:rPr lang="kk-KZ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kk-KZ" sz="2000" b="1" i="1" dirty="0">
                <a:latin typeface="Times New Roman"/>
                <a:cs typeface="Times New Roman"/>
              </a:rPr>
              <a:t>4.Босанғанға дейінгі патронажбен қамту 95,5% -ды, алғашқы 3 күнде патронаж 99,7% -ды құрады. 265 бала 1 жасқа  толды, жүйелі түрде 99,7% байқалды.  6 айға дей</a:t>
            </a:r>
            <a:r>
              <a:rPr lang="en-US" sz="2000" b="1" i="1" dirty="0">
                <a:latin typeface="Times New Roman"/>
                <a:cs typeface="Times New Roman"/>
              </a:rPr>
              <a:t>i</a:t>
            </a:r>
            <a:r>
              <a:rPr lang="kk-KZ" sz="2000" b="1" i="1" dirty="0">
                <a:latin typeface="Times New Roman"/>
                <a:cs typeface="Times New Roman"/>
              </a:rPr>
              <a:t>нг</a:t>
            </a:r>
            <a:r>
              <a:rPr lang="en-US" sz="2000" b="1" i="1" dirty="0">
                <a:latin typeface="Times New Roman"/>
                <a:cs typeface="Times New Roman"/>
              </a:rPr>
              <a:t>i </a:t>
            </a:r>
            <a:r>
              <a:rPr lang="kk-KZ" sz="2000" b="1" i="1" dirty="0">
                <a:latin typeface="Times New Roman"/>
                <a:cs typeface="Times New Roman"/>
              </a:rPr>
              <a:t>балалардың 97,5% тек емшек сүтімен қоректенді. Ал бір жасқа дейінгі балалар  95,0% құрады</a:t>
            </a:r>
            <a:br>
              <a:rPr lang="kk-KZ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kk-KZ" sz="2000" b="1" i="1" dirty="0">
                <a:latin typeface="Times New Roman"/>
                <a:cs typeface="Times New Roman"/>
              </a:rPr>
              <a:t>5. «</a:t>
            </a:r>
            <a:r>
              <a:rPr lang="en-US" sz="2000" b="1" i="1" dirty="0" err="1">
                <a:latin typeface="Times New Roman"/>
                <a:cs typeface="Times New Roman"/>
              </a:rPr>
              <a:t>Qoldau</a:t>
            </a:r>
            <a:r>
              <a:rPr lang="en-US" sz="2000" b="1" i="1" dirty="0">
                <a:latin typeface="Times New Roman"/>
                <a:cs typeface="Times New Roman"/>
              </a:rPr>
              <a:t>» -</a:t>
            </a:r>
            <a:r>
              <a:rPr lang="kk-KZ" sz="2000" b="1" i="1" dirty="0">
                <a:latin typeface="Times New Roman"/>
                <a:cs typeface="Times New Roman"/>
              </a:rPr>
              <a:t>ға пациенттердің жүгінуі артты.</a:t>
            </a:r>
            <a:br>
              <a:rPr lang="kk-KZ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kk-KZ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1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18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3011" name="Рисунок 6">
            <a:extLst>
              <a:ext uri="{FF2B5EF4-FFF2-40B4-BE49-F238E27FC236}">
                <a16:creationId xmlns:a16="http://schemas.microsoft.com/office/drawing/2014/main" id="{8A7B957E-3EA5-DEEB-BF08-5BED81B826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5" y="534988"/>
            <a:ext cx="2862263" cy="593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39AF1F59-6965-1857-9579-EC9B16AB8C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313" y="658813"/>
            <a:ext cx="10987087" cy="21177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noFill/>
            <a:prstDash val="solid"/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91440" tIns="45720" rIns="91440" bIns="45720" anchor="ctr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ru-RU" sz="14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2026 </a:t>
            </a:r>
            <a:r>
              <a:rPr lang="ru-RU" sz="1400" b="1" i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жылы</a:t>
            </a:r>
            <a:r>
              <a:rPr lang="ru-RU" sz="14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b="1" i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Денсаулықтың</a:t>
            </a:r>
            <a:r>
              <a:rPr lang="ru-RU" sz="14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b="1" i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негізгі</a:t>
            </a:r>
            <a:r>
              <a:rPr lang="ru-RU" sz="14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b="1" i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көрсеткіштерін</a:t>
            </a:r>
            <a:r>
              <a:rPr lang="ru-RU" sz="14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b="1" i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жақсарту</a:t>
            </a:r>
            <a:r>
              <a:rPr lang="ru-RU" sz="14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b="1" i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үшін</a:t>
            </a:r>
            <a:r>
              <a:rPr lang="ru-RU" sz="14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fontAlgn="auto">
              <a:spcAft>
                <a:spcPts val="0"/>
              </a:spcAft>
              <a:buFont typeface="Arial" panose="05000000000000000000" pitchFamily="2" charset="2"/>
              <a:buChar char="•"/>
              <a:defRPr/>
            </a:pPr>
            <a:r>
              <a:rPr lang="ru-RU" sz="1400" b="1" i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жалпы</a:t>
            </a:r>
            <a:r>
              <a:rPr lang="ru-RU" sz="14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b="1" i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өлім-жітім</a:t>
            </a:r>
            <a:r>
              <a:rPr lang="ru-RU" sz="14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b="1" i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көрсеткішін</a:t>
            </a:r>
            <a:r>
              <a:rPr lang="ru-RU" sz="14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b="1" i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бір</a:t>
            </a:r>
            <a:r>
              <a:rPr lang="ru-RU" sz="14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b="1" i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деңгейде</a:t>
            </a:r>
            <a:r>
              <a:rPr lang="ru-RU" sz="14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b="1" i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ұстап</a:t>
            </a:r>
            <a:r>
              <a:rPr lang="ru-RU" sz="14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b="1" i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тұру</a:t>
            </a:r>
            <a:r>
              <a:rPr lang="ru-RU" sz="14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fontAlgn="auto">
              <a:spcAft>
                <a:spcPts val="0"/>
              </a:spcAft>
              <a:buFont typeface="Arial" panose="05000000000000000000" pitchFamily="2" charset="2"/>
              <a:buChar char="•"/>
              <a:defRPr/>
            </a:pPr>
            <a:r>
              <a:rPr lang="ru-RU" sz="1400" b="1" i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ана</a:t>
            </a:r>
            <a:r>
              <a:rPr lang="ru-RU" sz="14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b="1" i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өліміне</a:t>
            </a:r>
            <a:r>
              <a:rPr lang="ru-RU" sz="14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b="1" i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жол</a:t>
            </a:r>
            <a:r>
              <a:rPr lang="ru-RU" sz="14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b="1" i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бермеу</a:t>
            </a:r>
            <a:r>
              <a:rPr lang="ru-RU" sz="14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fontAlgn="auto">
              <a:spcAft>
                <a:spcPts val="0"/>
              </a:spcAft>
              <a:buFont typeface="Arial" panose="05000000000000000000" pitchFamily="2" charset="2"/>
              <a:buChar char="•"/>
              <a:defRPr/>
            </a:pPr>
            <a:r>
              <a:rPr lang="ru-RU" sz="1400" b="1" i="1" dirty="0" err="1">
                <a:solidFill>
                  <a:schemeClr val="tx1"/>
                </a:solidFill>
                <a:latin typeface="Times New Roman"/>
                <a:cs typeface="Times New Roman"/>
              </a:rPr>
              <a:t>Нәресте</a:t>
            </a:r>
            <a:r>
              <a:rPr lang="ru-RU" sz="1400" b="1" i="1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ru-RU" sz="1400" b="1" i="1" dirty="0" err="1">
                <a:solidFill>
                  <a:schemeClr val="tx1"/>
                </a:solidFill>
                <a:latin typeface="Times New Roman"/>
                <a:cs typeface="Times New Roman"/>
              </a:rPr>
              <a:t>өліміне</a:t>
            </a:r>
            <a:r>
              <a:rPr lang="en-US" sz="1400" b="1" i="1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ru-RU" sz="1400" b="1" i="1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ru-RU" sz="1400" b="1" i="1" dirty="0" err="1">
                <a:solidFill>
                  <a:schemeClr val="tx1"/>
                </a:solidFill>
                <a:latin typeface="Times New Roman"/>
                <a:cs typeface="Times New Roman"/>
              </a:rPr>
              <a:t>жол</a:t>
            </a:r>
            <a:r>
              <a:rPr lang="ru-RU" sz="1400" b="1" i="1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ru-RU" sz="1400" b="1" i="1" dirty="0" err="1">
                <a:solidFill>
                  <a:schemeClr val="tx1"/>
                </a:solidFill>
                <a:latin typeface="Times New Roman"/>
                <a:cs typeface="Times New Roman"/>
              </a:rPr>
              <a:t>бермеу</a:t>
            </a:r>
            <a:r>
              <a:rPr lang="ru-RU" sz="1400" b="1" i="1" dirty="0">
                <a:solidFill>
                  <a:schemeClr val="tx1"/>
                </a:solidFill>
                <a:latin typeface="Times New Roman"/>
                <a:cs typeface="Times New Roman"/>
              </a:rPr>
              <a:t>;</a:t>
            </a:r>
          </a:p>
          <a:p>
            <a:pPr fontAlgn="auto">
              <a:spcAft>
                <a:spcPts val="0"/>
              </a:spcAft>
              <a:buFont typeface="Arial" panose="05000000000000000000" pitchFamily="2" charset="2"/>
              <a:buChar char="•"/>
              <a:defRPr/>
            </a:pPr>
            <a:r>
              <a:rPr lang="ru-RU" sz="1400" b="1" i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қан</a:t>
            </a:r>
            <a:r>
              <a:rPr lang="ru-RU" sz="14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b="1" i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айналым</a:t>
            </a:r>
            <a:r>
              <a:rPr lang="ru-RU" sz="14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b="1" i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жүйесі</a:t>
            </a:r>
            <a:r>
              <a:rPr lang="ru-RU" sz="14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b="1" i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аурулары</a:t>
            </a:r>
            <a:r>
              <a:rPr lang="ru-RU" sz="14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(БСК)-</a:t>
            </a:r>
            <a:r>
              <a:rPr lang="ru-RU" sz="1400" b="1" i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нан</a:t>
            </a:r>
            <a:r>
              <a:rPr lang="ru-RU" sz="14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b="1" i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болатын</a:t>
            </a:r>
            <a:r>
              <a:rPr lang="ru-RU" sz="14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b="1" i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өлім</a:t>
            </a:r>
            <a:r>
              <a:rPr lang="ru-RU" sz="14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b="1" i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жітімді</a:t>
            </a:r>
            <a:r>
              <a:rPr lang="ru-RU" sz="14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b="1" i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азайту</a:t>
            </a:r>
            <a:r>
              <a:rPr lang="ru-RU" sz="14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fontAlgn="auto">
              <a:spcAft>
                <a:spcPts val="0"/>
              </a:spcAft>
              <a:buFont typeface="Arial" panose="05000000000000000000" pitchFamily="2" charset="2"/>
              <a:buChar char="•"/>
              <a:defRPr/>
            </a:pPr>
            <a:r>
              <a:rPr lang="ru-RU" sz="14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туберкулез </a:t>
            </a:r>
            <a:r>
              <a:rPr lang="ru-RU" sz="1400" b="1" i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ауруынан</a:t>
            </a:r>
            <a:r>
              <a:rPr lang="ru-RU" sz="14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b="1" i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болатын</a:t>
            </a:r>
            <a:r>
              <a:rPr lang="ru-RU" sz="14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b="1" i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өлім-жітімді</a:t>
            </a:r>
            <a:r>
              <a:rPr lang="ru-RU" sz="14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b="1" i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азайту</a:t>
            </a:r>
            <a:r>
              <a:rPr lang="ru-RU" sz="14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fontAlgn="auto">
              <a:spcAft>
                <a:spcPts val="0"/>
              </a:spcAft>
              <a:buFont typeface="Arial" panose="05000000000000000000" pitchFamily="2" charset="2"/>
              <a:buChar char="•"/>
              <a:defRPr/>
            </a:pPr>
            <a:r>
              <a:rPr lang="ru-RU" sz="1400" b="1" i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онкологиялық</a:t>
            </a:r>
            <a:r>
              <a:rPr lang="ru-RU" sz="14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b="1" i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аурулардан</a:t>
            </a:r>
            <a:r>
              <a:rPr lang="ru-RU" sz="14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b="1" i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болатын</a:t>
            </a:r>
            <a:r>
              <a:rPr lang="ru-RU" sz="14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b="1" i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өлім-жітімді</a:t>
            </a:r>
            <a:r>
              <a:rPr lang="ru-RU" sz="14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b="1" i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азайту</a:t>
            </a:r>
            <a:r>
              <a:rPr lang="ru-RU" sz="14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fontAlgn="auto">
              <a:spcAft>
                <a:spcPts val="0"/>
              </a:spcAft>
              <a:buFont typeface="Arial" panose="05000000000000000000" pitchFamily="2" charset="2"/>
              <a:buChar char="•"/>
              <a:defRPr/>
            </a:pPr>
            <a:r>
              <a:rPr lang="ru-RU" sz="1400" b="1" i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перинаталдық</a:t>
            </a:r>
            <a:r>
              <a:rPr lang="ru-RU" sz="14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b="1" i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өлім-жітімді</a:t>
            </a:r>
            <a:r>
              <a:rPr lang="ru-RU" sz="14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b="1" i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азайту</a:t>
            </a:r>
            <a:r>
              <a:rPr lang="ru-RU" sz="14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B921A8A-AF52-4DB2-8ED1-75997DB7C1A0}"/>
              </a:ext>
            </a:extLst>
          </p:cNvPr>
          <p:cNvSpPr/>
          <p:nvPr/>
        </p:nvSpPr>
        <p:spPr>
          <a:xfrm>
            <a:off x="6250686" y="46094"/>
            <a:ext cx="184730" cy="58477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sz="3200" b="1" cap="all" dirty="0">
              <a:ln w="9000" cmpd="sng">
                <a:solidFill>
                  <a:srgbClr val="FFC000">
                    <a:shade val="50000"/>
                    <a:satMod val="120000"/>
                  </a:srgbClr>
                </a:solidFill>
                <a:prstDash val="solid"/>
              </a:ln>
              <a:solidFill>
                <a:srgbClr val="00225E"/>
              </a:solidFill>
              <a:effectLst>
                <a:reflection blurRad="12700" stA="28000" endPos="45000" dist="1000" dir="5400000" sy="-100000" algn="bl" rotWithShape="0"/>
              </a:effectLst>
              <a:latin typeface="Times New Roman"/>
              <a:ea typeface="Calibri"/>
              <a:cs typeface="Times New Roman"/>
            </a:endParaRPr>
          </a:p>
        </p:txBody>
      </p:sp>
      <p:sp>
        <p:nvSpPr>
          <p:cNvPr id="8" name="Объект 4">
            <a:extLst>
              <a:ext uri="{FF2B5EF4-FFF2-40B4-BE49-F238E27FC236}">
                <a16:creationId xmlns:a16="http://schemas.microsoft.com/office/drawing/2014/main" id="{28C5952B-D568-4706-8600-F2F3F069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313" y="2776538"/>
            <a:ext cx="10987087" cy="3197225"/>
          </a:xfrm>
        </p:spPr>
        <p:txBody>
          <a:bodyPr rtlCol="0">
            <a:noAutofit/>
          </a:bodyPr>
          <a:lstStyle/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Ақылы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қызметтерді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одан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әрі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дамыту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көрсетілетін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ақылы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қызметтер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спектрін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кеңейту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заманауи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медициналық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жабдықтарды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пайдалана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отырып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емдеудің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жаңа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әдістерін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енгізу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білікті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мамандарды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тарту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ақылы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бөлімде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төсектік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күндізгі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стационарды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ашу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Кадрлық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әлеуетті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жетілдіру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514350" indent="-514350"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МСАК-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тың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заманауи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технологияларына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бағдарланған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медициналық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кадрларды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үздіксіз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кәсіби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дамыту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marL="514350" indent="-514350"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Тәлімгерлік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мектебін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дамыту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514350" indent="-514350"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Дәрігерлердің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санаттылық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пайызын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60% -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ға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дейін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ұлғайту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marL="514350" indent="-514350"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Арнайы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мамандар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бейінін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жасақтау және кадрлар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айналымын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азайту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514350" indent="-514350"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r>
              <a:rPr lang="kk-KZ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Жасанды интеллект (дауыспен шақыру роботы)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скриниг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ЖФВ</a:t>
            </a:r>
            <a:r>
              <a:rPr lang="kk-KZ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МӘМС.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4B2344-ECDE-6B79-1FDE-D89761E7C15B}"/>
              </a:ext>
            </a:extLst>
          </p:cNvPr>
          <p:cNvSpPr txBox="1"/>
          <p:nvPr/>
        </p:nvSpPr>
        <p:spPr>
          <a:xfrm>
            <a:off x="1680882" y="78441"/>
            <a:ext cx="883023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3200" b="1">
                <a:solidFill>
                  <a:srgbClr val="00225E"/>
                </a:solidFill>
                <a:latin typeface="Times New Roman"/>
                <a:ea typeface="Calibri"/>
                <a:cs typeface="Calibri"/>
              </a:rPr>
              <a:t>2026 </a:t>
            </a:r>
            <a:r>
              <a:rPr lang="ru-RU" sz="3200" b="1" err="1">
                <a:solidFill>
                  <a:srgbClr val="00225E"/>
                </a:solidFill>
                <a:latin typeface="Times New Roman"/>
                <a:ea typeface="Calibri"/>
                <a:cs typeface="Calibri"/>
              </a:rPr>
              <a:t>жылға</a:t>
            </a:r>
            <a:r>
              <a:rPr lang="ru-RU" sz="3200" b="1" dirty="0">
                <a:solidFill>
                  <a:srgbClr val="00225E"/>
                </a:solidFill>
                <a:latin typeface="Times New Roman"/>
                <a:ea typeface="Calibri"/>
                <a:cs typeface="Calibri"/>
              </a:rPr>
              <a:t> </a:t>
            </a:r>
            <a:r>
              <a:rPr lang="ru-RU" sz="3200" b="1" err="1">
                <a:solidFill>
                  <a:srgbClr val="00225E"/>
                </a:solidFill>
                <a:latin typeface="Times New Roman"/>
                <a:ea typeface="Calibri"/>
                <a:cs typeface="Calibri"/>
              </a:rPr>
              <a:t>арналған</a:t>
            </a:r>
            <a:r>
              <a:rPr lang="ru-RU" sz="3200" b="1" dirty="0">
                <a:solidFill>
                  <a:srgbClr val="00225E"/>
                </a:solidFill>
                <a:latin typeface="Times New Roman"/>
                <a:ea typeface="Calibri"/>
                <a:cs typeface="Calibri"/>
              </a:rPr>
              <a:t> </a:t>
            </a:r>
            <a:r>
              <a:rPr lang="ru-RU" sz="3200" b="1" err="1">
                <a:solidFill>
                  <a:srgbClr val="00225E"/>
                </a:solidFill>
                <a:latin typeface="Times New Roman"/>
                <a:ea typeface="Calibri"/>
                <a:cs typeface="Calibri"/>
              </a:rPr>
              <a:t>міндеттер</a:t>
            </a:r>
            <a:r>
              <a:rPr lang="ru-RU" sz="3200" b="1" dirty="0">
                <a:solidFill>
                  <a:srgbClr val="00225E"/>
                </a:solidFill>
                <a:latin typeface="Times New Roman"/>
                <a:ea typeface="Calibri"/>
                <a:cs typeface="Calibri"/>
              </a:rPr>
              <a:t> </a:t>
            </a:r>
            <a:endParaRPr lang="ru-RU"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object 7">
            <a:extLst>
              <a:ext uri="{FF2B5EF4-FFF2-40B4-BE49-F238E27FC236}">
                <a16:creationId xmlns:a16="http://schemas.microsoft.com/office/drawing/2014/main" id="{C6D45E53-7F67-3C95-6E4D-017077D78D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9850" y="1044575"/>
            <a:ext cx="5986463" cy="340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58419" rIns="0" bIns="0" anchor="t">
            <a:spAutoFit/>
          </a:bodyPr>
          <a:lstStyle>
            <a:lvl1pPr marL="111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0795" algn="ctr" eaLnBrk="1" hangingPunct="1">
              <a:lnSpc>
                <a:spcPts val="5550"/>
              </a:lnSpc>
              <a:spcBef>
                <a:spcPts val="463"/>
              </a:spcBef>
              <a:buFontTx/>
              <a:buNone/>
            </a:pPr>
            <a:r>
              <a:rPr lang="en-US" altLang="en-US" sz="5400" b="1" i="1" dirty="0" err="1">
                <a:solidFill>
                  <a:srgbClr val="00225E"/>
                </a:solidFill>
                <a:latin typeface="Times New Roman"/>
                <a:cs typeface="Times New Roman"/>
              </a:rPr>
              <a:t>Назарларыңызға</a:t>
            </a:r>
            <a:r>
              <a:rPr lang="en-US" altLang="en-US" sz="5400" b="1" i="1" dirty="0">
                <a:solidFill>
                  <a:srgbClr val="00225E"/>
                </a:solidFill>
                <a:latin typeface="Times New Roman"/>
                <a:cs typeface="Times New Roman"/>
              </a:rPr>
              <a:t>  </a:t>
            </a:r>
            <a:r>
              <a:rPr lang="en-US" altLang="en-US" sz="5400" b="1" i="1" dirty="0" err="1">
                <a:solidFill>
                  <a:srgbClr val="00225E"/>
                </a:solidFill>
                <a:latin typeface="Times New Roman"/>
                <a:cs typeface="Times New Roman"/>
              </a:rPr>
              <a:t>рахмет</a:t>
            </a:r>
            <a:r>
              <a:rPr lang="en-US" altLang="en-US" sz="5400" b="1" i="1" dirty="0">
                <a:solidFill>
                  <a:srgbClr val="00225E"/>
                </a:solidFill>
                <a:latin typeface="Times New Roman"/>
                <a:cs typeface="Times New Roman"/>
              </a:rPr>
              <a:t>!</a:t>
            </a:r>
            <a:endParaRPr lang="en-US" altLang="en-US" sz="5400" b="1">
              <a:solidFill>
                <a:srgbClr val="00225E"/>
              </a:solidFill>
              <a:latin typeface="Times New Roman"/>
              <a:cs typeface="Times New Roman"/>
            </a:endParaRPr>
          </a:p>
          <a:p>
            <a:pPr marL="10795" algn="ctr" eaLnBrk="1" hangingPunct="1">
              <a:lnSpc>
                <a:spcPts val="5650"/>
              </a:lnSpc>
              <a:spcBef>
                <a:spcPts val="3463"/>
              </a:spcBef>
              <a:buFontTx/>
              <a:buNone/>
            </a:pPr>
            <a:r>
              <a:rPr lang="en-US" altLang="en-US" sz="5400" b="1" i="1" dirty="0" err="1">
                <a:solidFill>
                  <a:srgbClr val="00225E"/>
                </a:solidFill>
                <a:latin typeface="Times New Roman"/>
                <a:cs typeface="Times New Roman"/>
              </a:rPr>
              <a:t>Спасибо</a:t>
            </a:r>
            <a:endParaRPr lang="en-US" altLang="en-US" sz="5400" b="1">
              <a:solidFill>
                <a:srgbClr val="00225E"/>
              </a:solidFill>
              <a:latin typeface="Times New Roman"/>
              <a:cs typeface="Times New Roman"/>
            </a:endParaRPr>
          </a:p>
          <a:p>
            <a:pPr marL="10795" algn="ctr" eaLnBrk="1" hangingPunct="1">
              <a:lnSpc>
                <a:spcPts val="5650"/>
              </a:lnSpc>
              <a:spcBef>
                <a:spcPct val="0"/>
              </a:spcBef>
              <a:buFontTx/>
              <a:buNone/>
            </a:pPr>
            <a:r>
              <a:rPr lang="en-US" altLang="en-US" sz="5400" b="1" i="1" dirty="0" err="1">
                <a:solidFill>
                  <a:srgbClr val="00225E"/>
                </a:solidFill>
                <a:latin typeface="Times New Roman"/>
                <a:cs typeface="Times New Roman"/>
              </a:rPr>
              <a:t>за</a:t>
            </a:r>
            <a:r>
              <a:rPr lang="en-US" altLang="en-US" sz="5400" b="1" i="1" dirty="0">
                <a:solidFill>
                  <a:srgbClr val="00225E"/>
                </a:solidFill>
                <a:latin typeface="Times New Roman"/>
                <a:cs typeface="Times New Roman"/>
              </a:rPr>
              <a:t>	</a:t>
            </a:r>
            <a:r>
              <a:rPr lang="en-US" altLang="en-US" sz="5400" b="1" i="1" dirty="0" err="1">
                <a:solidFill>
                  <a:srgbClr val="00225E"/>
                </a:solidFill>
                <a:latin typeface="Times New Roman"/>
                <a:cs typeface="Times New Roman"/>
              </a:rPr>
              <a:t>внимание</a:t>
            </a:r>
            <a:r>
              <a:rPr lang="en-US" altLang="en-US" sz="5400" b="1" i="1" dirty="0">
                <a:solidFill>
                  <a:srgbClr val="00225E"/>
                </a:solidFill>
                <a:latin typeface="Times New Roman"/>
                <a:cs typeface="Times New Roman"/>
              </a:rPr>
              <a:t>!</a:t>
            </a:r>
            <a:endParaRPr lang="en-US" altLang="en-US" sz="5400" b="1">
              <a:solidFill>
                <a:srgbClr val="00225E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293</TotalTime>
  <Words>3526</Words>
  <Application>Microsoft Office PowerPoint</Application>
  <PresentationFormat>Широкоэкранный</PresentationFormat>
  <Paragraphs>1019</Paragraphs>
  <Slides>39</Slides>
  <Notes>5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2</vt:i4>
      </vt:variant>
      <vt:variant>
        <vt:lpstr>Заголовки слайдов</vt:lpstr>
      </vt:variant>
      <vt:variant>
        <vt:i4>39</vt:i4>
      </vt:variant>
    </vt:vector>
  </HeadingPairs>
  <TitlesOfParts>
    <vt:vector size="49" baseType="lpstr">
      <vt:lpstr>Arial</vt:lpstr>
      <vt:lpstr>Calibri</vt:lpstr>
      <vt:lpstr>Calibri Light</vt:lpstr>
      <vt:lpstr>Century</vt:lpstr>
      <vt:lpstr>Constantia</vt:lpstr>
      <vt:lpstr>Source Sans Pro</vt:lpstr>
      <vt:lpstr>Times New Roman</vt:lpstr>
      <vt:lpstr>Тема Office</vt:lpstr>
      <vt:lpstr>PBrush</vt:lpstr>
      <vt:lpstr>Точечный рисунок</vt:lpstr>
      <vt:lpstr>          </vt:lpstr>
      <vt:lpstr>Презентация PowerPoint</vt:lpstr>
      <vt:lpstr>Миссия және пайымдау</vt:lpstr>
      <vt:lpstr>Емханада жұмыс жасайды:</vt:lpstr>
      <vt:lpstr>Лицензиялық қызметті кеңейту</vt:lpstr>
      <vt:lpstr>Білім беру мекемелерімен келісімшарт жасалды</vt:lpstr>
      <vt:lpstr>Құқықтық және соттық жұмыстардың нәтижелері</vt:lpstr>
      <vt:lpstr>Қаржылық міндеттемелер және басқару шешімдері</vt:lpstr>
      <vt:lpstr>Ұйымдық құрылым</vt:lpstr>
      <vt:lpstr>Презентация PowerPoint</vt:lpstr>
      <vt:lpstr>Презентация PowerPoint</vt:lpstr>
      <vt:lpstr>Презентация PowerPoint</vt:lpstr>
      <vt:lpstr>Қызметкерлерді ынталандыру</vt:lpstr>
      <vt:lpstr>АНАЛИЗ  қаржы-шаруашылық қызметтерді талдау</vt:lpstr>
      <vt:lpstr>ҚАРЖЫ ШАРУАШЫЛЫҚ ҚЫЗМЕТТІ ТАЛДАУ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СТАЦИОНАРДЫ АЛМАСТЫРАТЫН МЕДИЦИНАЛЫҚ КӨМЕК</vt:lpstr>
      <vt:lpstr>Презентация PowerPoint</vt:lpstr>
      <vt:lpstr>Презентация PowerPoint</vt:lpstr>
      <vt:lpstr>Презентация PowerPoint</vt:lpstr>
      <vt:lpstr>40-70 жас арасындағы ерлер мен әйелдерді скринингтік тексеру арқылы профилактикалық медициналық тексеру нәтижелері бойынша есеп ( ҚАЖ аурулары, Глаукома, Қант диабеті)</vt:lpstr>
      <vt:lpstr>Ерлер мен әйелдерді скринингтік тексеру арқылы профилактикалық медициналық тексерулер жүргізу нәтижелері бойынша есеп (СБО, ЖМО, КРО)  </vt:lpstr>
      <vt:lpstr>Презентация PowerPoint</vt:lpstr>
      <vt:lpstr>Презентация PowerPoint</vt:lpstr>
      <vt:lpstr>Онкологиялық аурулар</vt:lpstr>
      <vt:lpstr>Туберкулезбен сырқаттанушылық</vt:lpstr>
      <vt:lpstr>Мүгедектікке алғашқы шығу (еңбекке жарамды жас)</vt:lpstr>
      <vt:lpstr>Жалпы өлім жітімді талдау </vt:lpstr>
      <vt:lpstr>Презентация PowerPoint</vt:lpstr>
      <vt:lpstr>Презентация PowerPoint</vt:lpstr>
      <vt:lpstr>Қорытынды   1. 2025 жылы KPI көрсеткіш индикаторларына  88%  қол жеткізілді.  2. Емхана 3 жыл мерзімге (2026-2027жж) аккредиттеуден өту жоспарда. 3.Онкологиялық ауруларды ерте кезеңде анықтаудың өсуі байқалады.  4.Босанғанға дейінгі патронажбен қамту 95,5% -ды, алғашқы 3 күнде патронаж 99,7% -ды құрады. 265 бала 1 жасқа  толды, жүйелі түрде 99,7% байқалды.  6 айға дейiнгi балалардың 97,5% тек емшек сүтімен қоректенді. Ал бір жасқа дейінгі балалар  95,0% құрады 5. «Qoldau» -ға пациенттердің жүгінуі артты.   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    </dc:title>
  <dc:creator>User</dc:creator>
  <cp:lastModifiedBy>Nursultan Bakytzhanuly</cp:lastModifiedBy>
  <cp:revision>406</cp:revision>
  <dcterms:created xsi:type="dcterms:W3CDTF">2026-01-26T07:25:49Z</dcterms:created>
  <dcterms:modified xsi:type="dcterms:W3CDTF">2026-02-04T09:38:04Z</dcterms:modified>
</cp:coreProperties>
</file>